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4"/>
  </p:notesMasterIdLst>
  <p:sldIdLst>
    <p:sldId id="292" r:id="rId2"/>
    <p:sldId id="256" r:id="rId3"/>
    <p:sldId id="295"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99" r:id="rId19"/>
    <p:sldId id="30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96" r:id="rId36"/>
    <p:sldId id="286" r:id="rId37"/>
    <p:sldId id="287" r:id="rId38"/>
    <p:sldId id="288" r:id="rId39"/>
    <p:sldId id="289" r:id="rId40"/>
    <p:sldId id="298" r:id="rId41"/>
    <p:sldId id="302" r:id="rId42"/>
    <p:sldId id="301"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203536-3EC3-3ECB-7A8A-776D5DA4F925}" v="244" dt="2025-03-31T20:42:19.6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4" d="100"/>
          <a:sy n="84" d="100"/>
        </p:scale>
        <p:origin x="211"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97029D-0F30-4B59-B2FC-62CC16CFDCFD}" type="datetimeFigureOut">
              <a:rPr lang="en-US" smtClean="0"/>
              <a:t>3/31/2025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8ECC27-47AB-42C1-9EC0-F44C567C8802}" type="slidenum">
              <a:rPr lang="en-US" smtClean="0"/>
              <a:t>‹#›</a:t>
            </a:fld>
            <a:endParaRPr lang="en-US"/>
          </a:p>
        </p:txBody>
      </p:sp>
    </p:spTree>
    <p:extLst>
      <p:ext uri="{BB962C8B-B14F-4D97-AF65-F5344CB8AC3E}">
        <p14:creationId xmlns:p14="http://schemas.microsoft.com/office/powerpoint/2010/main" val="345279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2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734FDB22-BD49-428D-AB06-9CCFAF0985FF}" type="slidenum">
              <a:rPr lang="en-IN" altLang="en-US" sz="1400" smtClean="0"/>
              <a:pPr>
                <a:spcBef>
                  <a:spcPct val="0"/>
                </a:spcBef>
              </a:pPr>
              <a:t>1</a:t>
            </a:fld>
            <a:endParaRPr lang="en-IN" altLang="en-US" sz="1400"/>
          </a:p>
        </p:txBody>
      </p:sp>
      <p:sp>
        <p:nvSpPr>
          <p:cNvPr id="5123" name="Rectangle 1"/>
          <p:cNvSpPr>
            <a:spLocks noGrp="1" noRot="1" noChangeAspect="1" noChangeArrowheads="1" noTextEdit="1"/>
          </p:cNvSpPr>
          <p:nvPr>
            <p:ph type="sldImg"/>
          </p:nvPr>
        </p:nvSpPr>
        <p:spPr>
          <a:xfrm>
            <a:off x="-18218150" y="-12976225"/>
            <a:ext cx="23066375" cy="12976225"/>
          </a:xfrm>
          <a:solidFill>
            <a:srgbClr val="FFFFFF"/>
          </a:solidFill>
          <a:ln>
            <a:solidFill>
              <a:srgbClr val="000000"/>
            </a:solidFill>
            <a:miter lim="800000"/>
            <a:headEnd/>
            <a:tailEnd/>
          </a:ln>
        </p:spPr>
      </p:sp>
      <p:sp>
        <p:nvSpPr>
          <p:cNvPr id="5124" name="Rectangle 2"/>
          <p:cNvSpPr>
            <a:spLocks noGrp="1" noChangeArrowheads="1"/>
          </p:cNvSpPr>
          <p:nvPr>
            <p:ph type="body" idx="1"/>
          </p:nvPr>
        </p:nvSpPr>
        <p:spPr>
          <a:xfrm>
            <a:off x="-11798300" y="-11798300"/>
            <a:ext cx="11799888" cy="1179988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a:spcBef>
                <a:spcPct val="0"/>
              </a:spcBef>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pPr>
            <a:endParaRPr lang="en-IN" altLang="en-US" sz="2900">
              <a:latin typeface="Arial" panose="020B0604020202020204" pitchFamily="34" charset="0"/>
              <a:ea typeface="WenQuanYi Micro Hei" charset="0"/>
              <a:cs typeface="WenQuanYi Micro Hei" charset="0"/>
            </a:endParaRPr>
          </a:p>
        </p:txBody>
      </p:sp>
      <p:sp>
        <p:nvSpPr>
          <p:cNvPr id="5125" name="Text Box 3"/>
          <p:cNvSpPr txBox="1">
            <a:spLocks noChangeArrowheads="1"/>
          </p:cNvSpPr>
          <p:nvPr/>
        </p:nvSpPr>
        <p:spPr bwMode="auto">
          <a:xfrm>
            <a:off x="-11798300" y="-11798300"/>
            <a:ext cx="11799888" cy="1179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5000" rIns="90000" bIns="45000"/>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200">
                <a:solidFill>
                  <a:srgbClr val="000000"/>
                </a:solidFill>
                <a:latin typeface="Times New Roman" panose="02020603050405020304" pitchFamily="18" charset="0"/>
              </a:defRPr>
            </a:lvl9pPr>
          </a:lstStyle>
          <a:p>
            <a:pPr eaLnBrk="1" hangingPunct="1">
              <a:spcBef>
                <a:spcPct val="0"/>
              </a:spcBef>
            </a:pPr>
            <a:fld id="{8A3142EE-B5D1-49A2-8797-EDAF98F1FC16}" type="slidenum">
              <a:rPr lang="en-IN" altLang="en-US" sz="1800">
                <a:solidFill>
                  <a:srgbClr val="FFFFFF"/>
                </a:solidFill>
                <a:latin typeface="Calibri" panose="020F0502020204030204" pitchFamily="34" charset="0"/>
              </a:rPr>
              <a:pPr eaLnBrk="1" hangingPunct="1">
                <a:spcBef>
                  <a:spcPct val="0"/>
                </a:spcBef>
              </a:pPr>
              <a:t>1</a:t>
            </a:fld>
            <a:endParaRPr lang="en-IN" altLang="en-US" sz="1800">
              <a:solidFill>
                <a:srgbClr val="FFFFFF"/>
              </a:solidFill>
              <a:latin typeface="Calibri" panose="020F0502020204030204" pitchFamily="34" charset="0"/>
            </a:endParaRPr>
          </a:p>
        </p:txBody>
      </p:sp>
    </p:spTree>
    <p:extLst>
      <p:ext uri="{BB962C8B-B14F-4D97-AF65-F5344CB8AC3E}">
        <p14:creationId xmlns:p14="http://schemas.microsoft.com/office/powerpoint/2010/main" val="3343669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673C568E-BA27-42A9-9B61-A87B4844FCAE}" type="slidenum">
              <a:rPr lang="en-IN" altLang="en-US" sz="1400" smtClean="0"/>
              <a:pPr>
                <a:spcBef>
                  <a:spcPct val="0"/>
                </a:spcBef>
              </a:pPr>
              <a:t>6</a:t>
            </a:fld>
            <a:endParaRPr lang="en-IN" altLang="en-US" sz="1400"/>
          </a:p>
        </p:txBody>
      </p:sp>
      <p:sp>
        <p:nvSpPr>
          <p:cNvPr id="9219"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9220"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8552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26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1EC2ACA9-DAEE-4EB7-B1BA-F611F9D08E67}" type="slidenum">
              <a:rPr lang="en-IN" altLang="en-US" sz="1400" smtClean="0"/>
              <a:pPr>
                <a:spcBef>
                  <a:spcPct val="0"/>
                </a:spcBef>
              </a:pPr>
              <a:t>7</a:t>
            </a:fld>
            <a:endParaRPr lang="en-IN" altLang="en-US" sz="1400"/>
          </a:p>
        </p:txBody>
      </p:sp>
      <p:sp>
        <p:nvSpPr>
          <p:cNvPr id="11267"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126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169743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31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D387D6A6-CA3B-40E2-815B-8FA69B72A1A7}" type="slidenum">
              <a:rPr lang="en-IN" altLang="en-US" sz="1400" smtClean="0"/>
              <a:pPr>
                <a:spcBef>
                  <a:spcPct val="0"/>
                </a:spcBef>
              </a:pPr>
              <a:t>8</a:t>
            </a:fld>
            <a:endParaRPr lang="en-IN" altLang="en-US" sz="1400"/>
          </a:p>
        </p:txBody>
      </p:sp>
      <p:sp>
        <p:nvSpPr>
          <p:cNvPr id="13315"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3316"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600546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6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6CE30673-F4F8-45E7-978D-9BF3367DA183}" type="slidenum">
              <a:rPr lang="en-IN" altLang="en-US" sz="1400" smtClean="0"/>
              <a:pPr>
                <a:spcBef>
                  <a:spcPct val="0"/>
                </a:spcBef>
              </a:pPr>
              <a:t>9</a:t>
            </a:fld>
            <a:endParaRPr lang="en-IN" altLang="en-US" sz="1400"/>
          </a:p>
        </p:txBody>
      </p:sp>
      <p:sp>
        <p:nvSpPr>
          <p:cNvPr id="15363"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5364"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72842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1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720033CC-635E-48CE-917E-260E84DE3A34}" type="slidenum">
              <a:rPr lang="en-IN" altLang="en-US" sz="1400" smtClean="0"/>
              <a:pPr>
                <a:spcBef>
                  <a:spcPct val="0"/>
                </a:spcBef>
              </a:pPr>
              <a:t>10</a:t>
            </a:fld>
            <a:endParaRPr lang="en-IN" altLang="en-US" sz="1400"/>
          </a:p>
        </p:txBody>
      </p:sp>
      <p:sp>
        <p:nvSpPr>
          <p:cNvPr id="17411"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7412"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653957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45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5DDBED7D-3D44-4AA7-A252-49EB9931CF01}" type="slidenum">
              <a:rPr lang="en-IN" altLang="en-US" sz="1400" smtClean="0"/>
              <a:pPr>
                <a:spcBef>
                  <a:spcPct val="0"/>
                </a:spcBef>
              </a:pPr>
              <a:t>11</a:t>
            </a:fld>
            <a:endParaRPr lang="en-IN" altLang="en-US" sz="1400"/>
          </a:p>
        </p:txBody>
      </p:sp>
      <p:sp>
        <p:nvSpPr>
          <p:cNvPr id="19459"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19460"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41364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0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AC3F04E8-4532-4DB3-B146-8A93D93C5E77}" type="slidenum">
              <a:rPr lang="en-IN" altLang="en-US" sz="1400" smtClean="0"/>
              <a:pPr>
                <a:spcBef>
                  <a:spcPct val="0"/>
                </a:spcBef>
              </a:pPr>
              <a:t>12</a:t>
            </a:fld>
            <a:endParaRPr lang="en-IN" altLang="en-US" sz="1400"/>
          </a:p>
        </p:txBody>
      </p:sp>
      <p:sp>
        <p:nvSpPr>
          <p:cNvPr id="21507"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150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253241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55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6165BF19-9B46-4DB0-8D1C-84040D61E0E9}" type="slidenum">
              <a:rPr lang="en-IN" altLang="en-US" sz="1400" smtClean="0"/>
              <a:pPr>
                <a:spcBef>
                  <a:spcPct val="0"/>
                </a:spcBef>
              </a:pPr>
              <a:t>13</a:t>
            </a:fld>
            <a:endParaRPr lang="en-IN" altLang="en-US" sz="1400"/>
          </a:p>
        </p:txBody>
      </p:sp>
      <p:sp>
        <p:nvSpPr>
          <p:cNvPr id="23555"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3556"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05059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60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F18B5DD0-81B4-4256-A043-20BA7B6F7D90}" type="slidenum">
              <a:rPr lang="en-IN" altLang="en-US" sz="1400" smtClean="0"/>
              <a:pPr>
                <a:spcBef>
                  <a:spcPct val="0"/>
                </a:spcBef>
              </a:pPr>
              <a:t>14</a:t>
            </a:fld>
            <a:endParaRPr lang="en-IN" altLang="en-US" sz="1400"/>
          </a:p>
        </p:txBody>
      </p:sp>
      <p:sp>
        <p:nvSpPr>
          <p:cNvPr id="25603"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5604"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28528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50"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ABAD916E-556C-408E-B599-0F6F281E56B5}" type="slidenum">
              <a:rPr lang="en-IN" altLang="en-US" sz="1400" smtClean="0"/>
              <a:pPr>
                <a:spcBef>
                  <a:spcPct val="0"/>
                </a:spcBef>
              </a:pPr>
              <a:t>15</a:t>
            </a:fld>
            <a:endParaRPr lang="en-IN" altLang="en-US" sz="1400"/>
          </a:p>
        </p:txBody>
      </p:sp>
      <p:sp>
        <p:nvSpPr>
          <p:cNvPr id="27651"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7652"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679540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98"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50A5A212-9662-4D29-B597-4B973FB70511}" type="slidenum">
              <a:rPr lang="en-IN" altLang="en-US" sz="1400" smtClean="0"/>
              <a:pPr>
                <a:spcBef>
                  <a:spcPct val="0"/>
                </a:spcBef>
              </a:pPr>
              <a:t>16</a:t>
            </a:fld>
            <a:endParaRPr lang="en-IN" altLang="en-US" sz="1400"/>
          </a:p>
        </p:txBody>
      </p:sp>
      <p:sp>
        <p:nvSpPr>
          <p:cNvPr id="29699"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29700"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5827552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746"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C00C9A07-6361-4254-A034-C4E6764B8AD4}" type="slidenum">
              <a:rPr lang="en-IN" altLang="en-US" sz="1400" smtClean="0"/>
              <a:pPr>
                <a:spcBef>
                  <a:spcPct val="0"/>
                </a:spcBef>
              </a:pPr>
              <a:t>17</a:t>
            </a:fld>
            <a:endParaRPr lang="en-IN" altLang="en-US" sz="1400"/>
          </a:p>
        </p:txBody>
      </p:sp>
      <p:sp>
        <p:nvSpPr>
          <p:cNvPr id="31747"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1748"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25257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3794"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5DDBFD14-3D71-46FF-95B4-97E9F8AE8349}" type="slidenum">
              <a:rPr lang="en-IN" altLang="en-US" sz="1400" smtClean="0"/>
              <a:pPr>
                <a:spcBef>
                  <a:spcPct val="0"/>
                </a:spcBef>
              </a:pPr>
              <a:t>18</a:t>
            </a:fld>
            <a:endParaRPr lang="en-IN" altLang="en-US" sz="1400"/>
          </a:p>
        </p:txBody>
      </p:sp>
      <p:sp>
        <p:nvSpPr>
          <p:cNvPr id="33795"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3796"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1990465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842" name="Rectangle 6"/>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30342DA7-7F0A-4323-946A-7E66D99DB4AE}" type="slidenum">
              <a:rPr lang="en-IN" altLang="en-US" sz="1400" smtClean="0"/>
              <a:pPr>
                <a:spcBef>
                  <a:spcPct val="0"/>
                </a:spcBef>
              </a:pPr>
              <a:t>19</a:t>
            </a:fld>
            <a:endParaRPr lang="en-IN" altLang="en-US" sz="1400"/>
          </a:p>
        </p:txBody>
      </p:sp>
      <p:sp>
        <p:nvSpPr>
          <p:cNvPr id="35843" name="Rectangle 1"/>
          <p:cNvSpPr>
            <a:spLocks noGrp="1" noRot="1" noChangeAspect="1" noChangeArrowheads="1" noTextEdit="1"/>
          </p:cNvSpPr>
          <p:nvPr>
            <p:ph type="sldImg"/>
          </p:nvPr>
        </p:nvSpPr>
        <p:spPr>
          <a:xfrm>
            <a:off x="533400" y="763588"/>
            <a:ext cx="6705600" cy="3771900"/>
          </a:xfrm>
          <a:solidFill>
            <a:srgbClr val="FFFFFF"/>
          </a:solidFill>
          <a:ln>
            <a:solidFill>
              <a:srgbClr val="000000"/>
            </a:solidFill>
            <a:miter lim="800000"/>
            <a:headEnd/>
            <a:tailEnd/>
          </a:ln>
        </p:spPr>
      </p:sp>
      <p:sp>
        <p:nvSpPr>
          <p:cNvPr id="35844" name="Rectangle 2"/>
          <p:cNvSpPr>
            <a:spLocks noGrp="1" noChangeArrowheads="1"/>
          </p:cNvSpPr>
          <p:nvPr>
            <p:ph type="body" idx="1"/>
          </p:nvPr>
        </p:nvSpPr>
        <p:spPr>
          <a:xfrm>
            <a:off x="777875" y="4776788"/>
            <a:ext cx="6218238" cy="452596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9458626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xfrm>
            <a:off x="717550" y="841375"/>
            <a:ext cx="7370763" cy="4146550"/>
          </a:xfrm>
        </p:spPr>
      </p:sp>
      <p:sp>
        <p:nvSpPr>
          <p:cNvPr id="378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37892" name="Slide Number Placeholder 3"/>
          <p:cNvSpPr>
            <a:spLocks noGrp="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723900" algn="l"/>
                <a:tab pos="1447800" algn="l"/>
                <a:tab pos="2171700" algn="l"/>
                <a:tab pos="2895600" algn="l"/>
                <a:tab pos="3619500" algn="l"/>
              </a:tabLst>
              <a:defRPr sz="1200">
                <a:solidFill>
                  <a:srgbClr val="000000"/>
                </a:solidFill>
                <a:latin typeface="Times New Roman" panose="02020603050405020304" pitchFamily="18" charset="0"/>
              </a:defRPr>
            </a:lvl9pPr>
          </a:lstStyle>
          <a:p>
            <a:pPr>
              <a:spcBef>
                <a:spcPct val="0"/>
              </a:spcBef>
            </a:pPr>
            <a:fld id="{57F332B4-926C-4A6D-A2FA-F293F06AE802}" type="slidenum">
              <a:rPr lang="en-IN" altLang="en-US" sz="1400" smtClean="0"/>
              <a:pPr>
                <a:spcBef>
                  <a:spcPct val="0"/>
                </a:spcBef>
              </a:pPr>
              <a:t>20</a:t>
            </a:fld>
            <a:endParaRPr lang="en-IN" altLang="en-US" sz="1400"/>
          </a:p>
        </p:txBody>
      </p:sp>
    </p:spTree>
    <p:extLst>
      <p:ext uri="{BB962C8B-B14F-4D97-AF65-F5344CB8AC3E}">
        <p14:creationId xmlns:p14="http://schemas.microsoft.com/office/powerpoint/2010/main" val="26953628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6FB3AE-C8DD-43D7-9066-361CAD457835}"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26127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6FB3AE-C8DD-43D7-9066-361CAD457835}"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199953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6FB3AE-C8DD-43D7-9066-361CAD457835}"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11958665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16FB3AE-C8DD-43D7-9066-361CAD457835}" type="datetimeFigureOut">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2722988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16FB3AE-C8DD-43D7-9066-361CAD457835}" type="datetimeFigureOut">
              <a:rPr lang="en-US" smtClean="0"/>
              <a:t>3/31/2025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1326493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16FB3AE-C8DD-43D7-9066-361CAD457835}" type="datetimeFigureOut">
              <a:rPr lang="en-US" smtClean="0"/>
              <a:t>3/31/2025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9213041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6FB3AE-C8DD-43D7-9066-361CAD457835}" type="datetimeFigureOut">
              <a:rPr lang="en-US" smtClean="0"/>
              <a:t>3/31/2025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104164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6FB3AE-C8DD-43D7-9066-361CAD457835}" type="datetimeFigureOut">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29272719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16FB3AE-C8DD-43D7-9066-361CAD457835}" type="datetimeFigureOut">
              <a:rPr lang="en-US" smtClean="0"/>
              <a:t>3/31/2025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922856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6FB3AE-C8DD-43D7-9066-361CAD457835}"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191507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16FB3AE-C8DD-43D7-9066-361CAD457835}" type="datetimeFigureOut">
              <a:rPr lang="en-US" smtClean="0"/>
              <a:t>3/31/2025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0E63D0-4A06-421E-8BDB-A922AE129E87}" type="slidenum">
              <a:rPr lang="en-US" smtClean="0"/>
              <a:t>‹#›</a:t>
            </a:fld>
            <a:endParaRPr lang="en-US"/>
          </a:p>
        </p:txBody>
      </p:sp>
    </p:spTree>
    <p:extLst>
      <p:ext uri="{BB962C8B-B14F-4D97-AF65-F5344CB8AC3E}">
        <p14:creationId xmlns:p14="http://schemas.microsoft.com/office/powerpoint/2010/main" val="37457777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608641" y="273629"/>
            <a:ext cx="10968959" cy="1143480"/>
          </a:xfrm>
        </p:spPr>
        <p:txBody>
          <a:bodyPr/>
          <a:lstStyle/>
          <a:p>
            <a:r>
              <a:rPr lang="en-US"/>
              <a:t>Click to edit Master title style</a:t>
            </a:r>
          </a:p>
        </p:txBody>
      </p:sp>
      <p:sp>
        <p:nvSpPr>
          <p:cNvPr id="3" name="Rectangle 3"/>
          <p:cNvSpPr>
            <a:spLocks noGrp="1" noChangeArrowheads="1"/>
          </p:cNvSpPr>
          <p:nvPr>
            <p:ph type="dt" idx="10"/>
          </p:nvPr>
        </p:nvSpPr>
        <p:spPr>
          <a:ln/>
        </p:spPr>
        <p:txBody>
          <a:bodyPr/>
          <a:lstStyle>
            <a:lvl1pPr>
              <a:defRPr/>
            </a:lvl1pPr>
          </a:lstStyle>
          <a:p>
            <a:pPr>
              <a:defRPr/>
            </a:pPr>
            <a:endParaRPr lang="en-IN"/>
          </a:p>
        </p:txBody>
      </p:sp>
      <p:sp>
        <p:nvSpPr>
          <p:cNvPr id="4" name="Rectangle 4"/>
          <p:cNvSpPr>
            <a:spLocks noGrp="1" noChangeArrowheads="1"/>
          </p:cNvSpPr>
          <p:nvPr>
            <p:ph type="ftr" idx="11"/>
          </p:nvPr>
        </p:nvSpPr>
        <p:spPr>
          <a:ln/>
        </p:spPr>
        <p:txBody>
          <a:bodyPr/>
          <a:lstStyle>
            <a:lvl1pPr>
              <a:defRPr/>
            </a:lvl1pPr>
          </a:lstStyle>
          <a:p>
            <a:pPr>
              <a:defRPr/>
            </a:pPr>
            <a:endParaRPr lang="en-IN"/>
          </a:p>
        </p:txBody>
      </p:sp>
      <p:sp>
        <p:nvSpPr>
          <p:cNvPr id="5" name="Rectangle 5"/>
          <p:cNvSpPr>
            <a:spLocks noGrp="1" noChangeArrowheads="1"/>
          </p:cNvSpPr>
          <p:nvPr>
            <p:ph type="sldNum" idx="12"/>
          </p:nvPr>
        </p:nvSpPr>
        <p:spPr>
          <a:ln/>
        </p:spPr>
        <p:txBody>
          <a:bodyPr/>
          <a:lstStyle>
            <a:lvl1pPr>
              <a:defRPr/>
            </a:lvl1pPr>
          </a:lstStyle>
          <a:p>
            <a:pPr>
              <a:defRPr/>
            </a:pPr>
            <a:fld id="{0AC3BDD6-D0B1-478F-A1FD-308A2477CAF3}" type="slidenum">
              <a:rPr lang="en-IN" altLang="en-US"/>
              <a:pPr>
                <a:defRPr/>
              </a:pPr>
              <a:t>‹#›</a:t>
            </a:fld>
            <a:endParaRPr lang="en-IN" altLang="en-US"/>
          </a:p>
        </p:txBody>
      </p:sp>
    </p:spTree>
    <p:extLst>
      <p:ext uri="{BB962C8B-B14F-4D97-AF65-F5344CB8AC3E}">
        <p14:creationId xmlns:p14="http://schemas.microsoft.com/office/powerpoint/2010/main" val="40625116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6FB3AE-C8DD-43D7-9066-361CAD457835}" type="datetimeFigureOut">
              <a:rPr lang="en-US" smtClean="0"/>
              <a:t>3/31/2025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0E63D0-4A06-421E-8BDB-A922AE129E87}" type="slidenum">
              <a:rPr lang="en-US" smtClean="0"/>
              <a:t>‹#›</a:t>
            </a:fld>
            <a:endParaRPr lang="en-US"/>
          </a:p>
        </p:txBody>
      </p:sp>
    </p:spTree>
    <p:extLst>
      <p:ext uri="{BB962C8B-B14F-4D97-AF65-F5344CB8AC3E}">
        <p14:creationId xmlns:p14="http://schemas.microsoft.com/office/powerpoint/2010/main" val="356805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geeksforgeeks.org/introduction-to-red-black-tree/" TargetMode="External"/><Relationship Id="rId2" Type="http://schemas.openxmlformats.org/officeDocument/2006/relationships/hyperlink" Target="https://www.geeksforgeeks.org/introduction-to-avl-tree/"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
          <p:cNvSpPr>
            <a:spLocks noGrp="1" noChangeArrowheads="1"/>
          </p:cNvSpPr>
          <p:nvPr>
            <p:ph type="title"/>
          </p:nvPr>
        </p:nvSpPr>
        <p:spPr>
          <a:xfrm>
            <a:off x="1613530" y="228657"/>
            <a:ext cx="7598238" cy="1455992"/>
          </a:xfrm>
        </p:spPr>
        <p:txBody>
          <a:bodyPr/>
          <a:lstStyle/>
          <a:p>
            <a:pPr algn="ctr">
              <a:lnSpc>
                <a:spcPct val="100000"/>
              </a:lnSpc>
              <a:tabLst>
                <a:tab pos="656722" algn="l"/>
                <a:tab pos="1313444" algn="l"/>
                <a:tab pos="1970166" algn="l"/>
                <a:tab pos="2626888" algn="l"/>
                <a:tab pos="3283610" algn="l"/>
                <a:tab pos="3940332" algn="l"/>
                <a:tab pos="4597055" algn="l"/>
                <a:tab pos="5253777" algn="l"/>
                <a:tab pos="5910499" algn="l"/>
                <a:tab pos="6567221" algn="l"/>
                <a:tab pos="7223943" algn="l"/>
              </a:tabLst>
            </a:pPr>
            <a:r>
              <a:rPr lang="en-US" altLang="en-US" sz="3629" b="1" dirty="0">
                <a:solidFill>
                  <a:srgbClr val="000000"/>
                </a:solidFill>
                <a:latin typeface="Calibri Light" panose="020F0302020204030204" pitchFamily="34" charset="0"/>
              </a:rPr>
              <a:t>Data structure</a:t>
            </a:r>
          </a:p>
        </p:txBody>
      </p:sp>
      <p:sp>
        <p:nvSpPr>
          <p:cNvPr id="4099" name="Text Box 2"/>
          <p:cNvSpPr txBox="1">
            <a:spLocks noChangeArrowheads="1"/>
          </p:cNvSpPr>
          <p:nvPr/>
        </p:nvSpPr>
        <p:spPr bwMode="auto">
          <a:xfrm>
            <a:off x="1173275" y="1801444"/>
            <a:ext cx="8630826" cy="4985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nchor="ctr"/>
          <a:lstStyle>
            <a:lvl1pPr marL="285750" indent="-284163">
              <a:lnSpc>
                <a:spcPct val="98000"/>
              </a:lnSpc>
              <a:spcAft>
                <a:spcPts val="156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000">
                <a:solidFill>
                  <a:srgbClr val="FFFFFF"/>
                </a:solidFill>
                <a:latin typeface="Calibri" panose="020F0502020204030204" pitchFamily="34" charset="0"/>
                <a:ea typeface="WenQuanYi Micro Hei" charset="0"/>
                <a:cs typeface="WenQuanYi Micro Hei" charset="0"/>
              </a:defRPr>
            </a:lvl1pPr>
            <a:lvl2pPr>
              <a:lnSpc>
                <a:spcPct val="98000"/>
              </a:lnSpc>
              <a:spcAft>
                <a:spcPts val="12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1500">
                <a:solidFill>
                  <a:srgbClr val="FFFFFF"/>
                </a:solidFill>
                <a:latin typeface="Calibri" panose="020F0502020204030204" pitchFamily="34" charset="0"/>
                <a:ea typeface="WenQuanYi Micro Hei" charset="0"/>
                <a:cs typeface="WenQuanYi Micro Hei" charset="0"/>
              </a:defRPr>
            </a:lvl2pPr>
            <a:lvl3pPr>
              <a:lnSpc>
                <a:spcPct val="98000"/>
              </a:lnSpc>
              <a:spcAft>
                <a:spcPts val="9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1300">
                <a:solidFill>
                  <a:srgbClr val="FFFFFF"/>
                </a:solidFill>
                <a:latin typeface="Calibri" panose="020F0502020204030204" pitchFamily="34" charset="0"/>
                <a:ea typeface="WenQuanYi Micro Hei" charset="0"/>
                <a:cs typeface="WenQuanYi Micro Hei" charset="0"/>
              </a:defRPr>
            </a:lvl3pPr>
            <a:lvl4pPr>
              <a:lnSpc>
                <a:spcPct val="98000"/>
              </a:lnSpc>
              <a:spcAft>
                <a:spcPts val="6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1300">
                <a:solidFill>
                  <a:srgbClr val="FFFFFF"/>
                </a:solidFill>
                <a:latin typeface="Calibri" panose="020F0502020204030204" pitchFamily="34" charset="0"/>
                <a:ea typeface="WenQuanYi Micro Hei" charset="0"/>
                <a:cs typeface="WenQuanYi Micro Hei" charset="0"/>
              </a:defRPr>
            </a:lvl4pPr>
            <a:lvl5pPr>
              <a:lnSpc>
                <a:spcPct val="98000"/>
              </a:lnSpc>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200">
                <a:solidFill>
                  <a:srgbClr val="FFFFFF"/>
                </a:solidFill>
                <a:latin typeface="Calibri" panose="020F0502020204030204" pitchFamily="34" charset="0"/>
                <a:ea typeface="WenQuanYi Micro Hei" charset="0"/>
                <a:cs typeface="WenQuanYi Micro Hei" charset="0"/>
              </a:defRPr>
            </a:lvl5pPr>
            <a:lvl6pPr marL="25146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200">
                <a:solidFill>
                  <a:srgbClr val="FFFFFF"/>
                </a:solidFill>
                <a:latin typeface="Calibri" panose="020F0502020204030204" pitchFamily="34" charset="0"/>
                <a:ea typeface="WenQuanYi Micro Hei" charset="0"/>
                <a:cs typeface="WenQuanYi Micro Hei" charset="0"/>
              </a:defRPr>
            </a:lvl6pPr>
            <a:lvl7pPr marL="29718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200">
                <a:solidFill>
                  <a:srgbClr val="FFFFFF"/>
                </a:solidFill>
                <a:latin typeface="Calibri" panose="020F0502020204030204" pitchFamily="34" charset="0"/>
                <a:ea typeface="WenQuanYi Micro Hei" charset="0"/>
                <a:cs typeface="WenQuanYi Micro Hei" charset="0"/>
              </a:defRPr>
            </a:lvl7pPr>
            <a:lvl8pPr marL="34290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200">
                <a:solidFill>
                  <a:srgbClr val="FFFFFF"/>
                </a:solidFill>
                <a:latin typeface="Calibri" panose="020F0502020204030204" pitchFamily="34" charset="0"/>
                <a:ea typeface="WenQuanYi Micro Hei" charset="0"/>
                <a:cs typeface="WenQuanYi Micro Hei" charset="0"/>
              </a:defRPr>
            </a:lvl8pPr>
            <a:lvl9pPr marL="38862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Lst>
              <a:defRPr sz="2200">
                <a:solidFill>
                  <a:srgbClr val="FFFFFF"/>
                </a:solidFill>
                <a:latin typeface="Calibri" panose="020F0502020204030204" pitchFamily="34" charset="0"/>
                <a:ea typeface="WenQuanYi Micro Hei" charset="0"/>
                <a:cs typeface="WenQuanYi Micro Hei" charset="0"/>
              </a:defRPr>
            </a:lvl9pPr>
          </a:lstStyle>
          <a:p>
            <a:pPr>
              <a:lnSpc>
                <a:spcPct val="100000"/>
              </a:lnSpc>
              <a:spcAft>
                <a:spcPts val="907"/>
              </a:spcAft>
              <a:buNone/>
            </a:pPr>
            <a:r>
              <a:rPr lang="en-US" altLang="en-US" sz="3266" dirty="0"/>
              <a:t>Store and organize data in computer.</a:t>
            </a:r>
          </a:p>
          <a:p>
            <a:pPr>
              <a:lnSpc>
                <a:spcPct val="100000"/>
              </a:lnSpc>
              <a:spcAft>
                <a:spcPts val="907"/>
              </a:spcAft>
              <a:buClr>
                <a:srgbClr val="FFFFFF"/>
              </a:buClr>
              <a:buFont typeface="Wingdings" panose="05000000000000000000" pitchFamily="2" charset="2"/>
              <a:buChar char=""/>
            </a:pPr>
            <a:r>
              <a:rPr lang="en-US" altLang="en-US" sz="2903" b="1" dirty="0">
                <a:solidFill>
                  <a:schemeClr val="tx1"/>
                </a:solidFill>
              </a:rPr>
              <a:t>Linear Data Structure</a:t>
            </a:r>
          </a:p>
          <a:p>
            <a:pPr>
              <a:lnSpc>
                <a:spcPct val="100000"/>
              </a:lnSpc>
              <a:spcAft>
                <a:spcPts val="907"/>
              </a:spcAft>
              <a:buClrTx/>
              <a:buSzTx/>
              <a:buNone/>
            </a:pPr>
            <a:r>
              <a:rPr lang="en-US" altLang="en-US" sz="2903" dirty="0">
                <a:solidFill>
                  <a:schemeClr val="tx1"/>
                </a:solidFill>
              </a:rPr>
              <a:t>       Arrays</a:t>
            </a:r>
          </a:p>
          <a:p>
            <a:pPr>
              <a:lnSpc>
                <a:spcPct val="100000"/>
              </a:lnSpc>
              <a:spcAft>
                <a:spcPts val="907"/>
              </a:spcAft>
              <a:buClrTx/>
              <a:buSzTx/>
              <a:buNone/>
            </a:pPr>
            <a:r>
              <a:rPr lang="en-US" altLang="en-US" sz="2903" dirty="0">
                <a:solidFill>
                  <a:schemeClr val="tx1"/>
                </a:solidFill>
              </a:rPr>
              <a:t>       Linked List</a:t>
            </a:r>
          </a:p>
          <a:p>
            <a:pPr>
              <a:lnSpc>
                <a:spcPct val="100000"/>
              </a:lnSpc>
              <a:spcAft>
                <a:spcPts val="907"/>
              </a:spcAft>
              <a:buClrTx/>
              <a:buSzTx/>
              <a:buNone/>
            </a:pPr>
            <a:r>
              <a:rPr lang="en-US" altLang="en-US" sz="2903" dirty="0">
                <a:solidFill>
                  <a:schemeClr val="tx1"/>
                </a:solidFill>
              </a:rPr>
              <a:t>       Stacks</a:t>
            </a:r>
          </a:p>
          <a:p>
            <a:pPr>
              <a:lnSpc>
                <a:spcPct val="100000"/>
              </a:lnSpc>
              <a:spcAft>
                <a:spcPts val="907"/>
              </a:spcAft>
              <a:buClrTx/>
              <a:buSzTx/>
              <a:buNone/>
            </a:pPr>
            <a:r>
              <a:rPr lang="en-US" altLang="en-US" sz="2903" dirty="0">
                <a:solidFill>
                  <a:schemeClr val="tx1"/>
                </a:solidFill>
              </a:rPr>
              <a:t>       Queues </a:t>
            </a:r>
          </a:p>
        </p:txBody>
      </p:sp>
      <p:pic>
        <p:nvPicPr>
          <p:cNvPr id="410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6080" y="2302252"/>
            <a:ext cx="2769410" cy="891453"/>
          </a:xfrm>
          <a:prstGeom prst="rect">
            <a:avLst/>
          </a:prstGeom>
          <a:solidFill>
            <a:srgbClr val="EDEDED"/>
          </a:solidFill>
          <a:ln>
            <a:noFill/>
          </a:ln>
          <a:extLst>
            <a:ext uri="{91240B29-F687-4F45-9708-019B960494DF}">
              <a14:hiddenLine xmlns:a14="http://schemas.microsoft.com/office/drawing/2010/main" w="9525">
                <a:solidFill>
                  <a:srgbClr val="000000"/>
                </a:solidFill>
                <a:round/>
                <a:headEnd/>
                <a:tailEnd/>
              </a14:hiddenLine>
            </a:ext>
          </a:extLst>
        </p:spPr>
      </p:pic>
      <p:pic>
        <p:nvPicPr>
          <p:cNvPr id="410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0808" y="3321525"/>
            <a:ext cx="3250421" cy="1114677"/>
          </a:xfrm>
          <a:prstGeom prst="rect">
            <a:avLst/>
          </a:prstGeom>
          <a:solidFill>
            <a:srgbClr val="EDEDED"/>
          </a:solidFill>
          <a:ln>
            <a:noFill/>
          </a:ln>
          <a:extLst>
            <a:ext uri="{91240B29-F687-4F45-9708-019B960494DF}">
              <a14:hiddenLine xmlns:a14="http://schemas.microsoft.com/office/drawing/2010/main" w="9525">
                <a:solidFill>
                  <a:srgbClr val="000000"/>
                </a:solidFill>
                <a:round/>
                <a:headEnd/>
                <a:tailEnd/>
              </a14:hiddenLine>
            </a:ext>
          </a:extLst>
        </p:spPr>
      </p:pic>
      <p:pic>
        <p:nvPicPr>
          <p:cNvPr id="410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6318" y="4436202"/>
            <a:ext cx="2111262" cy="2014772"/>
          </a:xfrm>
          <a:prstGeom prst="rect">
            <a:avLst/>
          </a:prstGeom>
          <a:solidFill>
            <a:srgbClr val="EDEDED"/>
          </a:solidFill>
          <a:ln>
            <a:noFill/>
          </a:ln>
          <a:extLst>
            <a:ext uri="{91240B29-F687-4F45-9708-019B960494DF}">
              <a14:hiddenLine xmlns:a14="http://schemas.microsoft.com/office/drawing/2010/main" w="9525">
                <a:solidFill>
                  <a:srgbClr val="000000"/>
                </a:solidFill>
                <a:round/>
                <a:headEnd/>
                <a:tailEnd/>
              </a14:hiddenLine>
            </a:ext>
          </a:extLst>
        </p:spPr>
      </p:pic>
      <p:sp>
        <p:nvSpPr>
          <p:cNvPr id="4103" name="Text Box 6"/>
          <p:cNvSpPr txBox="1">
            <a:spLocks noChangeArrowheads="1"/>
          </p:cNvSpPr>
          <p:nvPr/>
        </p:nvSpPr>
        <p:spPr bwMode="auto">
          <a:xfrm>
            <a:off x="-9179683" y="-10703203"/>
            <a:ext cx="10704644" cy="10704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lIns="81646" tIns="40823" rIns="81646" bIns="40823"/>
          <a:lstStyle>
            <a:lvl1pPr>
              <a:lnSpc>
                <a:spcPct val="98000"/>
              </a:lnSpc>
              <a:spcAft>
                <a:spcPts val="156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000">
                <a:solidFill>
                  <a:srgbClr val="FFFFFF"/>
                </a:solidFill>
                <a:latin typeface="Calibri" panose="020F0502020204030204" pitchFamily="34" charset="0"/>
                <a:ea typeface="WenQuanYi Micro Hei" charset="0"/>
                <a:cs typeface="WenQuanYi Micro Hei" charset="0"/>
              </a:defRPr>
            </a:lvl1pPr>
            <a:lvl2pPr>
              <a:lnSpc>
                <a:spcPct val="98000"/>
              </a:lnSpc>
              <a:spcAft>
                <a:spcPts val="1250"/>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500">
                <a:solidFill>
                  <a:srgbClr val="FFFFFF"/>
                </a:solidFill>
                <a:latin typeface="Calibri" panose="020F0502020204030204" pitchFamily="34" charset="0"/>
                <a:ea typeface="WenQuanYi Micro Hei" charset="0"/>
                <a:cs typeface="WenQuanYi Micro Hei" charset="0"/>
              </a:defRPr>
            </a:lvl2pPr>
            <a:lvl3pPr>
              <a:lnSpc>
                <a:spcPct val="98000"/>
              </a:lnSpc>
              <a:spcAft>
                <a:spcPts val="938"/>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300">
                <a:solidFill>
                  <a:srgbClr val="FFFFFF"/>
                </a:solidFill>
                <a:latin typeface="Calibri" panose="020F0502020204030204" pitchFamily="34" charset="0"/>
                <a:ea typeface="WenQuanYi Micro Hei" charset="0"/>
                <a:cs typeface="WenQuanYi Micro Hei" charset="0"/>
              </a:defRPr>
            </a:lvl3pPr>
            <a:lvl4pPr>
              <a:lnSpc>
                <a:spcPct val="98000"/>
              </a:lnSpc>
              <a:spcAft>
                <a:spcPts val="625"/>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1300">
                <a:solidFill>
                  <a:srgbClr val="FFFFFF"/>
                </a:solidFill>
                <a:latin typeface="Calibri" panose="020F0502020204030204" pitchFamily="34" charset="0"/>
                <a:ea typeface="WenQuanYi Micro Hei" charset="0"/>
                <a:cs typeface="WenQuanYi Micro Hei" charset="0"/>
              </a:defRPr>
            </a:lvl4pPr>
            <a:lvl5pPr>
              <a:lnSpc>
                <a:spcPct val="98000"/>
              </a:lnSpc>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200">
                <a:solidFill>
                  <a:srgbClr val="FFFFFF"/>
                </a:solidFill>
                <a:latin typeface="Calibri" panose="020F0502020204030204" pitchFamily="34" charset="0"/>
                <a:ea typeface="WenQuanYi Micro Hei" charset="0"/>
                <a:cs typeface="WenQuanYi Micro Hei" charset="0"/>
              </a:defRPr>
            </a:lvl5pPr>
            <a:lvl6pPr marL="25146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200">
                <a:solidFill>
                  <a:srgbClr val="FFFFFF"/>
                </a:solidFill>
                <a:latin typeface="Calibri" panose="020F0502020204030204" pitchFamily="34" charset="0"/>
                <a:ea typeface="WenQuanYi Micro Hei" charset="0"/>
                <a:cs typeface="WenQuanYi Micro Hei" charset="0"/>
              </a:defRPr>
            </a:lvl6pPr>
            <a:lvl7pPr marL="29718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200">
                <a:solidFill>
                  <a:srgbClr val="FFFFFF"/>
                </a:solidFill>
                <a:latin typeface="Calibri" panose="020F0502020204030204" pitchFamily="34" charset="0"/>
                <a:ea typeface="WenQuanYi Micro Hei" charset="0"/>
                <a:cs typeface="WenQuanYi Micro Hei" charset="0"/>
              </a:defRPr>
            </a:lvl7pPr>
            <a:lvl8pPr marL="34290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200">
                <a:solidFill>
                  <a:srgbClr val="FFFFFF"/>
                </a:solidFill>
                <a:latin typeface="Calibri" panose="020F0502020204030204" pitchFamily="34" charset="0"/>
                <a:ea typeface="WenQuanYi Micro Hei" charset="0"/>
                <a:cs typeface="WenQuanYi Micro Hei" charset="0"/>
              </a:defRPr>
            </a:lvl8pPr>
            <a:lvl9pPr marL="3886200" indent="-228600" defTabSz="449263" eaLnBrk="0" fontAlgn="base" hangingPunct="0">
              <a:lnSpc>
                <a:spcPct val="98000"/>
              </a:lnSpc>
              <a:spcBef>
                <a:spcPct val="0"/>
              </a:spcBef>
              <a:spcAft>
                <a:spcPts val="313"/>
              </a:spcAft>
              <a:buClr>
                <a:srgbClr val="000000"/>
              </a:buClr>
              <a:buSzPct val="100000"/>
              <a:buFont typeface="Times New Roman" panose="02020603050405020304" pitchFamily="18" charset="0"/>
              <a:buChar cha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 pos="10134600" algn="l"/>
                <a:tab pos="10858500" algn="l"/>
                <a:tab pos="11582400" algn="l"/>
              </a:tabLst>
              <a:defRPr sz="2200">
                <a:solidFill>
                  <a:srgbClr val="FFFFFF"/>
                </a:solidFill>
                <a:latin typeface="Calibri" panose="020F0502020204030204" pitchFamily="34" charset="0"/>
                <a:ea typeface="WenQuanYi Micro Hei" charset="0"/>
                <a:cs typeface="WenQuanYi Micro Hei" charset="0"/>
              </a:defRPr>
            </a:lvl9pPr>
          </a:lstStyle>
          <a:p>
            <a:pPr eaLnBrk="1" hangingPunct="1">
              <a:lnSpc>
                <a:spcPct val="100000"/>
              </a:lnSpc>
              <a:spcAft>
                <a:spcPct val="0"/>
              </a:spcAft>
              <a:buFont typeface="Times New Roman" panose="02020603050405020304" pitchFamily="18" charset="0"/>
              <a:buNone/>
            </a:pPr>
            <a:fld id="{6A42F608-921D-4EB6-A3EE-572F2FF1ACD0}" type="slidenum">
              <a:rPr lang="en-IN" altLang="en-US" sz="1633">
                <a:ea typeface="DejaVu Sans" charset="0"/>
                <a:cs typeface="DejaVu Sans" charset="0"/>
              </a:rPr>
              <a:pPr eaLnBrk="1" hangingPunct="1">
                <a:lnSpc>
                  <a:spcPct val="100000"/>
                </a:lnSpc>
                <a:spcAft>
                  <a:spcPct val="0"/>
                </a:spcAft>
                <a:buFont typeface="Times New Roman" panose="02020603050405020304" pitchFamily="18" charset="0"/>
                <a:buNone/>
              </a:pPr>
              <a:t>1</a:t>
            </a:fld>
            <a:endParaRPr lang="en-IN" altLang="en-US" sz="1633">
              <a:ea typeface="DejaVu Sans" charset="0"/>
              <a:cs typeface="DejaVu Sans" charset="0"/>
            </a:endParaRPr>
          </a:p>
        </p:txBody>
      </p:sp>
    </p:spTree>
    <p:extLst>
      <p:ext uri="{BB962C8B-B14F-4D97-AF65-F5344CB8AC3E}">
        <p14:creationId xmlns:p14="http://schemas.microsoft.com/office/powerpoint/2010/main" val="309459756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5676" y="175011"/>
            <a:ext cx="9144000" cy="879432"/>
          </a:xfrm>
        </p:spPr>
        <p:txBody>
          <a:bodyPr>
            <a:normAutofit fontScale="90000"/>
          </a:bodyPr>
          <a:lstStyle/>
          <a:p>
            <a:r>
              <a:rPr lang="en-US" b="1" dirty="0"/>
              <a:t>Uses of Tree Data Structure: </a:t>
            </a:r>
            <a:endParaRPr lang="en-US" dirty="0"/>
          </a:p>
        </p:txBody>
      </p:sp>
      <p:sp>
        <p:nvSpPr>
          <p:cNvPr id="4" name="Rectangle 3"/>
          <p:cNvSpPr/>
          <p:nvPr/>
        </p:nvSpPr>
        <p:spPr>
          <a:xfrm>
            <a:off x="46038" y="943339"/>
            <a:ext cx="10883243" cy="369332"/>
          </a:xfrm>
          <a:prstGeom prst="rect">
            <a:avLst/>
          </a:prstGeom>
        </p:spPr>
        <p:txBody>
          <a:bodyPr wrap="square">
            <a:spAutoFit/>
          </a:bodyPr>
          <a:lstStyle/>
          <a:p>
            <a:r>
              <a:rPr lang="en-US" dirty="0">
                <a:solidFill>
                  <a:srgbClr val="273239"/>
                </a:solidFill>
                <a:latin typeface="Calibri" panose="020F0502020204030204" pitchFamily="34" charset="0"/>
                <a:cs typeface="Calibri" panose="020F0502020204030204" pitchFamily="34" charset="0"/>
              </a:rPr>
              <a:t>Unlike Array and Linked List, which are linear data structures, tree is hierarchical (or non-linear) data structure. </a:t>
            </a:r>
            <a:endParaRPr lang="en-US" dirty="0">
              <a:latin typeface="Calibri" panose="020F0502020204030204" pitchFamily="34" charset="0"/>
              <a:cs typeface="Calibri" panose="020F0502020204030204" pitchFamily="34" charset="0"/>
            </a:endParaRPr>
          </a:p>
        </p:txBody>
      </p:sp>
      <p:sp>
        <p:nvSpPr>
          <p:cNvPr id="5" name="AutoShape 2" descr="Lightbox"/>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p:cNvPicPr>
            <a:picLocks noChangeAspect="1"/>
          </p:cNvPicPr>
          <p:nvPr/>
        </p:nvPicPr>
        <p:blipFill>
          <a:blip r:embed="rId2"/>
          <a:stretch>
            <a:fillRect/>
          </a:stretch>
        </p:blipFill>
        <p:spPr>
          <a:xfrm>
            <a:off x="3910241" y="1385548"/>
            <a:ext cx="2852352" cy="2040129"/>
          </a:xfrm>
          <a:prstGeom prst="rect">
            <a:avLst/>
          </a:prstGeom>
        </p:spPr>
      </p:pic>
      <p:sp>
        <p:nvSpPr>
          <p:cNvPr id="7" name="Rectangle 3"/>
          <p:cNvSpPr>
            <a:spLocks noChangeArrowheads="1"/>
          </p:cNvSpPr>
          <p:nvPr/>
        </p:nvSpPr>
        <p:spPr bwMode="auto">
          <a:xfrm>
            <a:off x="155575" y="3498554"/>
            <a:ext cx="12082988" cy="304698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rgbClr val="273239"/>
                </a:solidFill>
                <a:effectLst/>
              </a:rPr>
              <a:t>Hierarchical Structure</a:t>
            </a:r>
            <a:r>
              <a:rPr kumimoji="0" lang="en-US" altLang="en-US" b="0" i="0" u="none" strike="noStrike" cap="none" normalizeH="0" baseline="0" dirty="0">
                <a:ln>
                  <a:noFill/>
                </a:ln>
                <a:solidFill>
                  <a:srgbClr val="273239"/>
                </a:solidFill>
                <a:effectLst/>
              </a:rPr>
              <a:t>: One reason to use trees might be because you want to store information that naturally forms a hierarchy.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rPr>
              <a:t>Searching Efficiency:</a:t>
            </a:r>
            <a:r>
              <a:rPr kumimoji="0" lang="en-US" altLang="en-US" b="0" i="0" u="none" strike="noStrike" cap="none" normalizeH="0" baseline="0" dirty="0">
                <a:ln>
                  <a:noFill/>
                </a:ln>
                <a:solidFill>
                  <a:srgbClr val="273239"/>
                </a:solidFill>
                <a:effectLst/>
              </a:rPr>
              <a:t> Trees provide an efficient way to search for data. For example, in a binary search tree,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rPr>
              <a:t>searching for a value takes time proportional to the logarithm of the number of elements, which is much faster than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rPr>
              <a:t>searching in a linear data structure like an array or a linked list.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rPr>
              <a:t>Sorting: </a:t>
            </a:r>
            <a:r>
              <a:rPr kumimoji="0" lang="en-US" altLang="en-US" b="0" i="0" u="none" strike="noStrike" cap="none" normalizeH="0" baseline="0" dirty="0">
                <a:ln>
                  <a:noFill/>
                </a:ln>
                <a:solidFill>
                  <a:srgbClr val="273239"/>
                </a:solidFill>
                <a:effectLst/>
              </a:rPr>
              <a:t>Trees can be used to sort data efficiently. For example, in a self-balancing binary search tree,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rPr>
              <a:t>the data is automatically sorted as it is inserted into the tree, making it easy to find the minimum, maximum,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rPr>
              <a:t>and other values in the tree.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rPr>
              <a:t>Dynamic Data: </a:t>
            </a:r>
            <a:r>
              <a:rPr kumimoji="0" lang="en-US" altLang="en-US" b="0" i="0" u="none" strike="noStrike" cap="none" normalizeH="0" baseline="0" dirty="0">
                <a:ln>
                  <a:noFill/>
                </a:ln>
                <a:solidFill>
                  <a:srgbClr val="273239"/>
                </a:solidFill>
                <a:effectLst/>
              </a:rPr>
              <a:t>Trees are dynamic data structures, which means that they can grow and shrink as needed.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rPr>
              <a:t>Efficient Insertion and Deletion: </a:t>
            </a:r>
            <a:r>
              <a:rPr kumimoji="0" lang="en-US" altLang="en-US" b="0" i="0" u="none" strike="noStrike" cap="none" normalizeH="0" baseline="0" dirty="0">
                <a:ln>
                  <a:noFill/>
                </a:ln>
                <a:solidFill>
                  <a:srgbClr val="273239"/>
                </a:solidFill>
                <a:effectLst/>
              </a:rPr>
              <a:t>Trees provide efficient algorithms for inserting and deleting data, </a:t>
            </a:r>
          </a:p>
          <a:p>
            <a:pPr marL="0" marR="0" lvl="0" indent="0" algn="l"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rgbClr val="273239"/>
                </a:solidFill>
                <a:effectLst/>
              </a:rPr>
              <a:t>which is important in many applications where data needs to be added or removed frequently.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rgbClr val="273239"/>
                </a:solidFill>
                <a:effectLst/>
              </a:rPr>
              <a:t>Easy to Implement: </a:t>
            </a:r>
            <a:r>
              <a:rPr kumimoji="0" lang="en-US" altLang="en-US" b="0" i="0" u="none" strike="noStrike" cap="none" normalizeH="0" baseline="0" dirty="0">
                <a:ln>
                  <a:noFill/>
                </a:ln>
                <a:solidFill>
                  <a:srgbClr val="273239"/>
                </a:solidFill>
                <a:effectLst/>
              </a:rPr>
              <a:t>Trees are relatively easy to implement, especially when compared to other data structures like graphs. </a:t>
            </a:r>
          </a:p>
        </p:txBody>
      </p:sp>
      <p:sp>
        <p:nvSpPr>
          <p:cNvPr id="8" name="AutoShape 4" descr="File-System"/>
          <p:cNvSpPr>
            <a:spLocks noChangeAspect="1" noChangeArrowheads="1"/>
          </p:cNvSpPr>
          <p:nvPr/>
        </p:nvSpPr>
        <p:spPr bwMode="auto">
          <a:xfrm>
            <a:off x="46038" y="-1036638"/>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527356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2037655" y="609185"/>
            <a:ext cx="7596797" cy="884253"/>
          </a:xfrm>
        </p:spPr>
        <p:txBody>
          <a:bodyPr/>
          <a:lstStyle/>
          <a:p>
            <a:pPr algn="ctr"/>
            <a:r>
              <a:rPr lang="en-US" altLang="en-US" sz="3629" b="1">
                <a:solidFill>
                  <a:srgbClr val="000000"/>
                </a:solidFill>
                <a:latin typeface="Castellar" panose="020A0402060406010301" pitchFamily="18" charset="0"/>
              </a:rPr>
              <a:t>Logic of Tree</a:t>
            </a:r>
            <a:endParaRPr lang="en-IN" altLang="en-US" sz="3266" b="1">
              <a:latin typeface="Castellar" panose="020A0402060406010301" pitchFamily="18" charset="0"/>
            </a:endParaRPr>
          </a:p>
        </p:txBody>
      </p:sp>
      <p:pic>
        <p:nvPicPr>
          <p:cNvPr id="7171" name="Picture 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1096" y="1769947"/>
            <a:ext cx="2317204" cy="4908035"/>
          </a:xfrm>
          <a:prstGeom prst="rect">
            <a:avLst/>
          </a:prstGeom>
          <a:solidFill>
            <a:srgbClr val="EDEDED"/>
          </a:solidFill>
          <a:ln>
            <a:noFill/>
          </a:ln>
          <a:extLst>
            <a:ext uri="{91240B29-F687-4F45-9708-019B960494DF}">
              <a14:hiddenLine xmlns:a14="http://schemas.microsoft.com/office/drawing/2010/main" w="9525">
                <a:solidFill>
                  <a:srgbClr val="000000"/>
                </a:solidFill>
                <a:round/>
                <a:headEnd/>
                <a:tailEnd/>
              </a14:hiddenLine>
            </a:ext>
          </a:extLst>
        </p:spPr>
      </p:pic>
      <p:pic>
        <p:nvPicPr>
          <p:cNvPr id="7172" name="Picture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48366" y="2046456"/>
            <a:ext cx="5646832" cy="200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4736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noChangeArrowheads="1"/>
          </p:cNvSpPr>
          <p:nvPr>
            <p:ph type="title" idx="4294967295"/>
          </p:nvPr>
        </p:nvSpPr>
        <p:spPr>
          <a:xfrm>
            <a:off x="1980049" y="273629"/>
            <a:ext cx="8229024" cy="1144921"/>
          </a:xfrm>
        </p:spPr>
        <p:txBody>
          <a:bodyPr vert="horz" lIns="91440" tIns="28805"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3266" b="1"/>
              <a:t>Tree Definition</a:t>
            </a:r>
          </a:p>
        </p:txBody>
      </p:sp>
      <p:sp>
        <p:nvSpPr>
          <p:cNvPr id="8195" name="Rectangle 2"/>
          <p:cNvSpPr>
            <a:spLocks noGrp="1" noChangeArrowheads="1"/>
          </p:cNvSpPr>
          <p:nvPr>
            <p:ph type="subTitle" idx="4294967295"/>
          </p:nvPr>
        </p:nvSpPr>
        <p:spPr>
          <a:xfrm>
            <a:off x="1419123" y="1290717"/>
            <a:ext cx="7598238" cy="4903714"/>
          </a:xfrm>
        </p:spPr>
        <p:txBody>
          <a:bodyPr anchor="ctr"/>
          <a:lstStyle/>
          <a:p>
            <a:pPr marL="0" indent="0" algn="ctr">
              <a:spcAft>
                <a:spcPct val="0"/>
              </a:spcAft>
              <a:buNone/>
              <a:tabLst>
                <a:tab pos="656722" algn="l"/>
                <a:tab pos="1313444" algn="l"/>
                <a:tab pos="1970166" algn="l"/>
                <a:tab pos="2626888" algn="l"/>
                <a:tab pos="3283610" algn="l"/>
                <a:tab pos="3940332" algn="l"/>
                <a:tab pos="4597055" algn="l"/>
                <a:tab pos="5253777" algn="l"/>
                <a:tab pos="5910499" algn="l"/>
                <a:tab pos="6567221" algn="l"/>
                <a:tab pos="7223943" algn="l"/>
              </a:tabLst>
            </a:pPr>
            <a:r>
              <a:rPr lang="en-IN" altLang="en-US" dirty="0">
                <a:solidFill>
                  <a:srgbClr val="00FF00"/>
                </a:solidFill>
              </a:rPr>
              <a:t>Tree is a non-linear data structure which organizes data in hierarchical structure and this is a recursive definition.</a:t>
            </a:r>
          </a:p>
          <a:p>
            <a:pPr marL="0" indent="0" algn="ctr">
              <a:spcAft>
                <a:spcPct val="0"/>
              </a:spcAft>
              <a:buNone/>
              <a:tabLst>
                <a:tab pos="656722" algn="l"/>
                <a:tab pos="1313444" algn="l"/>
                <a:tab pos="1970166" algn="l"/>
                <a:tab pos="2626888" algn="l"/>
                <a:tab pos="3283610" algn="l"/>
                <a:tab pos="3940332" algn="l"/>
                <a:tab pos="4597055" algn="l"/>
                <a:tab pos="5253777" algn="l"/>
                <a:tab pos="5910499" algn="l"/>
                <a:tab pos="6567221" algn="l"/>
                <a:tab pos="7223943" algn="l"/>
              </a:tabLst>
            </a:pPr>
            <a:endParaRPr lang="en-IN" altLang="en-US" dirty="0">
              <a:solidFill>
                <a:srgbClr val="00FF00"/>
              </a:solidFill>
            </a:endParaRPr>
          </a:p>
          <a:p>
            <a:pPr marL="0" indent="0" algn="ctr">
              <a:spcAft>
                <a:spcPct val="0"/>
              </a:spcAft>
              <a:buNone/>
              <a:tabLst>
                <a:tab pos="656722" algn="l"/>
                <a:tab pos="1313444" algn="l"/>
                <a:tab pos="1970166" algn="l"/>
                <a:tab pos="2626888" algn="l"/>
                <a:tab pos="3283610" algn="l"/>
                <a:tab pos="3940332" algn="l"/>
                <a:tab pos="4597055" algn="l"/>
                <a:tab pos="5253777" algn="l"/>
                <a:tab pos="5910499" algn="l"/>
                <a:tab pos="6567221" algn="l"/>
                <a:tab pos="7223943" algn="l"/>
              </a:tabLst>
            </a:pPr>
            <a:endParaRPr lang="en-IN" altLang="en-US" dirty="0">
              <a:solidFill>
                <a:srgbClr val="00FF00"/>
              </a:solidFill>
            </a:endParaRPr>
          </a:p>
          <a:p>
            <a:pPr marL="0" indent="0" algn="ctr">
              <a:spcAft>
                <a:spcPct val="0"/>
              </a:spcAft>
              <a:buNone/>
              <a:tabLst>
                <a:tab pos="656722" algn="l"/>
                <a:tab pos="1313444" algn="l"/>
                <a:tab pos="1970166" algn="l"/>
                <a:tab pos="2626888" algn="l"/>
                <a:tab pos="3283610" algn="l"/>
                <a:tab pos="3940332" algn="l"/>
                <a:tab pos="4597055" algn="l"/>
                <a:tab pos="5253777" algn="l"/>
                <a:tab pos="5910499" algn="l"/>
                <a:tab pos="6567221" algn="l"/>
                <a:tab pos="7223943" algn="l"/>
              </a:tabLst>
            </a:pPr>
            <a:endParaRPr lang="en-IN" altLang="en-US" dirty="0">
              <a:solidFill>
                <a:srgbClr val="00FF00"/>
              </a:solidFill>
            </a:endParaRPr>
          </a:p>
        </p:txBody>
      </p:sp>
      <p:pic>
        <p:nvPicPr>
          <p:cNvPr id="819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3226" y="3581997"/>
            <a:ext cx="6466279" cy="2612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174765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Tree terminology...</a:t>
            </a:r>
          </a:p>
        </p:txBody>
      </p:sp>
      <p:sp>
        <p:nvSpPr>
          <p:cNvPr id="10243" name="Rectangle 2"/>
          <p:cNvSpPr>
            <a:spLocks noGrp="1" noChangeArrowheads="1"/>
          </p:cNvSpPr>
          <p:nvPr>
            <p:ph type="body" idx="4294967295"/>
          </p:nvPr>
        </p:nvSpPr>
        <p:spPr>
          <a:xfrm>
            <a:off x="1980049" y="1045550"/>
            <a:ext cx="8046124" cy="5224869"/>
          </a:xfrm>
        </p:spPr>
        <p:txBody>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1.Root:</a:t>
            </a:r>
          </a:p>
          <a:p>
            <a:pPr marL="783458" lvl="1" indent="-293797">
              <a:buSzPct val="75000"/>
              <a:buFont typeface="Symbol" panose="05050102010706020507" pitchFamily="18"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The first node is called as Root Node. </a:t>
            </a:r>
          </a:p>
          <a:p>
            <a:pPr marL="783458" lvl="1" indent="-293797">
              <a:buSzPct val="75000"/>
              <a:buFont typeface="Symbol" panose="05050102010706020507" pitchFamily="18"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Every tree must have root node, there must be only one root node.</a:t>
            </a:r>
          </a:p>
          <a:p>
            <a:pPr marL="783458" lvl="1" indent="-293797">
              <a:buSzPct val="75000"/>
              <a:buFont typeface="Symbol" panose="05050102010706020507" pitchFamily="18"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 Root node doesn't have any parent.</a:t>
            </a:r>
          </a:p>
          <a:p>
            <a:pPr marL="783458" lvl="1" indent="-293797">
              <a:buSzPct val="75000"/>
              <a:buFont typeface="Symbol" panose="05050102010706020507" pitchFamily="18"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a:p>
        </p:txBody>
      </p:sp>
      <p:pic>
        <p:nvPicPr>
          <p:cNvPr id="1024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003" y="3591738"/>
            <a:ext cx="6048635" cy="2285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95485341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2. Edge</a:t>
            </a:r>
          </a:p>
        </p:txBody>
      </p:sp>
      <p:sp>
        <p:nvSpPr>
          <p:cNvPr id="12291" name="Rectangle 2"/>
          <p:cNvSpPr>
            <a:spLocks noGrp="1" noChangeArrowheads="1"/>
          </p:cNvSpPr>
          <p:nvPr>
            <p:ph type="body" idx="4294967295"/>
          </p:nvPr>
        </p:nvSpPr>
        <p:spPr>
          <a:xfrm>
            <a:off x="1980049" y="1175164"/>
            <a:ext cx="8046124" cy="4703534"/>
          </a:xfrm>
        </p:spPr>
        <p:txBody>
          <a:bodyPr vert="horz" lIns="91440" tIns="208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359"/>
              <a:t>In a tree data structure, the connecting link between any two nodes is called as EDGE. In a tree with 'N' number of nodes there will be a maximum of 'N-1' number of edges.</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a:p>
        </p:txBody>
      </p:sp>
      <p:pic>
        <p:nvPicPr>
          <p:cNvPr id="1229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0791" y="3004156"/>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31501528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3. Parent</a:t>
            </a:r>
          </a:p>
        </p:txBody>
      </p:sp>
      <p:sp>
        <p:nvSpPr>
          <p:cNvPr id="14339" name="Rectangle 2"/>
          <p:cNvSpPr>
            <a:spLocks noGrp="1" noChangeArrowheads="1"/>
          </p:cNvSpPr>
          <p:nvPr>
            <p:ph type="body" idx="4294967295"/>
          </p:nvPr>
        </p:nvSpPr>
        <p:spPr>
          <a:xfrm>
            <a:off x="1980049" y="1604329"/>
            <a:ext cx="8046124" cy="3977698"/>
          </a:xfrm>
        </p:spPr>
        <p:txBody>
          <a:bodyPr vert="horz" lIns="91440" tIns="192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In a tree data structure, the node which is predecessor of any node is called as PARENT NODE. In simple words, the node which has branch from it to any other node is called as parent node. Parent node can also be defined as "The node which has child / children".</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2177"/>
          </a:p>
        </p:txBody>
      </p:sp>
      <p:pic>
        <p:nvPicPr>
          <p:cNvPr id="1434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6047" y="3395877"/>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79722424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4. Child</a:t>
            </a:r>
          </a:p>
        </p:txBody>
      </p:sp>
      <p:sp>
        <p:nvSpPr>
          <p:cNvPr id="16387" name="Rectangle 2"/>
          <p:cNvSpPr>
            <a:spLocks noGrp="1" noChangeArrowheads="1"/>
          </p:cNvSpPr>
          <p:nvPr>
            <p:ph type="body" idx="4294967295"/>
          </p:nvPr>
        </p:nvSpPr>
        <p:spPr>
          <a:xfrm>
            <a:off x="1980049" y="1604329"/>
            <a:ext cx="8046124" cy="3977698"/>
          </a:xfrm>
        </p:spPr>
        <p:txBody>
          <a:bodyPr vert="horz" lIns="91440" tIns="160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814"/>
              <a:t>The node which has a link from its parent node is called as child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814"/>
              <a:t> In a tree, any parent node can have any number of child nodes. </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814"/>
              <a:t>In a tree, all the nodes except root are child nodes.</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1814"/>
          </a:p>
        </p:txBody>
      </p:sp>
      <p:pic>
        <p:nvPicPr>
          <p:cNvPr id="163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69070" y="2874542"/>
            <a:ext cx="6048635" cy="326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97495421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5. Siblings</a:t>
            </a:r>
          </a:p>
        </p:txBody>
      </p:sp>
      <p:sp>
        <p:nvSpPr>
          <p:cNvPr id="18435" name="Rectangle 2"/>
          <p:cNvSpPr>
            <a:spLocks noGrp="1" noChangeArrowheads="1"/>
          </p:cNvSpPr>
          <p:nvPr>
            <p:ph type="body" idx="4294967295"/>
          </p:nvPr>
        </p:nvSpPr>
        <p:spPr>
          <a:xfrm>
            <a:off x="1980049" y="1604329"/>
            <a:ext cx="8046124" cy="3977698"/>
          </a:xfrm>
        </p:spPr>
        <p:txBody>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 The nodes with same parent are called as Sibling nodes.</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a:p>
        </p:txBody>
      </p:sp>
      <p:pic>
        <p:nvPicPr>
          <p:cNvPr id="1843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0853" y="3070403"/>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16022611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6. Leaf Node</a:t>
            </a:r>
          </a:p>
        </p:txBody>
      </p:sp>
      <p:sp>
        <p:nvSpPr>
          <p:cNvPr id="20483" name="Rectangle 2"/>
          <p:cNvSpPr>
            <a:spLocks noGrp="1" noChangeArrowheads="1"/>
          </p:cNvSpPr>
          <p:nvPr>
            <p:ph type="body" idx="4294967295"/>
          </p:nvPr>
        </p:nvSpPr>
        <p:spPr>
          <a:xfrm>
            <a:off x="1980049" y="1604329"/>
            <a:ext cx="8046124" cy="3977698"/>
          </a:xfrm>
        </p:spPr>
        <p:txBody>
          <a:bodyPr vert="horz" lIns="91440" tIns="192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The node which does not have a child is called as LEAF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The leaf nodes are also called as External Nodes  or  'Terminal'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2177"/>
          </a:p>
        </p:txBody>
      </p:sp>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9800" y="3221619"/>
            <a:ext cx="6963131" cy="304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6085253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7. Internal Nodes</a:t>
            </a:r>
          </a:p>
        </p:txBody>
      </p:sp>
      <p:sp>
        <p:nvSpPr>
          <p:cNvPr id="22531" name="Rectangle 2"/>
          <p:cNvSpPr>
            <a:spLocks noGrp="1" noChangeArrowheads="1"/>
          </p:cNvSpPr>
          <p:nvPr>
            <p:ph type="body" idx="4294967295"/>
          </p:nvPr>
        </p:nvSpPr>
        <p:spPr>
          <a:xfrm>
            <a:off x="1980049" y="1604329"/>
            <a:ext cx="8046124" cy="4535037"/>
          </a:xfrm>
        </p:spPr>
        <p:txBody>
          <a:bodyPr vert="horz" lIns="91440" tIns="192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An internal node is a node with atleast one child.</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Nodes other than leaf nodes are called as Internal Nodes. </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2177"/>
              <a:t>The root node is also said to be Internal Node if the tree has more than one node. Internal nodes are also called as 'Non-Terminal' nodes.</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2177"/>
          </a:p>
        </p:txBody>
      </p:sp>
      <p:pic>
        <p:nvPicPr>
          <p:cNvPr id="2253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5661" y="3526931"/>
            <a:ext cx="6048635" cy="28745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91583799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8. Degree</a:t>
            </a:r>
          </a:p>
        </p:txBody>
      </p:sp>
      <p:sp>
        <p:nvSpPr>
          <p:cNvPr id="24579" name="Rectangle 2"/>
          <p:cNvSpPr>
            <a:spLocks noGrp="1" noChangeArrowheads="1"/>
          </p:cNvSpPr>
          <p:nvPr>
            <p:ph type="body" idx="4294967295"/>
          </p:nvPr>
        </p:nvSpPr>
        <p:spPr>
          <a:xfrm>
            <a:off x="1980049" y="1604329"/>
            <a:ext cx="8046124" cy="3977698"/>
          </a:xfrm>
        </p:spPr>
        <p:txBody>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In a tree data structure, the total number of children of a node is called as DEGREE of that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a:p>
        </p:txBody>
      </p:sp>
      <p:pic>
        <p:nvPicPr>
          <p:cNvPr id="2458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28746" y="3004156"/>
            <a:ext cx="7092745" cy="326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31427232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9. Level</a:t>
            </a:r>
          </a:p>
        </p:txBody>
      </p:sp>
      <p:sp>
        <p:nvSpPr>
          <p:cNvPr id="26627" name="Rectangle 2"/>
          <p:cNvSpPr>
            <a:spLocks noGrp="1" noChangeArrowheads="1"/>
          </p:cNvSpPr>
          <p:nvPr>
            <p:ph type="body" idx="4294967295"/>
          </p:nvPr>
        </p:nvSpPr>
        <p:spPr>
          <a:xfrm>
            <a:off x="1980049" y="1604329"/>
            <a:ext cx="8046124" cy="3977698"/>
          </a:xfrm>
        </p:spPr>
        <p:txBody>
          <a:bodyPr vert="horz" lIns="91440" tIns="176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In a tree data structure, the root node is said to be at Level 0 and the children of root node are at Level 1 and the children of the nodes which are at Level 1 will be at Level 2 and so on... </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In a tree each step from top to bottom is called as a Level and the Level count starts with '0' and incremented by one at each level (Step).</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1996"/>
          </a:p>
        </p:txBody>
      </p:sp>
      <p:pic>
        <p:nvPicPr>
          <p:cNvPr id="2662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25599" y="3555734"/>
            <a:ext cx="6205611" cy="2976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35738546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10. Height</a:t>
            </a:r>
          </a:p>
        </p:txBody>
      </p:sp>
      <p:sp>
        <p:nvSpPr>
          <p:cNvPr id="28675" name="Rectangle 2"/>
          <p:cNvSpPr>
            <a:spLocks noGrp="1" noChangeArrowheads="1"/>
          </p:cNvSpPr>
          <p:nvPr>
            <p:ph type="body" idx="4294967295"/>
          </p:nvPr>
        </p:nvSpPr>
        <p:spPr>
          <a:xfrm>
            <a:off x="1980049" y="1604329"/>
            <a:ext cx="8046124" cy="3977698"/>
          </a:xfrm>
        </p:spPr>
        <p:txBody>
          <a:bodyPr vert="horz" lIns="91440" tIns="176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the total number of egdes from leaf node to a particular node in the longest path is called as HEIGHT of that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In a tree, height of the root node is said to be height of the tree.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1996"/>
          </a:p>
        </p:txBody>
      </p:sp>
      <p:pic>
        <p:nvPicPr>
          <p:cNvPr id="2867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1521" y="2874542"/>
            <a:ext cx="6048635" cy="3526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54108827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11. Depth</a:t>
            </a:r>
          </a:p>
        </p:txBody>
      </p:sp>
      <p:sp>
        <p:nvSpPr>
          <p:cNvPr id="30723" name="Rectangle 2"/>
          <p:cNvSpPr>
            <a:spLocks noGrp="1" noChangeArrowheads="1"/>
          </p:cNvSpPr>
          <p:nvPr>
            <p:ph type="body" idx="4294967295"/>
          </p:nvPr>
        </p:nvSpPr>
        <p:spPr>
          <a:xfrm>
            <a:off x="1980049" y="1604329"/>
            <a:ext cx="8046124" cy="3977698"/>
          </a:xfrm>
        </p:spPr>
        <p:txBody>
          <a:bodyPr vert="horz" lIns="91440" tIns="176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In a tree data structure, the total number of egdes from root node to a particular node is called as DEPTH of that Node.</a:t>
            </a:r>
          </a:p>
        </p:txBody>
      </p:sp>
      <p:pic>
        <p:nvPicPr>
          <p:cNvPr id="3072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003" y="2645559"/>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5054203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12. Path</a:t>
            </a:r>
          </a:p>
        </p:txBody>
      </p:sp>
      <p:sp>
        <p:nvSpPr>
          <p:cNvPr id="32771" name="Rectangle 2"/>
          <p:cNvSpPr>
            <a:spLocks noGrp="1" noChangeArrowheads="1"/>
          </p:cNvSpPr>
          <p:nvPr>
            <p:ph type="body" idx="4294967295"/>
          </p:nvPr>
        </p:nvSpPr>
        <p:spPr>
          <a:xfrm>
            <a:off x="1980049" y="1604329"/>
            <a:ext cx="8046124" cy="3977698"/>
          </a:xfrm>
        </p:spPr>
        <p:txBody>
          <a:bodyPr vert="horz" lIns="91440" tIns="17603" rIns="91440" bIns="45720" rtlCol="0">
            <a:normAutofit/>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In a tree data structure, the sequence of Nodes and Edges from one node to another node is called as PATH between that two Nodes.</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sz="1996"/>
              <a:t> Length of a Path is total number of nodes in that path. In below example the path A - B - E - J has length 4.</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sz="1996"/>
          </a:p>
        </p:txBody>
      </p:sp>
      <p:pic>
        <p:nvPicPr>
          <p:cNvPr id="3277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9738" y="3462124"/>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997907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
          <p:cNvSpPr>
            <a:spLocks noGrp="1" noChangeArrowheads="1"/>
          </p:cNvSpPr>
          <p:nvPr>
            <p:ph type="title" idx="4294967295"/>
          </p:nvPr>
        </p:nvSpPr>
        <p:spPr>
          <a:xfrm>
            <a:off x="1980049" y="273629"/>
            <a:ext cx="8229024" cy="1144921"/>
          </a:xfrm>
        </p:spPr>
        <p:txBody>
          <a:bodyPr vert="horz" lIns="91440" tIns="35206" rIns="91440" bIns="45720" rtlCol="0" anchor="ctr">
            <a:normAutofit/>
          </a:bodyPr>
          <a:lstStyle/>
          <a:p>
            <a:pP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13. Sub Tree</a:t>
            </a:r>
          </a:p>
        </p:txBody>
      </p:sp>
      <p:sp>
        <p:nvSpPr>
          <p:cNvPr id="34819" name="Rectangle 2"/>
          <p:cNvSpPr>
            <a:spLocks noGrp="1" noChangeArrowheads="1"/>
          </p:cNvSpPr>
          <p:nvPr>
            <p:ph type="body" idx="4294967295"/>
          </p:nvPr>
        </p:nvSpPr>
        <p:spPr>
          <a:xfrm>
            <a:off x="1980049" y="1604329"/>
            <a:ext cx="8046124" cy="3977698"/>
          </a:xfrm>
        </p:spPr>
        <p:txBody>
          <a:bodyPr/>
          <a:lstStyle/>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r>
              <a:rPr lang="en-IN" altLang="en-US"/>
              <a:t> Every child node will form a subtree on its parent node.</a:t>
            </a:r>
          </a:p>
          <a:p>
            <a:pPr marL="391729" indent="-293797">
              <a:buSzPct val="45000"/>
              <a:buFont typeface="Wingdings" panose="05000000000000000000" pitchFamily="2" charset="2"/>
              <a:buChar char=""/>
              <a:tabLst>
                <a:tab pos="656722" algn="l"/>
                <a:tab pos="1313444" algn="l"/>
                <a:tab pos="1970166" algn="l"/>
                <a:tab pos="2626888" algn="l"/>
                <a:tab pos="3283610" algn="l"/>
                <a:tab pos="3940332" algn="l"/>
                <a:tab pos="4597055" algn="l"/>
                <a:tab pos="5253777" algn="l"/>
                <a:tab pos="5910499" algn="l"/>
                <a:tab pos="6567221" algn="l"/>
                <a:tab pos="7223943" algn="l"/>
                <a:tab pos="7880665" algn="l"/>
              </a:tabLst>
            </a:pPr>
            <a:endParaRPr lang="en-IN" altLang="en-US"/>
          </a:p>
        </p:txBody>
      </p:sp>
      <p:pic>
        <p:nvPicPr>
          <p:cNvPr id="34820"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003" y="2645559"/>
            <a:ext cx="6048635" cy="2592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194697083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Advantages of Tree</a:t>
            </a:r>
            <a:endParaRPr lang="en-US" dirty="0"/>
          </a:p>
        </p:txBody>
      </p:sp>
      <p:sp>
        <p:nvSpPr>
          <p:cNvPr id="3" name="Content Placeholder 2"/>
          <p:cNvSpPr>
            <a:spLocks noGrp="1"/>
          </p:cNvSpPr>
          <p:nvPr>
            <p:ph idx="1"/>
          </p:nvPr>
        </p:nvSpPr>
        <p:spPr/>
        <p:txBody>
          <a:bodyPr>
            <a:normAutofit fontScale="62500" lnSpcReduction="20000"/>
          </a:bodyPr>
          <a:lstStyle/>
          <a:p>
            <a:pPr fontAlgn="base"/>
            <a:r>
              <a:rPr lang="en-US" b="1" dirty="0"/>
              <a:t>Efficient searching:</a:t>
            </a:r>
            <a:r>
              <a:rPr lang="en-US" dirty="0"/>
              <a:t> Trees are particularly efficient for searching and retrieving data. The time complexity of searching in a tree is O(log n) in </a:t>
            </a:r>
            <a:r>
              <a:rPr lang="en-US" u="sng" dirty="0">
                <a:hlinkClick r:id="rId2"/>
              </a:rPr>
              <a:t>AVL</a:t>
            </a:r>
            <a:r>
              <a:rPr lang="en-US" dirty="0"/>
              <a:t> and </a:t>
            </a:r>
            <a:r>
              <a:rPr lang="en-US" u="sng" dirty="0">
                <a:hlinkClick r:id="rId3"/>
              </a:rPr>
              <a:t>Red Black Trees</a:t>
            </a:r>
            <a:r>
              <a:rPr lang="en-US" dirty="0"/>
              <a:t>. This is better than arrays and linked list but not as good as hashing, but the advantages the these trees provide are sorted data, search for floor and ceiling of data.</a:t>
            </a:r>
          </a:p>
          <a:p>
            <a:pPr fontAlgn="base"/>
            <a:r>
              <a:rPr lang="en-US" b="1" dirty="0"/>
              <a:t>Fast insertion and deletion</a:t>
            </a:r>
            <a:r>
              <a:rPr lang="en-US" dirty="0"/>
              <a:t>: Inserting and deleting nodes in a self balancing binary search trees like AVL and Red Black can be done in O(log n) time. This is again better than arrays and linked list not as good as hashing, but the advantages the these trees provide are sorted data, search for floor and ceiling of data.</a:t>
            </a:r>
          </a:p>
          <a:p>
            <a:pPr fontAlgn="base"/>
            <a:r>
              <a:rPr lang="en-US" dirty="0"/>
              <a:t>Trees provide a hierarchical representation of data, making it</a:t>
            </a:r>
            <a:r>
              <a:rPr lang="en-US" b="1" dirty="0"/>
              <a:t> easy to organize and navigate </a:t>
            </a:r>
            <a:r>
              <a:rPr lang="en-US" dirty="0"/>
              <a:t>large amounts of information.</a:t>
            </a:r>
          </a:p>
          <a:p>
            <a:pPr fontAlgn="base"/>
            <a:r>
              <a:rPr lang="en-US" dirty="0"/>
              <a:t>The recursive nature of trees makes them </a:t>
            </a:r>
            <a:r>
              <a:rPr lang="en-US" b="1" dirty="0"/>
              <a:t>easy to traverse and manipulate</a:t>
            </a:r>
            <a:r>
              <a:rPr lang="en-US" dirty="0"/>
              <a:t> using recursive algorithms.</a:t>
            </a:r>
          </a:p>
          <a:p>
            <a:pPr fontAlgn="base"/>
            <a:r>
              <a:rPr lang="en-US" b="1" dirty="0"/>
              <a:t>Natural organization: </a:t>
            </a:r>
            <a:r>
              <a:rPr lang="en-US" dirty="0"/>
              <a:t>Trees have a natural hierarchical organization that can be used to represent many types of relationships. This makes them particularly useful for representing things like file systems, organizational structures, and taxonomies.</a:t>
            </a:r>
          </a:p>
          <a:p>
            <a:pPr fontAlgn="base"/>
            <a:r>
              <a:rPr lang="en-US" b="1" dirty="0"/>
              <a:t>Flexible size:</a:t>
            </a:r>
            <a:r>
              <a:rPr lang="en-US" dirty="0"/>
              <a:t> Unlike Arrays, trees can easily grow or shrink dynamically depending on the number of nodes that are added or removed. This makes them particularly useful for applications where the data size may change over time.</a:t>
            </a:r>
          </a:p>
          <a:p>
            <a:endParaRPr lang="en-US" dirty="0"/>
          </a:p>
        </p:txBody>
      </p:sp>
    </p:spTree>
    <p:extLst>
      <p:ext uri="{BB962C8B-B14F-4D97-AF65-F5344CB8AC3E}">
        <p14:creationId xmlns:p14="http://schemas.microsoft.com/office/powerpoint/2010/main" val="1231231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Disadvantages of Tree:</a:t>
            </a:r>
          </a:p>
        </p:txBody>
      </p:sp>
      <p:sp>
        <p:nvSpPr>
          <p:cNvPr id="3" name="Content Placeholder 2"/>
          <p:cNvSpPr>
            <a:spLocks noGrp="1"/>
          </p:cNvSpPr>
          <p:nvPr>
            <p:ph idx="1"/>
          </p:nvPr>
        </p:nvSpPr>
        <p:spPr/>
        <p:txBody>
          <a:bodyPr>
            <a:normAutofit fontScale="85000" lnSpcReduction="20000"/>
          </a:bodyPr>
          <a:lstStyle/>
          <a:p>
            <a:pPr fontAlgn="base"/>
            <a:r>
              <a:rPr lang="en-US" b="1" dirty="0"/>
              <a:t>Memory overhead</a:t>
            </a:r>
            <a:r>
              <a:rPr lang="en-US" dirty="0"/>
              <a:t>: Trees can require a significant amount of memory to store, especially if they are very large. This can be a problem for applications that have limited memory resources.</a:t>
            </a:r>
          </a:p>
          <a:p>
            <a:pPr fontAlgn="base"/>
            <a:r>
              <a:rPr lang="en-US" b="1" dirty="0"/>
              <a:t>Imbalanced trees:</a:t>
            </a:r>
            <a:r>
              <a:rPr lang="en-US" dirty="0"/>
              <a:t> If a tree is not balanced, it can result in uneven search times. This can be a problem in applications where speed is critical.</a:t>
            </a:r>
          </a:p>
          <a:p>
            <a:pPr fontAlgn="base"/>
            <a:r>
              <a:rPr lang="en-US" b="1" dirty="0"/>
              <a:t>Complexity</a:t>
            </a:r>
            <a:r>
              <a:rPr lang="en-US" dirty="0"/>
              <a:t>: Unlike Arrays and Linked Lists, Trees can be complex data structures, and they can be difficult to understand and implement correctly. This can be a problem for developers who are not familiar with them.</a:t>
            </a:r>
          </a:p>
          <a:p>
            <a:pPr fontAlgn="base"/>
            <a:r>
              <a:rPr lang="en-US" b="1" dirty="0"/>
              <a:t>Search, Insert and Delete Times</a:t>
            </a:r>
            <a:r>
              <a:rPr lang="en-US" dirty="0"/>
              <a:t>: If a problem requires only search, insert and delete, not other operations like sorted data traversal, floor, and ceiling, Hash Tables always beat Self Balancing Binary Search Trees.</a:t>
            </a:r>
          </a:p>
          <a:p>
            <a:pPr fontAlgn="base"/>
            <a:r>
              <a:rPr lang="en-US" dirty="0"/>
              <a:t>The implementation and </a:t>
            </a:r>
            <a:r>
              <a:rPr lang="en-US" b="1" dirty="0"/>
              <a:t>manipulation of trees can be complex </a:t>
            </a:r>
            <a:r>
              <a:rPr lang="en-US" dirty="0"/>
              <a:t>and require a good understanding of the algorithms.</a:t>
            </a:r>
          </a:p>
          <a:p>
            <a:endParaRPr lang="en-US" dirty="0"/>
          </a:p>
        </p:txBody>
      </p:sp>
    </p:spTree>
    <p:extLst>
      <p:ext uri="{BB962C8B-B14F-4D97-AF65-F5344CB8AC3E}">
        <p14:creationId xmlns:p14="http://schemas.microsoft.com/office/powerpoint/2010/main" val="2347318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pPr eaLnBrk="1"/>
            <a:r>
              <a:rPr lang="en-US" altLang="en-US"/>
              <a:t>Type of Trees</a:t>
            </a:r>
          </a:p>
        </p:txBody>
      </p:sp>
      <p:sp>
        <p:nvSpPr>
          <p:cNvPr id="36867" name="Content Placeholder 2"/>
          <p:cNvSpPr>
            <a:spLocks noGrp="1"/>
          </p:cNvSpPr>
          <p:nvPr>
            <p:ph idx="1"/>
          </p:nvPr>
        </p:nvSpPr>
        <p:spPr/>
        <p:txBody>
          <a:bodyPr/>
          <a:lstStyle/>
          <a:p>
            <a:pPr marL="414772" indent="-414772"/>
            <a:r>
              <a:rPr lang="en-US" altLang="en-US"/>
              <a:t>General tree</a:t>
            </a:r>
          </a:p>
          <a:p>
            <a:pPr marL="414772" indent="-414772"/>
            <a:r>
              <a:rPr lang="en-US" altLang="en-US"/>
              <a:t>Binary tree</a:t>
            </a:r>
          </a:p>
          <a:p>
            <a:pPr marL="414772" indent="-414772"/>
            <a:r>
              <a:rPr lang="en-US" altLang="en-US"/>
              <a:t>Binary Search Tree</a:t>
            </a:r>
          </a:p>
        </p:txBody>
      </p:sp>
    </p:spTree>
    <p:extLst>
      <p:ext uri="{BB962C8B-B14F-4D97-AF65-F5344CB8AC3E}">
        <p14:creationId xmlns:p14="http://schemas.microsoft.com/office/powerpoint/2010/main" val="17901597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pPr eaLnBrk="1"/>
            <a:r>
              <a:rPr lang="en-US" altLang="en-US"/>
              <a:t>General Tree	</a:t>
            </a:r>
          </a:p>
        </p:txBody>
      </p:sp>
      <p:sp>
        <p:nvSpPr>
          <p:cNvPr id="26627" name="Content Placeholder 2"/>
          <p:cNvSpPr>
            <a:spLocks noGrp="1"/>
          </p:cNvSpPr>
          <p:nvPr>
            <p:ph idx="1"/>
          </p:nvPr>
        </p:nvSpPr>
        <p:spPr>
          <a:xfrm>
            <a:off x="1980049" y="1604329"/>
            <a:ext cx="8044685" cy="4797144"/>
          </a:xfrm>
        </p:spPr>
        <p:txBody>
          <a:bodyPr>
            <a:normAutofit fontScale="92500" lnSpcReduction="10000"/>
          </a:bodyPr>
          <a:lstStyle/>
          <a:p>
            <a:pPr marL="414772" indent="-414772">
              <a:defRPr/>
            </a:pPr>
            <a:r>
              <a:rPr lang="en-US" sz="1814" dirty="0"/>
              <a:t>A general tree is a </a:t>
            </a:r>
            <a:r>
              <a:rPr lang="en-US" sz="1814" b="1" dirty="0"/>
              <a:t>data structure </a:t>
            </a:r>
            <a:r>
              <a:rPr lang="en-US" sz="1814" dirty="0"/>
              <a:t>in that each node can have infinite number of children .</a:t>
            </a:r>
          </a:p>
          <a:p>
            <a:pPr marL="414772" indent="-414772">
              <a:defRPr/>
            </a:pPr>
            <a:r>
              <a:rPr lang="en-US" sz="1814" dirty="0"/>
              <a:t>In general tree, root has </a:t>
            </a:r>
            <a:r>
              <a:rPr lang="en-US" sz="1814" b="1" dirty="0"/>
              <a:t>in-degree 0 </a:t>
            </a:r>
            <a:r>
              <a:rPr lang="en-US" sz="1814" dirty="0"/>
              <a:t>and maximum </a:t>
            </a:r>
            <a:r>
              <a:rPr lang="en-US" sz="1814" b="1" dirty="0"/>
              <a:t>out-degree n</a:t>
            </a:r>
            <a:r>
              <a:rPr lang="en-US" sz="1814" dirty="0"/>
              <a:t>. </a:t>
            </a:r>
          </a:p>
          <a:p>
            <a:pPr marL="414772" indent="-414772">
              <a:defRPr/>
            </a:pPr>
            <a:r>
              <a:rPr lang="en-US" sz="1814" b="1" dirty="0"/>
              <a:t>Height </a:t>
            </a:r>
            <a:r>
              <a:rPr lang="en-US" sz="1814" dirty="0"/>
              <a:t>of a general tree is the length of longest path from root to the leaf of tree. Height(T) = {</a:t>
            </a:r>
            <a:r>
              <a:rPr lang="en-US" sz="1814" b="1" dirty="0"/>
              <a:t>max</a:t>
            </a:r>
            <a:r>
              <a:rPr lang="en-US" sz="1814" dirty="0"/>
              <a:t>(height(child1) , height(child2) , … height(child-n) ) +1} </a:t>
            </a:r>
          </a:p>
          <a:p>
            <a:pPr marL="414772" indent="-414772">
              <a:defRPr/>
            </a:pPr>
            <a:r>
              <a:rPr lang="en-US" sz="1814" dirty="0"/>
              <a:t>	</a:t>
            </a:r>
          </a:p>
          <a:p>
            <a:pPr marL="414772" indent="-414772">
              <a:defRPr/>
            </a:pPr>
            <a:endParaRPr lang="en-US" sz="1814" b="1" dirty="0"/>
          </a:p>
          <a:p>
            <a:pPr marL="0" indent="0">
              <a:buNone/>
              <a:defRPr/>
            </a:pPr>
            <a:r>
              <a:rPr lang="en-US" dirty="0"/>
              <a:t>	</a:t>
            </a:r>
          </a:p>
          <a:p>
            <a:pPr marL="414772" indent="-414772">
              <a:defRPr/>
            </a:pPr>
            <a:endParaRPr lang="en-US" dirty="0"/>
          </a:p>
          <a:p>
            <a:pPr eaLnBrk="1">
              <a:buFont typeface="Times New Roman" pitchFamily="16" charset="0"/>
              <a:buNone/>
              <a:defRPr/>
            </a:pPr>
            <a:r>
              <a:rPr lang="en-US" dirty="0"/>
              <a:t>	</a:t>
            </a:r>
          </a:p>
          <a:p>
            <a:pPr eaLnBrk="1">
              <a:buFont typeface="Times New Roman" pitchFamily="16" charset="0"/>
              <a:buNone/>
              <a:defRPr/>
            </a:pPr>
            <a:endParaRPr lang="en-US" dirty="0"/>
          </a:p>
          <a:p>
            <a:pPr eaLnBrk="1">
              <a:buFont typeface="Times New Roman" pitchFamily="16" charset="0"/>
              <a:buNone/>
              <a:defRPr/>
            </a:pPr>
            <a:r>
              <a:rPr lang="en-US" dirty="0"/>
              <a:t>	</a:t>
            </a:r>
          </a:p>
          <a:p>
            <a:pPr eaLnBrk="1">
              <a:buFont typeface="Times New Roman" pitchFamily="16" charset="0"/>
              <a:buNone/>
              <a:defRPr/>
            </a:pPr>
            <a:r>
              <a:rPr lang="en-US" dirty="0"/>
              <a:t>	</a:t>
            </a:r>
          </a:p>
          <a:p>
            <a:pPr eaLnBrk="1">
              <a:buFont typeface="Times New Roman" pitchFamily="16" charset="0"/>
              <a:buNone/>
              <a:defRPr/>
            </a:pPr>
            <a:endParaRPr lang="en-US" dirty="0"/>
          </a:p>
        </p:txBody>
      </p:sp>
      <p:pic>
        <p:nvPicPr>
          <p:cNvPr id="3891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4215" y="3636382"/>
            <a:ext cx="4838908" cy="239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4219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p:txBody>
          <a:bodyPr>
            <a:normAutofit fontScale="90000"/>
          </a:bodyPr>
          <a:lstStyle/>
          <a:p>
            <a:br>
              <a:rPr lang="en-US" altLang="en-US"/>
            </a:br>
            <a:r>
              <a:rPr lang="en-US" altLang="en-US"/>
              <a:t>Binary tree</a:t>
            </a:r>
            <a:br>
              <a:rPr lang="en-US" altLang="en-US"/>
            </a:br>
            <a:endParaRPr lang="en-US" altLang="en-US"/>
          </a:p>
        </p:txBody>
      </p:sp>
      <p:sp>
        <p:nvSpPr>
          <p:cNvPr id="3" name="Content Placeholder 2"/>
          <p:cNvSpPr>
            <a:spLocks noGrp="1"/>
          </p:cNvSpPr>
          <p:nvPr>
            <p:ph idx="1"/>
          </p:nvPr>
        </p:nvSpPr>
        <p:spPr>
          <a:xfrm>
            <a:off x="2017493" y="1355183"/>
            <a:ext cx="8044685" cy="4797143"/>
          </a:xfrm>
        </p:spPr>
        <p:txBody>
          <a:bodyPr/>
          <a:lstStyle/>
          <a:p>
            <a:pPr marL="414772" indent="-414772">
              <a:defRPr/>
            </a:pPr>
            <a:r>
              <a:rPr lang="en-US" sz="2177" dirty="0">
                <a:latin typeface="Times New Roman" pitchFamily="18" charset="0"/>
                <a:cs typeface="Times New Roman" pitchFamily="18" charset="0"/>
              </a:rPr>
              <a:t>A Binary tree is a data structure in that each node has at most </a:t>
            </a:r>
            <a:r>
              <a:rPr lang="en-US" sz="2177" b="1" dirty="0">
                <a:latin typeface="Times New Roman" pitchFamily="18" charset="0"/>
                <a:cs typeface="Times New Roman" pitchFamily="18" charset="0"/>
              </a:rPr>
              <a:t>two nodes </a:t>
            </a:r>
            <a:r>
              <a:rPr lang="en-US" sz="2177" dirty="0">
                <a:latin typeface="Times New Roman" pitchFamily="18" charset="0"/>
                <a:cs typeface="Times New Roman" pitchFamily="18" charset="0"/>
              </a:rPr>
              <a:t>left and right </a:t>
            </a:r>
          </a:p>
          <a:p>
            <a:pPr marL="414772" indent="-414772">
              <a:defRPr/>
            </a:pPr>
            <a:r>
              <a:rPr lang="en-US" sz="2177" dirty="0">
                <a:latin typeface="Times New Roman" pitchFamily="18" charset="0"/>
                <a:cs typeface="Times New Roman" pitchFamily="18" charset="0"/>
              </a:rPr>
              <a:t>In binary tree, root has </a:t>
            </a:r>
            <a:r>
              <a:rPr lang="en-US" sz="2177" b="1" dirty="0">
                <a:latin typeface="Times New Roman" pitchFamily="18" charset="0"/>
                <a:cs typeface="Times New Roman" pitchFamily="18" charset="0"/>
              </a:rPr>
              <a:t>in-degree 0 </a:t>
            </a:r>
            <a:r>
              <a:rPr lang="en-US" sz="2177" dirty="0">
                <a:latin typeface="Times New Roman" pitchFamily="18" charset="0"/>
                <a:cs typeface="Times New Roman" pitchFamily="18" charset="0"/>
              </a:rPr>
              <a:t>and maximum </a:t>
            </a:r>
            <a:r>
              <a:rPr lang="en-US" sz="2177" b="1" dirty="0">
                <a:latin typeface="Times New Roman" pitchFamily="18" charset="0"/>
                <a:cs typeface="Times New Roman" pitchFamily="18" charset="0"/>
              </a:rPr>
              <a:t>out-degree 2</a:t>
            </a:r>
            <a:r>
              <a:rPr lang="en-US" sz="2177" dirty="0">
                <a:latin typeface="Times New Roman" pitchFamily="18" charset="0"/>
                <a:cs typeface="Times New Roman" pitchFamily="18" charset="0"/>
              </a:rPr>
              <a:t>. 	</a:t>
            </a:r>
          </a:p>
          <a:p>
            <a:pPr marL="414772" indent="-414772">
              <a:defRPr/>
            </a:pPr>
            <a:r>
              <a:rPr lang="en-US" sz="2177" dirty="0">
                <a:latin typeface="Times New Roman" pitchFamily="18" charset="0"/>
                <a:cs typeface="Times New Roman" pitchFamily="18" charset="0"/>
              </a:rPr>
              <a:t>In binary tree, each node have in-degree </a:t>
            </a:r>
            <a:r>
              <a:rPr lang="en-US" sz="2177" b="1" dirty="0">
                <a:latin typeface="Times New Roman" pitchFamily="18" charset="0"/>
                <a:cs typeface="Times New Roman" pitchFamily="18" charset="0"/>
              </a:rPr>
              <a:t>one </a:t>
            </a:r>
            <a:r>
              <a:rPr lang="en-US" sz="2177" dirty="0">
                <a:latin typeface="Times New Roman" pitchFamily="18" charset="0"/>
                <a:cs typeface="Times New Roman" pitchFamily="18" charset="0"/>
              </a:rPr>
              <a:t>and maximum out-degree </a:t>
            </a:r>
            <a:r>
              <a:rPr lang="en-US" sz="2177" b="1" dirty="0">
                <a:latin typeface="Times New Roman" pitchFamily="18" charset="0"/>
                <a:cs typeface="Times New Roman" pitchFamily="18" charset="0"/>
              </a:rPr>
              <a:t>2</a:t>
            </a:r>
            <a:r>
              <a:rPr lang="en-US" sz="2177" dirty="0">
                <a:latin typeface="Times New Roman" pitchFamily="18" charset="0"/>
                <a:cs typeface="Times New Roman" pitchFamily="18" charset="0"/>
              </a:rPr>
              <a:t>. 	</a:t>
            </a:r>
          </a:p>
          <a:p>
            <a:pPr marL="414772" indent="-414772">
              <a:defRPr/>
            </a:pPr>
            <a:r>
              <a:rPr lang="en-US" sz="2177" dirty="0">
                <a:latin typeface="Times New Roman" pitchFamily="18" charset="0"/>
                <a:cs typeface="Times New Roman" pitchFamily="18" charset="0"/>
              </a:rPr>
              <a:t>Height of a binary tree is : Height(T) = { </a:t>
            </a:r>
            <a:r>
              <a:rPr lang="en-US" sz="2177" b="1" dirty="0">
                <a:latin typeface="Times New Roman" pitchFamily="18" charset="0"/>
                <a:cs typeface="Times New Roman" pitchFamily="18" charset="0"/>
              </a:rPr>
              <a:t>max </a:t>
            </a:r>
            <a:r>
              <a:rPr lang="en-US" sz="2177" dirty="0">
                <a:latin typeface="Times New Roman" pitchFamily="18" charset="0"/>
                <a:cs typeface="Times New Roman" pitchFamily="18" charset="0"/>
              </a:rPr>
              <a:t>(Height(Left Child) , Height(Right Child) + 1} 	</a:t>
            </a:r>
          </a:p>
          <a:p>
            <a:pPr marL="0" indent="0">
              <a:buNone/>
              <a:defRPr/>
            </a:pPr>
            <a:r>
              <a:rPr lang="en-US" sz="2177" dirty="0">
                <a:latin typeface="Times New Roman" pitchFamily="18" charset="0"/>
                <a:cs typeface="Times New Roman" pitchFamily="18" charset="0"/>
              </a:rPr>
              <a:t>	</a:t>
            </a:r>
          </a:p>
          <a:p>
            <a:pPr>
              <a:buFont typeface="Times New Roman" pitchFamily="16" charset="0"/>
              <a:buNone/>
              <a:defRPr/>
            </a:pPr>
            <a:endParaRPr lang="en-US" sz="2177" dirty="0">
              <a:latin typeface="Times New Roman" pitchFamily="18" charset="0"/>
              <a:cs typeface="Times New Roman" pitchFamily="18" charset="0"/>
            </a:endParaRPr>
          </a:p>
        </p:txBody>
      </p:sp>
      <p:pic>
        <p:nvPicPr>
          <p:cNvPr id="3994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7420" y="4241246"/>
            <a:ext cx="3979137" cy="22293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687055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le 1"/>
          <p:cNvSpPr>
            <a:spLocks noGrp="1"/>
          </p:cNvSpPr>
          <p:nvPr>
            <p:ph type="title"/>
          </p:nvPr>
        </p:nvSpPr>
        <p:spPr/>
        <p:txBody>
          <a:bodyPr/>
          <a:lstStyle/>
          <a:p>
            <a:r>
              <a:rPr lang="en-US" altLang="en-US"/>
              <a:t>Representation of Binary Tree</a:t>
            </a:r>
          </a:p>
        </p:txBody>
      </p:sp>
      <p:sp>
        <p:nvSpPr>
          <p:cNvPr id="40963" name="Content Placeholder 1"/>
          <p:cNvSpPr>
            <a:spLocks noGrp="1"/>
          </p:cNvSpPr>
          <p:nvPr>
            <p:ph idx="1"/>
          </p:nvPr>
        </p:nvSpPr>
        <p:spPr/>
        <p:txBody>
          <a:bodyPr/>
          <a:lstStyle/>
          <a:p>
            <a:pPr marL="466618" indent="-466618">
              <a:buFont typeface="Arial" panose="020B0604020202020204" pitchFamily="34" charset="0"/>
              <a:buAutoNum type="arabicPeriod"/>
            </a:pPr>
            <a:r>
              <a:rPr lang="en-IN" altLang="en-US"/>
              <a:t>Array Representation</a:t>
            </a:r>
          </a:p>
          <a:p>
            <a:pPr marL="466618" indent="-466618">
              <a:buFont typeface="Arial" panose="020B0604020202020204" pitchFamily="34" charset="0"/>
              <a:buAutoNum type="arabicPeriod"/>
            </a:pPr>
            <a:r>
              <a:rPr lang="en-IN" altLang="en-US"/>
              <a:t>Linked List Representation.</a:t>
            </a:r>
          </a:p>
        </p:txBody>
      </p:sp>
    </p:spTree>
    <p:extLst>
      <p:ext uri="{BB962C8B-B14F-4D97-AF65-F5344CB8AC3E}">
        <p14:creationId xmlns:p14="http://schemas.microsoft.com/office/powerpoint/2010/main" val="37808467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r>
              <a:rPr lang="en-US" altLang="en-US"/>
              <a:t>Representation of Binary Tree</a:t>
            </a:r>
          </a:p>
        </p:txBody>
      </p:sp>
      <p:graphicFrame>
        <p:nvGraphicFramePr>
          <p:cNvPr id="4" name="Content Placeholder 3"/>
          <p:cNvGraphicFramePr>
            <a:graphicFrameLocks noGrp="1"/>
          </p:cNvGraphicFramePr>
          <p:nvPr>
            <p:ph idx="1"/>
          </p:nvPr>
        </p:nvGraphicFramePr>
        <p:xfrm>
          <a:off x="3607420" y="1839074"/>
          <a:ext cx="4743858" cy="1742583"/>
        </p:xfrm>
        <a:graphic>
          <a:graphicData uri="http://schemas.openxmlformats.org/drawingml/2006/table">
            <a:tbl>
              <a:tblPr/>
              <a:tblGrid>
                <a:gridCol w="4743858">
                  <a:extLst>
                    <a:ext uri="{9D8B030D-6E8A-4147-A177-3AD203B41FA5}">
                      <a16:colId xmlns:a16="http://schemas.microsoft.com/office/drawing/2014/main" val="20000"/>
                    </a:ext>
                  </a:extLst>
                </a:gridCol>
              </a:tblGrid>
              <a:tr h="1742583">
                <a:tc>
                  <a:txBody>
                    <a:bodyPr/>
                    <a:lstStyle/>
                    <a:p>
                      <a:pPr algn="l"/>
                      <a:br>
                        <a:rPr lang="en-US" sz="1600" i="1" dirty="0">
                          <a:solidFill>
                            <a:srgbClr val="0000CC"/>
                          </a:solidFill>
                          <a:effectLst/>
                          <a:latin typeface="Courier New"/>
                        </a:rPr>
                      </a:br>
                      <a:r>
                        <a:rPr lang="en-US" sz="1600" i="1" dirty="0" err="1">
                          <a:solidFill>
                            <a:srgbClr val="0000CC"/>
                          </a:solidFill>
                          <a:effectLst/>
                          <a:latin typeface="Courier New"/>
                        </a:rPr>
                        <a:t>Struct</a:t>
                      </a:r>
                      <a:r>
                        <a:rPr lang="en-US" sz="1600" i="1" dirty="0">
                          <a:solidFill>
                            <a:srgbClr val="990000"/>
                          </a:solidFill>
                          <a:effectLst/>
                          <a:latin typeface="Courier New"/>
                        </a:rPr>
                        <a:t> node </a:t>
                      </a:r>
                      <a:br>
                        <a:rPr lang="en-US" sz="1600" i="1" dirty="0">
                          <a:solidFill>
                            <a:srgbClr val="990000"/>
                          </a:solidFill>
                          <a:effectLst/>
                          <a:latin typeface="Courier New"/>
                        </a:rPr>
                      </a:br>
                      <a:r>
                        <a:rPr lang="en-US" sz="1600" i="1" dirty="0">
                          <a:solidFill>
                            <a:srgbClr val="990000"/>
                          </a:solidFill>
                          <a:effectLst/>
                          <a:latin typeface="Courier New"/>
                        </a:rPr>
                        <a:t>{ </a:t>
                      </a:r>
                      <a:br>
                        <a:rPr lang="en-US" sz="1600" i="1" dirty="0">
                          <a:solidFill>
                            <a:srgbClr val="990000"/>
                          </a:solidFill>
                          <a:effectLst/>
                          <a:latin typeface="Courier New"/>
                        </a:rPr>
                      </a:br>
                      <a:r>
                        <a:rPr lang="en-US" sz="1600" i="1" dirty="0">
                          <a:solidFill>
                            <a:srgbClr val="990000"/>
                          </a:solidFill>
                          <a:effectLst/>
                          <a:latin typeface="Courier New"/>
                        </a:rPr>
                        <a:t> </a:t>
                      </a:r>
                      <a:br>
                        <a:rPr lang="en-US" sz="1600" i="1" dirty="0">
                          <a:solidFill>
                            <a:srgbClr val="990000"/>
                          </a:solidFill>
                          <a:effectLst/>
                          <a:latin typeface="Courier New"/>
                        </a:rPr>
                      </a:br>
                      <a:r>
                        <a:rPr lang="en-US" sz="1600" i="1" dirty="0" err="1">
                          <a:solidFill>
                            <a:srgbClr val="0000CC"/>
                          </a:solidFill>
                          <a:effectLst/>
                          <a:latin typeface="Courier New"/>
                        </a:rPr>
                        <a:t>int</a:t>
                      </a:r>
                      <a:r>
                        <a:rPr lang="en-US" sz="1600" i="1" dirty="0">
                          <a:solidFill>
                            <a:srgbClr val="990000"/>
                          </a:solidFill>
                          <a:effectLst/>
                          <a:latin typeface="Courier New"/>
                        </a:rPr>
                        <a:t> data; </a:t>
                      </a:r>
                      <a:br>
                        <a:rPr lang="en-US" sz="1600" i="1" dirty="0">
                          <a:solidFill>
                            <a:srgbClr val="990000"/>
                          </a:solidFill>
                          <a:effectLst/>
                          <a:latin typeface="Courier New"/>
                        </a:rPr>
                      </a:br>
                      <a:r>
                        <a:rPr lang="en-US" sz="1600" i="1" dirty="0" err="1">
                          <a:solidFill>
                            <a:srgbClr val="0000CC"/>
                          </a:solidFill>
                          <a:effectLst/>
                          <a:latin typeface="Courier New"/>
                        </a:rPr>
                        <a:t>struct</a:t>
                      </a:r>
                      <a:r>
                        <a:rPr lang="en-US" sz="1600" i="1" dirty="0">
                          <a:solidFill>
                            <a:srgbClr val="990000"/>
                          </a:solidFill>
                          <a:effectLst/>
                          <a:latin typeface="Courier New"/>
                        </a:rPr>
                        <a:t> node * </a:t>
                      </a:r>
                      <a:r>
                        <a:rPr lang="en-US" sz="1600" i="1" dirty="0" err="1">
                          <a:solidFill>
                            <a:srgbClr val="990000"/>
                          </a:solidFill>
                          <a:effectLst/>
                          <a:latin typeface="Courier New"/>
                        </a:rPr>
                        <a:t>left,right</a:t>
                      </a:r>
                      <a:r>
                        <a:rPr lang="en-US" sz="1600" i="1" dirty="0">
                          <a:solidFill>
                            <a:srgbClr val="990000"/>
                          </a:solidFill>
                          <a:effectLst/>
                          <a:latin typeface="Courier New"/>
                        </a:rPr>
                        <a:t>; </a:t>
                      </a:r>
                      <a:br>
                        <a:rPr lang="en-US" sz="1600" i="1" dirty="0">
                          <a:solidFill>
                            <a:srgbClr val="990000"/>
                          </a:solidFill>
                          <a:effectLst/>
                          <a:latin typeface="Courier New"/>
                        </a:rPr>
                      </a:br>
                      <a:r>
                        <a:rPr lang="en-US" sz="1600" i="1" dirty="0">
                          <a:solidFill>
                            <a:srgbClr val="990000"/>
                          </a:solidFill>
                          <a:effectLst/>
                          <a:latin typeface="Courier New"/>
                        </a:rPr>
                        <a:t>}; </a:t>
                      </a:r>
                      <a:endParaRPr lang="en-US" sz="1600" dirty="0">
                        <a:effectLst/>
                        <a:latin typeface="Arial"/>
                      </a:endParaRPr>
                    </a:p>
                  </a:txBody>
                  <a:tcPr marL="0" marR="0" marT="0" marB="0">
                    <a:lnL>
                      <a:noFill/>
                    </a:lnL>
                    <a:lnR>
                      <a:noFill/>
                    </a:lnR>
                    <a:lnT>
                      <a:noFill/>
                    </a:lnT>
                    <a:lnB>
                      <a:noFill/>
                    </a:lnB>
                    <a:solidFill>
                      <a:srgbClr val="FFFFFF"/>
                    </a:solidFill>
                  </a:tcPr>
                </a:tc>
                <a:extLst>
                  <a:ext uri="{0D108BD9-81ED-4DB2-BD59-A6C34878D82A}">
                    <a16:rowId xmlns:a16="http://schemas.microsoft.com/office/drawing/2014/main" val="10000"/>
                  </a:ext>
                </a:extLst>
              </a:tr>
            </a:tbl>
          </a:graphicData>
        </a:graphic>
      </p:graphicFrame>
      <p:sp>
        <p:nvSpPr>
          <p:cNvPr id="2" name="Rectangle 1"/>
          <p:cNvSpPr>
            <a:spLocks noChangeArrowheads="1"/>
          </p:cNvSpPr>
          <p:nvPr/>
        </p:nvSpPr>
        <p:spPr bwMode="auto">
          <a:xfrm>
            <a:off x="3319849" y="4060566"/>
            <a:ext cx="1688756" cy="738664"/>
          </a:xfrm>
          <a:prstGeom prst="rect">
            <a:avLst/>
          </a:prstGeom>
          <a:solidFill>
            <a:srgbClr val="F5F5F5"/>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1" i="0" u="none" strike="noStrike" cap="none" normalizeH="0" baseline="0">
                <a:ln>
                  <a:noFill/>
                </a:ln>
                <a:solidFill>
                  <a:srgbClr val="008000"/>
                </a:solidFill>
                <a:effectLst/>
                <a:latin typeface="Consolas" panose="020B0609020204030204" pitchFamily="49" charset="0"/>
              </a:rPr>
              <a:t>class</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1" i="0" u="none" strike="noStrike" cap="none" normalizeH="0" baseline="0">
                <a:ln>
                  <a:noFill/>
                </a:ln>
                <a:solidFill>
                  <a:srgbClr val="0000FF"/>
                </a:solidFill>
                <a:effectLst/>
                <a:latin typeface="Consolas" panose="020B0609020204030204" pitchFamily="49" charset="0"/>
              </a:rPr>
              <a:t>Node</a:t>
            </a:r>
            <a:r>
              <a:rPr kumimoji="0" lang="en-US" altLang="en-US" sz="1000" b="0" i="0" u="none" strike="noStrike" cap="none" normalizeH="0" baseline="0">
                <a:ln>
                  <a:noFill/>
                </a:ln>
                <a:solidFill>
                  <a:schemeClr val="tx1"/>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1" i="0" u="none" strike="noStrike" cap="none" normalizeH="0" baseline="0">
                <a:ln>
                  <a:noFill/>
                </a:ln>
                <a:solidFill>
                  <a:srgbClr val="008000"/>
                </a:solidFill>
                <a:effectLst/>
                <a:latin typeface="Consolas" panose="020B0609020204030204" pitchFamily="49" charset="0"/>
              </a:rPr>
              <a:t>def</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rgbClr val="0000FF"/>
                </a:solidFill>
                <a:effectLst/>
                <a:latin typeface="Consolas" panose="020B0609020204030204" pitchFamily="49" charset="0"/>
              </a:rPr>
              <a:t>__init__</a:t>
            </a:r>
            <a:r>
              <a:rPr kumimoji="0" lang="en-US" altLang="en-US" sz="1000" b="0" i="0" u="none" strike="noStrike" cap="none" normalizeH="0" baseline="0">
                <a:ln>
                  <a:noFill/>
                </a:ln>
                <a:solidFill>
                  <a:schemeClr val="tx1"/>
                </a:solidFill>
                <a:effectLst/>
                <a:latin typeface="Consolas" panose="020B0609020204030204" pitchFamily="49" charset="0"/>
              </a:rPr>
              <a:t>(</a:t>
            </a:r>
            <a:r>
              <a:rPr kumimoji="0" lang="en-US" altLang="en-US" sz="1000" b="0" i="0" u="none" strike="noStrike" cap="none" normalizeH="0" baseline="0">
                <a:ln>
                  <a:noFill/>
                </a:ln>
                <a:solidFill>
                  <a:srgbClr val="008000"/>
                </a:solidFill>
                <a:effectLst/>
                <a:latin typeface="Consolas" panose="020B0609020204030204" pitchFamily="49" charset="0"/>
              </a:rPr>
              <a:t>self</a:t>
            </a:r>
            <a:r>
              <a:rPr kumimoji="0" lang="en-US" altLang="en-US" sz="1000" b="0" i="0" u="none" strike="noStrike" cap="none" normalizeH="0" baseline="0">
                <a:ln>
                  <a:noFill/>
                </a:ln>
                <a:solidFill>
                  <a:schemeClr val="tx1"/>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chemeClr val="tx1"/>
                </a:solidFill>
                <a:effectLst/>
                <a:latin typeface="Arial" panose="020B0604020202020204" pitchFamily="34" charset="0"/>
              </a:rPr>
              <a:t>data</a:t>
            </a:r>
            <a:r>
              <a:rPr kumimoji="0" lang="en-US" altLang="en-US" sz="1000" b="0" i="0" u="none" strike="noStrike" cap="none" normalizeH="0" baseline="0">
                <a:ln>
                  <a:noFill/>
                </a:ln>
                <a:solidFill>
                  <a:schemeClr val="tx1"/>
                </a:solidFill>
                <a:effectLst/>
                <a:latin typeface="Consolas" panose="020B0609020204030204" pitchFamily="49" charset="0"/>
              </a:rPr>
              <a:t>):</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rgbClr val="008000"/>
                </a:solidFill>
                <a:effectLst/>
                <a:latin typeface="Consolas" panose="020B0609020204030204" pitchFamily="49" charset="0"/>
              </a:rPr>
              <a:t>self</a:t>
            </a:r>
            <a:r>
              <a:rPr kumimoji="0" lang="en-US" altLang="en-US" sz="1000" b="0" i="0" u="none" strike="noStrike" cap="none" normalizeH="0" baseline="0">
                <a:ln>
                  <a:noFill/>
                </a:ln>
                <a:solidFill>
                  <a:srgbClr val="666666"/>
                </a:solidFill>
                <a:effectLst/>
                <a:latin typeface="Arial" panose="020B0604020202020204" pitchFamily="34" charset="0"/>
              </a:rPr>
              <a:t>.</a:t>
            </a:r>
            <a:r>
              <a:rPr kumimoji="0" lang="en-US" altLang="en-US" sz="1000" b="0" i="0" u="none" strike="noStrike" cap="none" normalizeH="0" baseline="0">
                <a:ln>
                  <a:noFill/>
                </a:ln>
                <a:solidFill>
                  <a:schemeClr val="tx1"/>
                </a:solidFill>
                <a:effectLst/>
                <a:latin typeface="Arial" panose="020B0604020202020204" pitchFamily="34" charset="0"/>
              </a:rPr>
              <a:t>data</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rgbClr val="666666"/>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chemeClr val="tx1"/>
                </a:solidFill>
                <a:effectLst/>
                <a:latin typeface="Arial" panose="020B0604020202020204" pitchFamily="34" charset="0"/>
              </a:rPr>
              <a:t>data</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rgbClr val="008000"/>
                </a:solidFill>
                <a:effectLst/>
                <a:latin typeface="Consolas" panose="020B0609020204030204" pitchFamily="49" charset="0"/>
              </a:rPr>
              <a:t>self</a:t>
            </a:r>
            <a:r>
              <a:rPr kumimoji="0" lang="en-US" altLang="en-US" sz="1000" b="0" i="0" u="none" strike="noStrike" cap="none" normalizeH="0" baseline="0">
                <a:ln>
                  <a:noFill/>
                </a:ln>
                <a:solidFill>
                  <a:srgbClr val="666666"/>
                </a:solidFill>
                <a:effectLst/>
                <a:latin typeface="Arial" panose="020B0604020202020204" pitchFamily="34" charset="0"/>
              </a:rPr>
              <a:t>.</a:t>
            </a:r>
            <a:r>
              <a:rPr kumimoji="0" lang="en-US" altLang="en-US" sz="1000" b="0" i="0" u="none" strike="noStrike" cap="none" normalizeH="0" baseline="0">
                <a:ln>
                  <a:noFill/>
                </a:ln>
                <a:solidFill>
                  <a:schemeClr val="tx1"/>
                </a:solidFill>
                <a:effectLst/>
                <a:latin typeface="Arial" panose="020B0604020202020204" pitchFamily="34" charset="0"/>
              </a:rPr>
              <a:t>children</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rgbClr val="666666"/>
                </a:solidFill>
                <a:effectLst/>
                <a:latin typeface="Arial" panose="020B0604020202020204" pitchFamily="34" charset="0"/>
              </a:rPr>
              <a:t>=</a:t>
            </a:r>
            <a:r>
              <a:rPr kumimoji="0" lang="en-US" altLang="en-US" sz="1200" b="0" i="0" u="none" strike="noStrike" cap="none" normalizeH="0" baseline="0">
                <a:ln>
                  <a:noFill/>
                </a:ln>
                <a:solidFill>
                  <a:schemeClr val="tx1"/>
                </a:solidFill>
                <a:effectLst/>
                <a:latin typeface="Consolas" panose="020B0609020204030204" pitchFamily="49" charset="0"/>
              </a:rPr>
              <a:t> </a:t>
            </a:r>
            <a:r>
              <a:rPr kumimoji="0" lang="en-US" altLang="en-US" sz="1000" b="0" i="0" u="none" strike="noStrike" cap="none" normalizeH="0" baseline="0">
                <a:ln>
                  <a:noFill/>
                </a:ln>
                <a:solidFill>
                  <a:schemeClr val="tx1"/>
                </a:solidFill>
                <a:effectLst/>
                <a:latin typeface="Consolas" panose="020B0609020204030204" pitchFamily="49" charset="0"/>
              </a:rPr>
              <a:t>[]</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9693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1"/>
          <p:cNvSpPr>
            <a:spLocks noGrp="1"/>
          </p:cNvSpPr>
          <p:nvPr>
            <p:ph type="title"/>
          </p:nvPr>
        </p:nvSpPr>
        <p:spPr/>
        <p:txBody>
          <a:bodyPr/>
          <a:lstStyle/>
          <a:p>
            <a:r>
              <a:rPr lang="en-IN" altLang="en-US"/>
              <a:t>Array Representation</a:t>
            </a:r>
          </a:p>
        </p:txBody>
      </p:sp>
      <p:sp>
        <p:nvSpPr>
          <p:cNvPr id="43011" name="Content Placeholder 2"/>
          <p:cNvSpPr>
            <a:spLocks noGrp="1"/>
          </p:cNvSpPr>
          <p:nvPr>
            <p:ph idx="1"/>
          </p:nvPr>
        </p:nvSpPr>
        <p:spPr/>
        <p:txBody>
          <a:bodyPr/>
          <a:lstStyle/>
          <a:p>
            <a:pPr marL="466618" indent="-466618">
              <a:buFont typeface="Arial" panose="020B0604020202020204" pitchFamily="34" charset="0"/>
              <a:buAutoNum type="arabicPeriod"/>
            </a:pPr>
            <a:r>
              <a:rPr lang="en-IN" altLang="en-US" sz="2177"/>
              <a:t>To represent a tree in one dimensional array nodes are marked sequentially from left to right start with root node.</a:t>
            </a:r>
          </a:p>
          <a:p>
            <a:pPr marL="466618" indent="-466618">
              <a:buFont typeface="Arial" panose="020B0604020202020204" pitchFamily="34" charset="0"/>
              <a:buAutoNum type="arabicPeriod"/>
            </a:pPr>
            <a:r>
              <a:rPr lang="en-IN" altLang="en-US" sz="2177"/>
              <a:t>First array location can be used to store no of nodes in a tree.</a:t>
            </a:r>
          </a:p>
        </p:txBody>
      </p:sp>
      <p:pic>
        <p:nvPicPr>
          <p:cNvPr id="4301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1383" y="2945110"/>
            <a:ext cx="2920627" cy="2717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6874" y="3429001"/>
            <a:ext cx="4000740" cy="1758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578673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1"/>
          <p:cNvSpPr>
            <a:spLocks noGrp="1"/>
          </p:cNvSpPr>
          <p:nvPr>
            <p:ph type="title"/>
          </p:nvPr>
        </p:nvSpPr>
        <p:spPr/>
        <p:txBody>
          <a:bodyPr/>
          <a:lstStyle/>
          <a:p>
            <a:r>
              <a:rPr lang="en-IN" altLang="en-US"/>
              <a:t>Linked Representation</a:t>
            </a:r>
          </a:p>
        </p:txBody>
      </p:sp>
      <p:sp>
        <p:nvSpPr>
          <p:cNvPr id="44035" name="Content Placeholder 2"/>
          <p:cNvSpPr>
            <a:spLocks noGrp="1"/>
          </p:cNvSpPr>
          <p:nvPr>
            <p:ph idx="1"/>
          </p:nvPr>
        </p:nvSpPr>
        <p:spPr/>
        <p:txBody>
          <a:bodyPr/>
          <a:lstStyle/>
          <a:p>
            <a:pPr marL="466618" indent="-466618">
              <a:buFont typeface="Arial" panose="020B0604020202020204" pitchFamily="34" charset="0"/>
              <a:buAutoNum type="arabicPeriod"/>
            </a:pPr>
            <a:r>
              <a:rPr lang="en-IN" altLang="en-US" sz="1633" dirty="0"/>
              <a:t>This type of representation is more efficient as compared to array.</a:t>
            </a:r>
          </a:p>
          <a:p>
            <a:pPr marL="466618" indent="-466618">
              <a:buFont typeface="Arial" panose="020B0604020202020204" pitchFamily="34" charset="0"/>
              <a:buAutoNum type="arabicPeriod"/>
            </a:pPr>
            <a:r>
              <a:rPr lang="en-IN" altLang="en-US" sz="1633" dirty="0"/>
              <a:t>Left and right are pointer type fields left holds address of left child and right holds address of right child.</a:t>
            </a:r>
          </a:p>
          <a:p>
            <a:pPr marL="0" indent="0">
              <a:buNone/>
            </a:pPr>
            <a:endParaRPr lang="en-IN" altLang="en-US" sz="1633" dirty="0"/>
          </a:p>
          <a:p>
            <a:pPr marL="466618" indent="-466618">
              <a:buFont typeface="Arial" panose="020B0604020202020204" pitchFamily="34" charset="0"/>
              <a:buAutoNum type="arabicPeriod"/>
            </a:pPr>
            <a:endParaRPr lang="en-IN" altLang="en-US" sz="1633" dirty="0"/>
          </a:p>
        </p:txBody>
      </p:sp>
      <p:pic>
        <p:nvPicPr>
          <p:cNvPr id="440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2256" y="4120274"/>
            <a:ext cx="3871126" cy="18750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79892" y="2759331"/>
            <a:ext cx="3482286" cy="3050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4711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itle 1"/>
          <p:cNvSpPr>
            <a:spLocks noGrp="1"/>
          </p:cNvSpPr>
          <p:nvPr>
            <p:ph type="title"/>
          </p:nvPr>
        </p:nvSpPr>
        <p:spPr/>
        <p:txBody>
          <a:bodyPr/>
          <a:lstStyle/>
          <a:p>
            <a:r>
              <a:rPr lang="en-US" altLang="en-US"/>
              <a:t>Binary Tree Types</a:t>
            </a:r>
          </a:p>
        </p:txBody>
      </p:sp>
      <p:sp>
        <p:nvSpPr>
          <p:cNvPr id="45059" name="Content Placeholder 2"/>
          <p:cNvSpPr>
            <a:spLocks noGrp="1"/>
          </p:cNvSpPr>
          <p:nvPr>
            <p:ph idx="1"/>
          </p:nvPr>
        </p:nvSpPr>
        <p:spPr>
          <a:xfrm>
            <a:off x="2017493" y="1700820"/>
            <a:ext cx="8044685" cy="3976257"/>
          </a:xfrm>
        </p:spPr>
        <p:txBody>
          <a:bodyPr/>
          <a:lstStyle/>
          <a:p>
            <a:pPr marL="466618" indent="-466618">
              <a:buFont typeface="Times New Roman" pitchFamily="18" charset="0"/>
              <a:buAutoNum type="arabicPeriod"/>
            </a:pPr>
            <a:r>
              <a:rPr lang="en-US" altLang="en-US"/>
              <a:t>Extended Binary Tree</a:t>
            </a:r>
          </a:p>
          <a:p>
            <a:pPr marL="466618" indent="-466618">
              <a:buFont typeface="Times New Roman" pitchFamily="18" charset="0"/>
              <a:buAutoNum type="arabicPeriod"/>
            </a:pPr>
            <a:r>
              <a:rPr lang="en-US" altLang="en-US"/>
              <a:t>Complete Binary Tree</a:t>
            </a:r>
          </a:p>
          <a:p>
            <a:pPr marL="466618" indent="-466618">
              <a:buFont typeface="Times New Roman" pitchFamily="18" charset="0"/>
              <a:buAutoNum type="arabicPeriod"/>
            </a:pPr>
            <a:r>
              <a:rPr lang="en-US" altLang="en-US"/>
              <a:t>Full Binary Tree</a:t>
            </a:r>
          </a:p>
          <a:p>
            <a:pPr marL="466618" indent="-466618">
              <a:buFont typeface="Times New Roman" pitchFamily="18" charset="0"/>
              <a:buAutoNum type="arabicPeriod"/>
            </a:pPr>
            <a:r>
              <a:rPr lang="en-US" altLang="en-US"/>
              <a:t>Skewed Binary Tree</a:t>
            </a:r>
          </a:p>
          <a:p>
            <a:pPr marL="466618" indent="-466618">
              <a:buFont typeface="Times New Roman" pitchFamily="18" charset="0"/>
              <a:buAutoNum type="arabicPeriod"/>
            </a:pPr>
            <a:r>
              <a:rPr lang="en-US" altLang="en-US"/>
              <a:t>Strictly Binary Tree</a:t>
            </a:r>
          </a:p>
          <a:p>
            <a:pPr marL="466618" indent="-466618">
              <a:buFont typeface="Times New Roman" pitchFamily="18" charset="0"/>
              <a:buAutoNum type="arabicPeriod"/>
            </a:pPr>
            <a:r>
              <a:rPr lang="en-US" altLang="en-US"/>
              <a:t>Expression Binary tree</a:t>
            </a:r>
          </a:p>
        </p:txBody>
      </p:sp>
    </p:spTree>
    <p:extLst>
      <p:ext uri="{BB962C8B-B14F-4D97-AF65-F5344CB8AC3E}">
        <p14:creationId xmlns:p14="http://schemas.microsoft.com/office/powerpoint/2010/main" val="29388559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US" altLang="en-US" sz="3266"/>
              <a:t>Extended Binary Tree</a:t>
            </a:r>
            <a:br>
              <a:rPr lang="en-US" altLang="en-US" sz="3266"/>
            </a:br>
            <a:endParaRPr lang="en-US" altLang="en-US" sz="3266"/>
          </a:p>
        </p:txBody>
      </p:sp>
      <p:sp>
        <p:nvSpPr>
          <p:cNvPr id="46083" name="Content Placeholder 2"/>
          <p:cNvSpPr>
            <a:spLocks noGrp="1"/>
          </p:cNvSpPr>
          <p:nvPr>
            <p:ph idx="1"/>
          </p:nvPr>
        </p:nvSpPr>
        <p:spPr>
          <a:xfrm>
            <a:off x="1980049" y="1604329"/>
            <a:ext cx="8044685" cy="4728017"/>
          </a:xfrm>
        </p:spPr>
        <p:txBody>
          <a:bodyPr vert="horz" lIns="91440" tIns="45720" rIns="91440" bIns="45720" rtlCol="0" anchor="t">
            <a:normAutofit/>
          </a:bodyPr>
          <a:lstStyle/>
          <a:p>
            <a:pPr>
              <a:buNone/>
            </a:pPr>
            <a:r>
              <a:rPr lang="en-US" altLang="en-US" sz="2500" dirty="0"/>
              <a:t>	</a:t>
            </a:r>
            <a:r>
              <a:rPr lang="en-US" altLang="en-US" sz="1800" dirty="0"/>
              <a:t>An </a:t>
            </a:r>
            <a:r>
              <a:rPr lang="en-US" altLang="en-US" sz="1800" b="1" dirty="0"/>
              <a:t>extended binary tree</a:t>
            </a:r>
            <a:r>
              <a:rPr lang="en-US" altLang="en-US" sz="1800" dirty="0"/>
              <a:t> is a transformation of any </a:t>
            </a:r>
            <a:r>
              <a:rPr lang="en-US" altLang="en-US" sz="1800" b="1" dirty="0"/>
              <a:t>binary tree</a:t>
            </a:r>
            <a:r>
              <a:rPr lang="en-US" altLang="en-US" sz="1800" dirty="0"/>
              <a:t> into a complete </a:t>
            </a:r>
            <a:r>
              <a:rPr lang="en-US" altLang="en-US" sz="1800" b="1" dirty="0"/>
              <a:t>binary tree</a:t>
            </a:r>
            <a:r>
              <a:rPr lang="en-US" altLang="en-US" sz="1800" dirty="0"/>
              <a:t>. This transformation consists of replacing every null subtree of the original </a:t>
            </a:r>
            <a:r>
              <a:rPr lang="en-US" altLang="en-US" sz="1800" b="1" dirty="0"/>
              <a:t>tree</a:t>
            </a:r>
            <a:r>
              <a:rPr lang="en-US" altLang="en-US" sz="1800" dirty="0"/>
              <a:t> with “special nodes” or “failure nodes” .The nodes from the original </a:t>
            </a:r>
            <a:r>
              <a:rPr lang="en-US" altLang="en-US" sz="1800" b="1" dirty="0"/>
              <a:t>tree</a:t>
            </a:r>
            <a:r>
              <a:rPr lang="en-US" altLang="en-US" sz="1800" dirty="0"/>
              <a:t> are then internal nodes, while the “special nodes” are external nodes.</a:t>
            </a:r>
          </a:p>
          <a:p>
            <a:pPr>
              <a:buFont typeface="Times New Roman" pitchFamily="18" charset="0"/>
              <a:buNone/>
            </a:pPr>
            <a:endParaRPr lang="en-US" altLang="en-US" sz="1814"/>
          </a:p>
        </p:txBody>
      </p:sp>
      <p:pic>
        <p:nvPicPr>
          <p:cNvPr id="4608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3129" y="3429001"/>
            <a:ext cx="7465744" cy="2903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60024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r>
              <a:rPr lang="en-US" altLang="en-US" sz="3266"/>
              <a:t>Complete Binary Tree</a:t>
            </a:r>
            <a:br>
              <a:rPr lang="en-US" altLang="en-US" sz="3266"/>
            </a:br>
            <a:endParaRPr lang="en-US" altLang="en-US" sz="3266"/>
          </a:p>
        </p:txBody>
      </p:sp>
      <p:sp>
        <p:nvSpPr>
          <p:cNvPr id="33795" name="Content Placeholder 2"/>
          <p:cNvSpPr>
            <a:spLocks noGrp="1"/>
          </p:cNvSpPr>
          <p:nvPr>
            <p:ph idx="1"/>
          </p:nvPr>
        </p:nvSpPr>
        <p:spPr>
          <a:xfrm>
            <a:off x="1980049" y="1604329"/>
            <a:ext cx="8044685" cy="4658890"/>
          </a:xfrm>
        </p:spPr>
        <p:txBody>
          <a:bodyPr/>
          <a:lstStyle/>
          <a:p>
            <a:pPr>
              <a:buFont typeface="Times New Roman" pitchFamily="18" charset="0"/>
              <a:buNone/>
              <a:defRPr/>
            </a:pPr>
            <a:r>
              <a:rPr lang="en-US" dirty="0"/>
              <a:t>	</a:t>
            </a:r>
            <a:r>
              <a:rPr lang="en-US" sz="2177" dirty="0"/>
              <a:t> A </a:t>
            </a:r>
            <a:r>
              <a:rPr lang="en-US" sz="2177" b="1" dirty="0"/>
              <a:t>complete binary tree</a:t>
            </a:r>
            <a:r>
              <a:rPr lang="en-US" sz="2177" dirty="0"/>
              <a:t> is a </a:t>
            </a:r>
            <a:r>
              <a:rPr lang="en-US" sz="2177" b="1" dirty="0"/>
              <a:t>tree</a:t>
            </a:r>
            <a:r>
              <a:rPr lang="en-US" sz="2177" dirty="0"/>
              <a:t> in which</a:t>
            </a:r>
          </a:p>
          <a:p>
            <a:pPr marL="0" indent="0">
              <a:buNone/>
              <a:defRPr/>
            </a:pPr>
            <a:r>
              <a:rPr lang="en-US" sz="2177" dirty="0"/>
              <a:t>             1.All leaf nodes are at n or n-1   level</a:t>
            </a:r>
          </a:p>
          <a:p>
            <a:pPr marL="0" indent="0">
              <a:buNone/>
              <a:defRPr/>
            </a:pPr>
            <a:r>
              <a:rPr lang="en-US" sz="2177" dirty="0"/>
              <a:t>		   2.Levels are filled from left to right</a:t>
            </a:r>
          </a:p>
        </p:txBody>
      </p:sp>
      <p:pic>
        <p:nvPicPr>
          <p:cNvPr id="4710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5274" y="3083365"/>
            <a:ext cx="5184544" cy="2626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79572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US" altLang="en-US" sz="3266"/>
              <a:t>Full Binary Tree</a:t>
            </a:r>
            <a:br>
              <a:rPr lang="en-US" altLang="en-US" sz="3266"/>
            </a:br>
            <a:endParaRPr lang="en-US" altLang="en-US" sz="3266"/>
          </a:p>
        </p:txBody>
      </p:sp>
      <p:sp>
        <p:nvSpPr>
          <p:cNvPr id="48131" name="Content Placeholder 2"/>
          <p:cNvSpPr>
            <a:spLocks noGrp="1"/>
          </p:cNvSpPr>
          <p:nvPr>
            <p:ph idx="1"/>
          </p:nvPr>
        </p:nvSpPr>
        <p:spPr>
          <a:xfrm>
            <a:off x="2086620" y="1424310"/>
            <a:ext cx="8044685" cy="4493272"/>
          </a:xfrm>
        </p:spPr>
        <p:txBody>
          <a:bodyPr/>
          <a:lstStyle/>
          <a:p>
            <a:pPr>
              <a:buFont typeface="Times New Roman" pitchFamily="18" charset="0"/>
              <a:buNone/>
            </a:pPr>
            <a:r>
              <a:rPr lang="en-US" altLang="en-US" sz="2177"/>
              <a:t>	A </a:t>
            </a:r>
            <a:r>
              <a:rPr lang="en-US" altLang="en-US" sz="2177" b="1"/>
              <a:t>full binary tree</a:t>
            </a:r>
            <a:r>
              <a:rPr lang="en-US" altLang="en-US" sz="2177"/>
              <a:t> (sometimes proper </a:t>
            </a:r>
            <a:r>
              <a:rPr lang="en-US" altLang="en-US" sz="2177" b="1"/>
              <a:t>binary tree</a:t>
            </a:r>
            <a:r>
              <a:rPr lang="en-US" altLang="en-US" sz="2177"/>
              <a:t> or 2-</a:t>
            </a:r>
            <a:r>
              <a:rPr lang="en-US" altLang="en-US" sz="2177" b="1"/>
              <a:t>tree</a:t>
            </a:r>
            <a:r>
              <a:rPr lang="en-US" altLang="en-US" sz="2177"/>
              <a:t>) is a </a:t>
            </a:r>
            <a:r>
              <a:rPr lang="en-US" altLang="en-US" sz="2177" b="1"/>
              <a:t>tree</a:t>
            </a:r>
            <a:r>
              <a:rPr lang="en-US" altLang="en-US" sz="2177"/>
              <a:t> in which every node other than the leaves has two children or no childeren. Every level is completely filled up.</a:t>
            </a:r>
          </a:p>
          <a:p>
            <a:pPr>
              <a:buFont typeface="Times New Roman" pitchFamily="18" charset="0"/>
              <a:buNone/>
            </a:pPr>
            <a:r>
              <a:rPr lang="en-US" altLang="en-US" sz="2177"/>
              <a:t>     No of nodes= 2</a:t>
            </a:r>
            <a:r>
              <a:rPr lang="en-US" altLang="en-US" sz="2177" baseline="30000"/>
              <a:t>h+1</a:t>
            </a:r>
            <a:r>
              <a:rPr lang="en-US" altLang="en-US" sz="2177"/>
              <a:t> -1 </a:t>
            </a:r>
          </a:p>
        </p:txBody>
      </p:sp>
      <p:pic>
        <p:nvPicPr>
          <p:cNvPr id="4813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7420" y="3367074"/>
            <a:ext cx="5322799" cy="2816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1091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sz="3266" i="1"/>
              <a:t>Skewed Binary Tree</a:t>
            </a:r>
            <a:endParaRPr lang="en-US" altLang="en-US" sz="3266"/>
          </a:p>
        </p:txBody>
      </p:sp>
      <p:sp>
        <p:nvSpPr>
          <p:cNvPr id="49155" name="Content Placeholder 2"/>
          <p:cNvSpPr>
            <a:spLocks noGrp="1"/>
          </p:cNvSpPr>
          <p:nvPr>
            <p:ph idx="1"/>
          </p:nvPr>
        </p:nvSpPr>
        <p:spPr/>
        <p:txBody>
          <a:bodyPr/>
          <a:lstStyle/>
          <a:p>
            <a:pPr>
              <a:buFont typeface="Times New Roman" pitchFamily="18" charset="0"/>
              <a:buNone/>
            </a:pPr>
            <a:r>
              <a:rPr lang="en-US" altLang="en-US"/>
              <a:t>	</a:t>
            </a:r>
            <a:r>
              <a:rPr lang="en-US" altLang="en-US" sz="2177"/>
              <a:t>A binary tree is said to be </a:t>
            </a:r>
            <a:r>
              <a:rPr lang="en-US" altLang="en-US" sz="2177" i="1"/>
              <a:t>Skewed Binary Tree</a:t>
            </a:r>
            <a:r>
              <a:rPr lang="en-US" altLang="en-US" sz="2177"/>
              <a:t> if every node in the tree contains either only left or only right sub tree. If the node contains only left sub tree then it is called </a:t>
            </a:r>
            <a:r>
              <a:rPr lang="en-US" altLang="en-US" sz="2177" i="1"/>
              <a:t>left-skewed binary tree</a:t>
            </a:r>
            <a:r>
              <a:rPr lang="en-US" altLang="en-US" sz="2177" b="1"/>
              <a:t> </a:t>
            </a:r>
            <a:r>
              <a:rPr lang="en-US" altLang="en-US" sz="2177"/>
              <a:t>and if the tree contains only right sub tree then it is called </a:t>
            </a:r>
            <a:r>
              <a:rPr lang="en-US" altLang="en-US" sz="2177" i="1"/>
              <a:t>right-skewed binary tree.</a:t>
            </a:r>
          </a:p>
          <a:p>
            <a:pPr>
              <a:buFont typeface="Times New Roman" pitchFamily="18" charset="0"/>
              <a:buNone/>
            </a:pPr>
            <a:endParaRPr lang="en-US" altLang="en-US" sz="2177"/>
          </a:p>
        </p:txBody>
      </p:sp>
      <p:pic>
        <p:nvPicPr>
          <p:cNvPr id="49156" name="Picture 3"/>
          <p:cNvPicPr>
            <a:picLocks noChangeAspect="1" noChangeArrowheads="1"/>
          </p:cNvPicPr>
          <p:nvPr/>
        </p:nvPicPr>
        <p:blipFill>
          <a:blip r:embed="rId2">
            <a:extLst>
              <a:ext uri="{28A0092B-C50C-407E-A947-70E740481C1C}">
                <a14:useLocalDpi xmlns:a14="http://schemas.microsoft.com/office/drawing/2010/main" val="0"/>
              </a:ext>
            </a:extLst>
          </a:blip>
          <a:srcRect t="25671"/>
          <a:stretch>
            <a:fillRect/>
          </a:stretch>
        </p:blipFill>
        <p:spPr bwMode="auto">
          <a:xfrm>
            <a:off x="3055841" y="3843765"/>
            <a:ext cx="6290580" cy="2497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4247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p:txBody>
          <a:bodyPr>
            <a:normAutofit fontScale="90000"/>
          </a:bodyPr>
          <a:lstStyle/>
          <a:p>
            <a:br>
              <a:rPr lang="en-US" altLang="en-US" sz="3266"/>
            </a:br>
            <a:br>
              <a:rPr lang="en-US" altLang="en-US" sz="3266"/>
            </a:br>
            <a:r>
              <a:rPr lang="en-US" altLang="en-US" sz="3266"/>
              <a:t>Strictly Binary Tree</a:t>
            </a:r>
            <a:br>
              <a:rPr lang="en-US" altLang="en-US" sz="3266"/>
            </a:br>
            <a:endParaRPr lang="en-US" altLang="en-US" sz="3266"/>
          </a:p>
        </p:txBody>
      </p:sp>
      <p:sp>
        <p:nvSpPr>
          <p:cNvPr id="50179" name="Content Placeholder 2"/>
          <p:cNvSpPr>
            <a:spLocks noGrp="1"/>
          </p:cNvSpPr>
          <p:nvPr>
            <p:ph idx="1"/>
          </p:nvPr>
        </p:nvSpPr>
        <p:spPr/>
        <p:txBody>
          <a:bodyPr/>
          <a:lstStyle/>
          <a:p>
            <a:pPr>
              <a:buFont typeface="Times New Roman" pitchFamily="18" charset="0"/>
              <a:buNone/>
            </a:pPr>
            <a:r>
              <a:rPr lang="en-US" altLang="en-US" sz="2177"/>
              <a:t>	A nod will have either two children or no child at all. </a:t>
            </a:r>
          </a:p>
          <a:p>
            <a:pPr>
              <a:buFont typeface="Times New Roman" pitchFamily="18" charset="0"/>
              <a:buNone/>
            </a:pPr>
            <a:endParaRPr lang="en-US" altLang="en-US" sz="2177"/>
          </a:p>
        </p:txBody>
      </p:sp>
      <p:pic>
        <p:nvPicPr>
          <p:cNvPr id="50180" name="Picture 2"/>
          <p:cNvPicPr>
            <a:picLocks noChangeAspect="1" noChangeArrowheads="1"/>
          </p:cNvPicPr>
          <p:nvPr/>
        </p:nvPicPr>
        <p:blipFill>
          <a:blip r:embed="rId2">
            <a:extLst>
              <a:ext uri="{28A0092B-C50C-407E-A947-70E740481C1C}">
                <a14:useLocalDpi xmlns:a14="http://schemas.microsoft.com/office/drawing/2010/main" val="0"/>
              </a:ext>
            </a:extLst>
          </a:blip>
          <a:srcRect l="20663" t="45129" r="22440" b="5080"/>
          <a:stretch>
            <a:fillRect/>
          </a:stretch>
        </p:blipFill>
        <p:spPr bwMode="auto">
          <a:xfrm>
            <a:off x="2501384" y="2461219"/>
            <a:ext cx="6497962" cy="31740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30894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z="3266"/>
              <a:t>Expression Binary tree</a:t>
            </a:r>
          </a:p>
        </p:txBody>
      </p:sp>
      <p:sp>
        <p:nvSpPr>
          <p:cNvPr id="51203" name="Content Placeholder 2"/>
          <p:cNvSpPr>
            <a:spLocks noGrp="1"/>
          </p:cNvSpPr>
          <p:nvPr>
            <p:ph idx="1"/>
          </p:nvPr>
        </p:nvSpPr>
        <p:spPr/>
        <p:txBody>
          <a:bodyPr/>
          <a:lstStyle/>
          <a:p>
            <a:pPr algn="just">
              <a:buFont typeface="Arial" panose="020B0604020202020204" pitchFamily="34" charset="0"/>
              <a:buChar char="•"/>
            </a:pPr>
            <a:r>
              <a:rPr lang="en-US" altLang="en-US" sz="2177"/>
              <a:t>Expression trees are a special kind of binary tree used to evaluate certain expressions.</a:t>
            </a:r>
          </a:p>
          <a:p>
            <a:pPr algn="just">
              <a:buFont typeface="Arial" panose="020B0604020202020204" pitchFamily="34" charset="0"/>
              <a:buChar char="•"/>
            </a:pPr>
            <a:r>
              <a:rPr lang="en-US" altLang="en-US" sz="2177"/>
              <a:t>Two common types of expressions that a binary expression tree can represent are algebraic and boolean.</a:t>
            </a:r>
          </a:p>
          <a:p>
            <a:pPr algn="just">
              <a:buFont typeface="Arial" panose="020B0604020202020204" pitchFamily="34" charset="0"/>
              <a:buChar char="•"/>
            </a:pPr>
            <a:r>
              <a:rPr lang="en-US" altLang="en-US" sz="2177"/>
              <a:t>These trees can represent expressions that contain both unary and binary operators.</a:t>
            </a:r>
          </a:p>
          <a:p>
            <a:pPr algn="just">
              <a:buFont typeface="Arial" panose="020B0604020202020204" pitchFamily="34" charset="0"/>
              <a:buChar char="•"/>
            </a:pPr>
            <a:r>
              <a:rPr lang="en-US" altLang="en-US" sz="2177"/>
              <a:t>The leaves of a binary expression tree are operands, such as constants or variable names, and the other nodes contain operators.</a:t>
            </a:r>
          </a:p>
          <a:p>
            <a:pPr algn="just">
              <a:buFont typeface="Arial" panose="020B0604020202020204" pitchFamily="34" charset="0"/>
              <a:buChar char="•"/>
            </a:pPr>
            <a:r>
              <a:rPr lang="en-US" altLang="en-US" sz="2177"/>
              <a:t>Expression tree are used in most compilers.</a:t>
            </a:r>
          </a:p>
        </p:txBody>
      </p:sp>
    </p:spTree>
    <p:extLst>
      <p:ext uri="{BB962C8B-B14F-4D97-AF65-F5344CB8AC3E}">
        <p14:creationId xmlns:p14="http://schemas.microsoft.com/office/powerpoint/2010/main" val="2321829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511" y="1216929"/>
            <a:ext cx="6774471" cy="5046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323912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 a new node in Binary Search Tree</a:t>
            </a:r>
            <a:br>
              <a:rPr lang="en-US" dirty="0"/>
            </a:br>
            <a:endParaRPr lang="en-US" dirty="0"/>
          </a:p>
        </p:txBody>
      </p:sp>
      <p:pic>
        <p:nvPicPr>
          <p:cNvPr id="5" name="Content Placeholder 4"/>
          <p:cNvPicPr>
            <a:picLocks noGrp="1" noChangeAspect="1"/>
          </p:cNvPicPr>
          <p:nvPr>
            <p:ph idx="1"/>
          </p:nvPr>
        </p:nvPicPr>
        <p:blipFill>
          <a:blip r:embed="rId2"/>
          <a:stretch>
            <a:fillRect/>
          </a:stretch>
        </p:blipFill>
        <p:spPr>
          <a:xfrm>
            <a:off x="2750794" y="1112108"/>
            <a:ext cx="3994157" cy="2518483"/>
          </a:xfrm>
          <a:prstGeom prst="rect">
            <a:avLst/>
          </a:prstGeom>
        </p:spPr>
      </p:pic>
      <p:sp>
        <p:nvSpPr>
          <p:cNvPr id="4" name="AutoShape 2" descr="Insertion-in-BST"/>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Rectangle 5"/>
          <p:cNvSpPr/>
          <p:nvPr/>
        </p:nvSpPr>
        <p:spPr>
          <a:xfrm>
            <a:off x="262666" y="3706325"/>
            <a:ext cx="11023171" cy="3055965"/>
          </a:xfrm>
          <a:prstGeom prst="rect">
            <a:avLst/>
          </a:prstGeom>
        </p:spPr>
        <p:txBody>
          <a:bodyPr wrap="square">
            <a:spAutoFit/>
          </a:bodyPr>
          <a:lstStyle/>
          <a:p>
            <a:pPr fontAlgn="base">
              <a:lnSpc>
                <a:spcPct val="107000"/>
              </a:lnSpc>
            </a:pP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 new key is always inserted at the leaf by maintaining the property of the binary search tree. We start searching for a key from the root until we hit a leaf node. Once a leaf node is found, the new node is added as a child of the leaf node. The below steps are followed while we try to insert a node into a binary search tree: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pc="10" dirty="0" err="1">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Initilize</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the current node (say, </a:t>
            </a:r>
            <a:r>
              <a:rPr lang="en-US" b="1" spc="10" dirty="0" err="1">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currNode</a:t>
            </a: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or node</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with root node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Compare the </a:t>
            </a: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key </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with the current node.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Move left</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if the </a:t>
            </a: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key </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is less than or equal to the current node value.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Move right</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if the </a:t>
            </a: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key </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is greater than current node value.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Repeat steps 2 and 3 until you reach a leaf node.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fontAlgn="base">
              <a:lnSpc>
                <a:spcPct val="107000"/>
              </a:lnSpc>
              <a:spcBef>
                <a:spcPts val="0"/>
              </a:spcBef>
              <a:spcAft>
                <a:spcPts val="0"/>
              </a:spcAft>
              <a:buSzPts val="1000"/>
              <a:buFont typeface="Symbol" panose="05050102010706020507" pitchFamily="18" charset="2"/>
              <a:buChar char=""/>
              <a:tabLst>
                <a:tab pos="457200" algn="l"/>
              </a:tabLst>
            </a:pP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Attach the</a:t>
            </a:r>
            <a:r>
              <a:rPr lang="en-US" b="1"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new key</a:t>
            </a:r>
            <a:r>
              <a:rPr lang="en-US" spc="10"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as a left or right child based on the comparison with the leaf node’s value.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69106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p:nvPr>
        </p:nvSpPr>
        <p:spPr/>
        <p:txBody>
          <a:bodyPr/>
          <a:lstStyle/>
          <a:p>
            <a:r>
              <a:rPr lang="en-US" altLang="en-US"/>
              <a:t>Binary Tree Traversal</a:t>
            </a:r>
          </a:p>
        </p:txBody>
      </p:sp>
      <p:sp>
        <p:nvSpPr>
          <p:cNvPr id="53251" name="Content Placeholder 2"/>
          <p:cNvSpPr>
            <a:spLocks noGrp="1"/>
          </p:cNvSpPr>
          <p:nvPr>
            <p:ph idx="1"/>
          </p:nvPr>
        </p:nvSpPr>
        <p:spPr/>
        <p:txBody>
          <a:bodyPr vert="horz" lIns="91440" tIns="45720" rIns="91440" bIns="45720" rtlCol="0" anchor="t">
            <a:normAutofit fontScale="77500" lnSpcReduction="20000"/>
          </a:bodyPr>
          <a:lstStyle/>
          <a:p>
            <a:pPr marL="0" indent="0" algn="just">
              <a:lnSpc>
                <a:spcPct val="120000"/>
              </a:lnSpc>
              <a:spcBef>
                <a:spcPts val="0"/>
              </a:spcBef>
              <a:buNone/>
            </a:pPr>
            <a:r>
              <a:rPr lang="en-US" dirty="0">
                <a:solidFill>
                  <a:srgbClr val="273239"/>
                </a:solidFill>
                <a:latin typeface="Calibri"/>
                <a:ea typeface="Calibri"/>
                <a:cs typeface="Calibri"/>
              </a:rPr>
              <a:t>Tree Traversal</a:t>
            </a:r>
            <a:r>
              <a:rPr lang="en-US" b="1" dirty="0">
                <a:solidFill>
                  <a:srgbClr val="273239"/>
                </a:solidFill>
                <a:latin typeface="Calibri"/>
                <a:ea typeface="Calibri"/>
                <a:cs typeface="Calibri"/>
              </a:rPr>
              <a:t> </a:t>
            </a:r>
            <a:r>
              <a:rPr lang="en-US" dirty="0">
                <a:solidFill>
                  <a:srgbClr val="273239"/>
                </a:solidFill>
                <a:latin typeface="Calibri"/>
                <a:ea typeface="Calibri"/>
                <a:cs typeface="Calibri"/>
              </a:rPr>
              <a:t>refers to the process of visiting or accessing each node of the tree exactly once in a certain order. Tree traversal algorithms help us visit and process all the nodes of the tree. Since a tree is not a linear data structure, there can be multiple choices for the next node to be visited. Hence we have many ways to traverse a tree.</a:t>
            </a:r>
            <a:br>
              <a:rPr lang="en-US" dirty="0"/>
            </a:br>
            <a:endParaRPr lang="en-US">
              <a:ea typeface="Calibri"/>
              <a:cs typeface="Calibri"/>
            </a:endParaRPr>
          </a:p>
          <a:p>
            <a:pPr>
              <a:buFont typeface="Times New Roman" pitchFamily="18" charset="0"/>
              <a:buNone/>
            </a:pPr>
            <a:r>
              <a:rPr lang="en-US" altLang="en-US" dirty="0"/>
              <a:t>1. Preorder traversal:-In this traversal method first process root element, then left sub tree and then right sub tree. </a:t>
            </a:r>
            <a:endParaRPr lang="en-US" altLang="en-US" dirty="0">
              <a:ea typeface="Calibri"/>
              <a:cs typeface="Calibri"/>
            </a:endParaRPr>
          </a:p>
          <a:p>
            <a:pPr>
              <a:buNone/>
            </a:pPr>
            <a:endParaRPr lang="en-US" altLang="en-US" dirty="0"/>
          </a:p>
          <a:p>
            <a:pPr>
              <a:buFont typeface="Times New Roman" pitchFamily="18" charset="0"/>
              <a:buNone/>
            </a:pPr>
            <a:r>
              <a:rPr lang="en-US" altLang="en-US" dirty="0"/>
              <a:t>Procedure:- </a:t>
            </a:r>
            <a:endParaRPr lang="en-US" altLang="en-US" dirty="0">
              <a:ea typeface="Calibri"/>
              <a:cs typeface="Calibri"/>
            </a:endParaRPr>
          </a:p>
          <a:p>
            <a:pPr>
              <a:buFont typeface="Times New Roman" pitchFamily="18" charset="0"/>
              <a:buNone/>
            </a:pPr>
            <a:r>
              <a:rPr lang="en-US" altLang="en-US" dirty="0"/>
              <a:t>Step 1: Visit root node </a:t>
            </a:r>
            <a:endParaRPr lang="en-US" altLang="en-US" dirty="0">
              <a:ea typeface="Calibri"/>
              <a:cs typeface="Calibri"/>
            </a:endParaRPr>
          </a:p>
          <a:p>
            <a:pPr>
              <a:buFont typeface="Times New Roman" pitchFamily="18" charset="0"/>
              <a:buNone/>
            </a:pPr>
            <a:r>
              <a:rPr lang="en-US" altLang="en-US" dirty="0"/>
              <a:t>Step 2: Visit left sub tree in preorder </a:t>
            </a:r>
            <a:endParaRPr lang="en-US" altLang="en-US" dirty="0">
              <a:ea typeface="Calibri"/>
              <a:cs typeface="Calibri"/>
            </a:endParaRPr>
          </a:p>
          <a:p>
            <a:pPr>
              <a:buFont typeface="Times New Roman" pitchFamily="18" charset="0"/>
              <a:buNone/>
            </a:pPr>
            <a:r>
              <a:rPr lang="en-US" altLang="en-US" dirty="0"/>
              <a:t>Step 3: Visit right sub tree in preorder </a:t>
            </a:r>
            <a:endParaRPr lang="en-US" altLang="en-US" dirty="0">
              <a:ea typeface="Calibri"/>
              <a:cs typeface="Calibri"/>
            </a:endParaRPr>
          </a:p>
        </p:txBody>
      </p:sp>
    </p:spTree>
    <p:extLst>
      <p:ext uri="{BB962C8B-B14F-4D97-AF65-F5344CB8AC3E}">
        <p14:creationId xmlns:p14="http://schemas.microsoft.com/office/powerpoint/2010/main" val="36077659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2"/>
          <p:cNvSpPr>
            <a:spLocks noGrp="1"/>
          </p:cNvSpPr>
          <p:nvPr>
            <p:ph idx="1"/>
          </p:nvPr>
        </p:nvSpPr>
        <p:spPr/>
        <p:txBody>
          <a:bodyPr vert="horz" lIns="91440" tIns="45720" rIns="91440" bIns="45720" rtlCol="0" anchor="t">
            <a:normAutofit/>
          </a:bodyPr>
          <a:lstStyle/>
          <a:p>
            <a:pPr>
              <a:buFont typeface="Times New Roman" pitchFamily="18" charset="0"/>
              <a:buNone/>
            </a:pPr>
            <a:r>
              <a:rPr lang="en-US" altLang="en-US" dirty="0"/>
              <a:t>2. </a:t>
            </a:r>
            <a:r>
              <a:rPr lang="en-US" altLang="en-US" dirty="0" err="1"/>
              <a:t>Inorder</a:t>
            </a:r>
            <a:r>
              <a:rPr lang="en-US" altLang="en-US" dirty="0"/>
              <a:t> traversal:- </a:t>
            </a:r>
          </a:p>
          <a:p>
            <a:pPr>
              <a:buFont typeface="Times New Roman" pitchFamily="18" charset="0"/>
              <a:buNone/>
            </a:pPr>
            <a:r>
              <a:rPr lang="en-US" altLang="en-US" dirty="0"/>
              <a:t>In this traversal method first process left element, then root element and then the right element. </a:t>
            </a:r>
            <a:endParaRPr lang="en-US" altLang="en-US" dirty="0">
              <a:ea typeface="Calibri"/>
              <a:cs typeface="Calibri"/>
            </a:endParaRPr>
          </a:p>
          <a:p>
            <a:pPr>
              <a:buFont typeface="Times New Roman" pitchFamily="18" charset="0"/>
              <a:buNone/>
            </a:pPr>
            <a:r>
              <a:rPr lang="en-US" altLang="en-US" dirty="0"/>
              <a:t>Procedure:- </a:t>
            </a:r>
            <a:endParaRPr lang="en-US" altLang="en-US" dirty="0">
              <a:ea typeface="Calibri"/>
              <a:cs typeface="Calibri"/>
            </a:endParaRPr>
          </a:p>
          <a:p>
            <a:pPr>
              <a:buFont typeface="Times New Roman" pitchFamily="18" charset="0"/>
              <a:buNone/>
            </a:pPr>
            <a:r>
              <a:rPr lang="en-US" altLang="en-US" dirty="0"/>
              <a:t>Step 1: Visit left sub tree in </a:t>
            </a:r>
            <a:r>
              <a:rPr lang="en-US" altLang="en-US" dirty="0" err="1"/>
              <a:t>inorder</a:t>
            </a:r>
            <a:r>
              <a:rPr lang="en-US" altLang="en-US" dirty="0"/>
              <a:t> </a:t>
            </a:r>
            <a:endParaRPr lang="en-US" altLang="en-US" dirty="0">
              <a:ea typeface="Calibri"/>
              <a:cs typeface="Calibri"/>
            </a:endParaRPr>
          </a:p>
          <a:p>
            <a:pPr>
              <a:buFont typeface="Times New Roman" pitchFamily="18" charset="0"/>
              <a:buNone/>
            </a:pPr>
            <a:r>
              <a:rPr lang="en-US" altLang="en-US" dirty="0"/>
              <a:t>Step 2: Visit root node </a:t>
            </a:r>
            <a:endParaRPr lang="en-US" altLang="en-US" dirty="0">
              <a:ea typeface="Calibri"/>
              <a:cs typeface="Calibri"/>
            </a:endParaRPr>
          </a:p>
          <a:p>
            <a:pPr>
              <a:buFont typeface="Times New Roman" pitchFamily="18" charset="0"/>
              <a:buNone/>
            </a:pPr>
            <a:r>
              <a:rPr lang="en-US" altLang="en-US" dirty="0"/>
              <a:t>Step 3: Visit right sub tree in </a:t>
            </a:r>
            <a:r>
              <a:rPr lang="en-US" altLang="en-US" dirty="0" err="1"/>
              <a:t>inorder</a:t>
            </a:r>
            <a:r>
              <a:rPr lang="en-US" altLang="en-US" dirty="0"/>
              <a:t> </a:t>
            </a:r>
            <a:endParaRPr lang="en-US" altLang="en-US" dirty="0">
              <a:ea typeface="Calibri"/>
              <a:cs typeface="Calibri"/>
            </a:endParaRPr>
          </a:p>
          <a:p>
            <a:pPr>
              <a:buFont typeface="Times New Roman" pitchFamily="18" charset="0"/>
              <a:buNone/>
            </a:pPr>
            <a:endParaRPr lang="en-US" altLang="en-US"/>
          </a:p>
        </p:txBody>
      </p:sp>
      <p:sp>
        <p:nvSpPr>
          <p:cNvPr id="3" name="Title 1">
            <a:extLst>
              <a:ext uri="{FF2B5EF4-FFF2-40B4-BE49-F238E27FC236}">
                <a16:creationId xmlns:a16="http://schemas.microsoft.com/office/drawing/2014/main" id="{BE6AE365-C11C-8B33-7BFF-3C48FA72E882}"/>
              </a:ext>
            </a:extLst>
          </p:cNvPr>
          <p:cNvSpPr>
            <a:spLocks noGrp="1"/>
          </p:cNvSpPr>
          <p:nvPr>
            <p:ph type="title"/>
          </p:nvPr>
        </p:nvSpPr>
        <p:spPr>
          <a:xfrm>
            <a:off x="838200" y="365125"/>
            <a:ext cx="10515600" cy="1325563"/>
          </a:xfrm>
        </p:spPr>
        <p:txBody>
          <a:bodyPr/>
          <a:lstStyle/>
          <a:p>
            <a:r>
              <a:rPr lang="en-US" altLang="en-US"/>
              <a:t>Binary Tree Traversal</a:t>
            </a:r>
          </a:p>
        </p:txBody>
      </p:sp>
    </p:spTree>
    <p:extLst>
      <p:ext uri="{BB962C8B-B14F-4D97-AF65-F5344CB8AC3E}">
        <p14:creationId xmlns:p14="http://schemas.microsoft.com/office/powerpoint/2010/main" val="26505783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Content Placeholder 2"/>
          <p:cNvSpPr>
            <a:spLocks noGrp="1"/>
          </p:cNvSpPr>
          <p:nvPr>
            <p:ph idx="1"/>
          </p:nvPr>
        </p:nvSpPr>
        <p:spPr>
          <a:xfrm>
            <a:off x="624585" y="1935557"/>
            <a:ext cx="10515600" cy="4351338"/>
          </a:xfrm>
        </p:spPr>
        <p:txBody>
          <a:bodyPr/>
          <a:lstStyle/>
          <a:p>
            <a:pPr>
              <a:buFont typeface="Times New Roman" pitchFamily="18" charset="0"/>
              <a:buNone/>
            </a:pPr>
            <a:r>
              <a:rPr lang="en-US" altLang="en-US" dirty="0"/>
              <a:t>3. </a:t>
            </a:r>
            <a:r>
              <a:rPr lang="en-US" altLang="en-US" dirty="0" err="1"/>
              <a:t>Postorder</a:t>
            </a:r>
            <a:r>
              <a:rPr lang="en-US" altLang="en-US" dirty="0"/>
              <a:t> traversal:- </a:t>
            </a:r>
          </a:p>
          <a:p>
            <a:pPr>
              <a:buFont typeface="Times New Roman" pitchFamily="18" charset="0"/>
              <a:buNone/>
            </a:pPr>
            <a:endParaRPr lang="en-US" altLang="en-US" dirty="0"/>
          </a:p>
          <a:p>
            <a:pPr>
              <a:buFont typeface="Times New Roman" pitchFamily="18" charset="0"/>
              <a:buNone/>
            </a:pPr>
            <a:r>
              <a:rPr lang="en-US" altLang="en-US" dirty="0"/>
              <a:t>In this traversal first visit / process left sub tree, then right sub tree and then the root element. </a:t>
            </a:r>
          </a:p>
          <a:p>
            <a:pPr>
              <a:buFont typeface="Times New Roman" pitchFamily="18" charset="0"/>
              <a:buNone/>
            </a:pPr>
            <a:r>
              <a:rPr lang="en-US" altLang="en-US" dirty="0"/>
              <a:t>Procedure:- </a:t>
            </a:r>
          </a:p>
          <a:p>
            <a:pPr>
              <a:buFont typeface="Times New Roman" pitchFamily="18" charset="0"/>
              <a:buNone/>
            </a:pPr>
            <a:r>
              <a:rPr lang="en-US" altLang="en-US" dirty="0"/>
              <a:t>Step 1: Visit left sub tree in </a:t>
            </a:r>
            <a:r>
              <a:rPr lang="en-US" altLang="en-US" dirty="0" err="1"/>
              <a:t>postorder</a:t>
            </a:r>
            <a:r>
              <a:rPr lang="en-US" altLang="en-US" dirty="0"/>
              <a:t> </a:t>
            </a:r>
          </a:p>
          <a:p>
            <a:pPr>
              <a:buFont typeface="Times New Roman" pitchFamily="18" charset="0"/>
              <a:buNone/>
            </a:pPr>
            <a:r>
              <a:rPr lang="en-US" altLang="en-US" dirty="0"/>
              <a:t>Step 2: Visit right sub tree in </a:t>
            </a:r>
            <a:r>
              <a:rPr lang="en-US" altLang="en-US" dirty="0" err="1"/>
              <a:t>postorder</a:t>
            </a:r>
            <a:r>
              <a:rPr lang="en-US" altLang="en-US" dirty="0"/>
              <a:t> </a:t>
            </a:r>
          </a:p>
          <a:p>
            <a:pPr>
              <a:buFont typeface="Times New Roman" pitchFamily="18" charset="0"/>
              <a:buNone/>
            </a:pPr>
            <a:r>
              <a:rPr lang="en-US" altLang="en-US" dirty="0"/>
              <a:t>Step 3: Visit root node </a:t>
            </a:r>
          </a:p>
          <a:p>
            <a:pPr>
              <a:buFont typeface="Times New Roman" pitchFamily="18" charset="0"/>
              <a:buNone/>
            </a:pPr>
            <a:endParaRPr lang="en-US" altLang="en-US" dirty="0"/>
          </a:p>
        </p:txBody>
      </p:sp>
      <p:sp>
        <p:nvSpPr>
          <p:cNvPr id="3" name="Title 1">
            <a:extLst>
              <a:ext uri="{FF2B5EF4-FFF2-40B4-BE49-F238E27FC236}">
                <a16:creationId xmlns:a16="http://schemas.microsoft.com/office/drawing/2014/main" id="{DF18F4CC-F77A-F1FA-6535-3DD642C4C91F}"/>
              </a:ext>
            </a:extLst>
          </p:cNvPr>
          <p:cNvSpPr>
            <a:spLocks noGrp="1"/>
          </p:cNvSpPr>
          <p:nvPr>
            <p:ph type="title"/>
          </p:nvPr>
        </p:nvSpPr>
        <p:spPr>
          <a:xfrm>
            <a:off x="496614" y="386146"/>
            <a:ext cx="10515600" cy="1325563"/>
          </a:xfrm>
        </p:spPr>
        <p:txBody>
          <a:bodyPr/>
          <a:lstStyle/>
          <a:p>
            <a:r>
              <a:rPr lang="en-US" altLang="en-US"/>
              <a:t>Binary Tree Traversal</a:t>
            </a:r>
          </a:p>
        </p:txBody>
      </p:sp>
    </p:spTree>
    <p:extLst>
      <p:ext uri="{BB962C8B-B14F-4D97-AF65-F5344CB8AC3E}">
        <p14:creationId xmlns:p14="http://schemas.microsoft.com/office/powerpoint/2010/main" val="6358978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itle 1"/>
          <p:cNvSpPr>
            <a:spLocks noGrp="1"/>
          </p:cNvSpPr>
          <p:nvPr>
            <p:ph type="title"/>
          </p:nvPr>
        </p:nvSpPr>
        <p:spPr/>
        <p:txBody>
          <a:bodyPr/>
          <a:lstStyle/>
          <a:p>
            <a:r>
              <a:rPr lang="en-US" altLang="en-US"/>
              <a:t> Binary Search Tree</a:t>
            </a:r>
          </a:p>
        </p:txBody>
      </p:sp>
      <p:sp>
        <p:nvSpPr>
          <p:cNvPr id="56323" name="Content Placeholder 2"/>
          <p:cNvSpPr>
            <a:spLocks noGrp="1"/>
          </p:cNvSpPr>
          <p:nvPr>
            <p:ph idx="1"/>
          </p:nvPr>
        </p:nvSpPr>
        <p:spPr/>
        <p:txBody>
          <a:bodyPr vert="horz" lIns="91440" tIns="45720" rIns="91440" bIns="45720" rtlCol="0" anchor="t">
            <a:normAutofit/>
          </a:bodyPr>
          <a:lstStyle/>
          <a:p>
            <a:pPr marL="0" algn="just">
              <a:lnSpc>
                <a:spcPct val="100000"/>
              </a:lnSpc>
              <a:spcBef>
                <a:spcPts val="0"/>
              </a:spcBef>
              <a:buNone/>
            </a:pPr>
            <a:endParaRPr lang="en-US" altLang="en-US" dirty="0"/>
          </a:p>
          <a:p>
            <a:pPr marL="0" algn="just">
              <a:lnSpc>
                <a:spcPct val="100000"/>
              </a:lnSpc>
              <a:spcBef>
                <a:spcPts val="0"/>
              </a:spcBef>
              <a:buNone/>
            </a:pPr>
            <a:r>
              <a:rPr lang="en-US" altLang="en-US" dirty="0"/>
              <a:t>A binary search tree (BST) or "ordered binary tree" in which each node contains a key that satisfies following conditions:</a:t>
            </a:r>
            <a:endParaRPr lang="en-US" altLang="en-US">
              <a:ea typeface="Calibri" panose="020F0502020204030204"/>
              <a:cs typeface="Calibri" panose="020F0502020204030204"/>
            </a:endParaRPr>
          </a:p>
          <a:p>
            <a:pPr marL="0" algn="just">
              <a:lnSpc>
                <a:spcPct val="100000"/>
              </a:lnSpc>
              <a:spcBef>
                <a:spcPts val="0"/>
              </a:spcBef>
              <a:buNone/>
            </a:pPr>
            <a:endParaRPr lang="en-US" altLang="en-US" dirty="0">
              <a:ea typeface="Calibri" panose="020F0502020204030204"/>
              <a:cs typeface="Calibri" panose="020F0502020204030204"/>
            </a:endParaRPr>
          </a:p>
          <a:p>
            <a:pPr marL="0" lvl="2" indent="-466090" algn="just">
              <a:lnSpc>
                <a:spcPct val="100000"/>
              </a:lnSpc>
              <a:spcBef>
                <a:spcPts val="0"/>
              </a:spcBef>
              <a:buFont typeface="Arial" panose="020B0604020202020204" pitchFamily="34" charset="0"/>
              <a:buAutoNum type="arabicPeriod"/>
            </a:pPr>
            <a:r>
              <a:rPr lang="en-US" altLang="en-US" sz="2800" dirty="0"/>
              <a:t>All keys are distinct.</a:t>
            </a:r>
            <a:endParaRPr lang="en-US" altLang="en-US" sz="2800" dirty="0">
              <a:ea typeface="Calibri"/>
              <a:cs typeface="Calibri"/>
            </a:endParaRPr>
          </a:p>
          <a:p>
            <a:pPr marL="0" lvl="2" indent="-466090" algn="just">
              <a:lnSpc>
                <a:spcPct val="100000"/>
              </a:lnSpc>
              <a:spcBef>
                <a:spcPts val="0"/>
              </a:spcBef>
              <a:buFont typeface="Arial" panose="020B0604020202020204" pitchFamily="34" charset="0"/>
              <a:buAutoNum type="arabicPeriod"/>
            </a:pPr>
            <a:r>
              <a:rPr lang="en-US" altLang="en-US" sz="2800" dirty="0"/>
              <a:t>All elements in its left subtree are less to the node (&lt;), and all the elements in its right subtree are greater than the node (&gt;).</a:t>
            </a:r>
            <a:endParaRPr lang="en-US" altLang="en-US" sz="2800" dirty="0">
              <a:ea typeface="Calibri"/>
              <a:cs typeface="Calibri"/>
            </a:endParaRPr>
          </a:p>
        </p:txBody>
      </p:sp>
    </p:spTree>
    <p:extLst>
      <p:ext uri="{BB962C8B-B14F-4D97-AF65-F5344CB8AC3E}">
        <p14:creationId xmlns:p14="http://schemas.microsoft.com/office/powerpoint/2010/main" val="2351006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297" y="245456"/>
            <a:ext cx="10515600" cy="1325563"/>
          </a:xfrm>
        </p:spPr>
        <p:txBody>
          <a:bodyPr>
            <a:normAutofit/>
          </a:bodyPr>
          <a:lstStyle/>
          <a:p>
            <a:pPr algn="ctr"/>
            <a:r>
              <a:rPr lang="en-US" dirty="0"/>
              <a:t>AVL Tree Data Structure</a:t>
            </a:r>
            <a:endParaRPr lang="en-US"/>
          </a:p>
        </p:txBody>
      </p:sp>
      <p:sp>
        <p:nvSpPr>
          <p:cNvPr id="4" name="Rectangle 1"/>
          <p:cNvSpPr>
            <a:spLocks noGrp="1" noChangeArrowheads="1"/>
          </p:cNvSpPr>
          <p:nvPr>
            <p:ph idx="1"/>
          </p:nvPr>
        </p:nvSpPr>
        <p:spPr bwMode="auto">
          <a:xfrm>
            <a:off x="178462" y="1819572"/>
            <a:ext cx="11927245" cy="38779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None/>
            </a:pPr>
            <a:r>
              <a:rPr kumimoji="0" lang="en-US" altLang="en-US" i="0" u="none" strike="noStrike" cap="none" normalizeH="0" baseline="0" dirty="0">
                <a:ln>
                  <a:noFill/>
                </a:ln>
                <a:effectLst/>
                <a:latin typeface="Calibri"/>
                <a:ea typeface="Calibri"/>
                <a:cs typeface="Calibri"/>
              </a:rPr>
              <a:t>An AVL tree defined as a self-balancing </a:t>
            </a:r>
            <a:r>
              <a:rPr kumimoji="0" lang="en-US" altLang="en-US" i="0" u="sng" strike="noStrike" cap="none" normalizeH="0" baseline="0" dirty="0">
                <a:ln>
                  <a:noFill/>
                </a:ln>
                <a:effectLst/>
                <a:latin typeface="Calibri"/>
                <a:ea typeface="Calibri"/>
                <a:cs typeface="Calibri"/>
              </a:rPr>
              <a:t>Binary Search Tree</a:t>
            </a:r>
            <a:r>
              <a:rPr kumimoji="0" lang="en-US" altLang="en-US" i="0" u="none" strike="noStrike" cap="none" normalizeH="0" baseline="0" dirty="0">
                <a:ln>
                  <a:noFill/>
                </a:ln>
                <a:effectLst/>
                <a:latin typeface="Calibri"/>
                <a:ea typeface="Calibri"/>
                <a:cs typeface="Calibri"/>
              </a:rPr>
              <a:t>(BST) where </a:t>
            </a:r>
            <a:endParaRPr lang="en-US">
              <a:cs typeface="Arial"/>
            </a:endParaRPr>
          </a:p>
          <a:p>
            <a:pPr marL="0" indent="0">
              <a:lnSpc>
                <a:spcPct val="100000"/>
              </a:lnSpc>
              <a:buNone/>
            </a:pPr>
            <a:r>
              <a:rPr kumimoji="0" lang="en-US" altLang="en-US" i="0" u="none" strike="noStrike" cap="none" normalizeH="0" baseline="0" dirty="0">
                <a:ln>
                  <a:noFill/>
                </a:ln>
                <a:effectLst/>
                <a:latin typeface="Calibri"/>
                <a:ea typeface="Calibri"/>
                <a:cs typeface="Calibri"/>
              </a:rPr>
              <a:t>the difference between heights of left and right subtrees for any node cannot </a:t>
            </a:r>
            <a:endParaRPr lang="en-US">
              <a:ea typeface="Calibri"/>
              <a:cs typeface="Arial" panose="020B0604020202020204" pitchFamily="34" charset="0"/>
            </a:endParaRPr>
          </a:p>
          <a:p>
            <a:pPr marL="0" indent="0">
              <a:lnSpc>
                <a:spcPct val="100000"/>
              </a:lnSpc>
              <a:buNone/>
            </a:pPr>
            <a:r>
              <a:rPr kumimoji="0" lang="en-US" altLang="en-US" i="0" u="none" strike="noStrike" cap="none" normalizeH="0" baseline="0" dirty="0">
                <a:ln>
                  <a:noFill/>
                </a:ln>
                <a:effectLst/>
                <a:latin typeface="Calibri"/>
                <a:ea typeface="Calibri"/>
                <a:cs typeface="Calibri"/>
              </a:rPr>
              <a:t>be more than </a:t>
            </a:r>
            <a:r>
              <a:rPr kumimoji="0" lang="en-US" altLang="en-US" i="0" u="none" strike="noStrike" cap="none" normalizeH="0" baseline="0" err="1">
                <a:ln>
                  <a:noFill/>
                </a:ln>
                <a:effectLst/>
                <a:latin typeface="Calibri"/>
                <a:ea typeface="Calibri"/>
                <a:cs typeface="Calibri"/>
              </a:rPr>
              <a:t>one.</a:t>
            </a:r>
            <a:r>
              <a:rPr kumimoji="0" lang="en-US" altLang="en-US" i="0" u="none" strike="noStrike" cap="none" normalizeH="0" baseline="0" err="1">
                <a:ln>
                  <a:noFill/>
                </a:ln>
                <a:solidFill>
                  <a:srgbClr val="273239"/>
                </a:solidFill>
                <a:effectLst/>
                <a:latin typeface="Calibri"/>
                <a:ea typeface="Calibri"/>
                <a:cs typeface="Calibri"/>
              </a:rPr>
              <a:t>The</a:t>
            </a:r>
            <a:r>
              <a:rPr kumimoji="0" lang="en-US" altLang="en-US" i="0" u="none" strike="noStrike" cap="none" normalizeH="0" baseline="0" dirty="0">
                <a:ln>
                  <a:noFill/>
                </a:ln>
                <a:solidFill>
                  <a:srgbClr val="273239"/>
                </a:solidFill>
                <a:effectLst/>
                <a:latin typeface="Calibri"/>
                <a:ea typeface="Calibri"/>
                <a:cs typeface="Calibri"/>
              </a:rPr>
              <a:t> difference between the heights of the left subtree and the</a:t>
            </a:r>
            <a:endParaRPr lang="en-US" altLang="en-US">
              <a:solidFill>
                <a:srgbClr val="000000"/>
              </a:solidFill>
              <a:latin typeface="Calibri"/>
              <a:ea typeface="Calibri"/>
              <a:cs typeface="Calibri"/>
            </a:endParaRPr>
          </a:p>
          <a:p>
            <a:pPr marL="0" indent="0">
              <a:lnSpc>
                <a:spcPct val="100000"/>
              </a:lnSpc>
              <a:buNone/>
            </a:pPr>
            <a:r>
              <a:rPr lang="en-US" altLang="en-US" dirty="0">
                <a:solidFill>
                  <a:srgbClr val="273239"/>
                </a:solidFill>
                <a:latin typeface="Calibri"/>
                <a:ea typeface="Calibri"/>
                <a:cs typeface="Calibri"/>
              </a:rPr>
              <a:t> </a:t>
            </a:r>
            <a:r>
              <a:rPr kumimoji="0" lang="en-US" altLang="en-US" i="0" u="none" strike="noStrike" cap="none" normalizeH="0" baseline="0" dirty="0">
                <a:ln>
                  <a:noFill/>
                </a:ln>
                <a:solidFill>
                  <a:srgbClr val="273239"/>
                </a:solidFill>
                <a:effectLst/>
                <a:latin typeface="Calibri"/>
                <a:ea typeface="Calibri"/>
                <a:cs typeface="Calibri"/>
              </a:rPr>
              <a:t>right subtree for any node is known as the balance factor of the node.</a:t>
            </a:r>
            <a:endParaRPr lang="en-US" altLang="en-US" i="0" u="none" strike="noStrike" cap="none" normalizeH="0" baseline="0" dirty="0">
              <a:ln>
                <a:noFill/>
              </a:ln>
              <a:effectLst/>
              <a:latin typeface="Calibri"/>
              <a:ea typeface="Calibri"/>
              <a:cs typeface="Calibri"/>
            </a:endParaRPr>
          </a:p>
          <a:p>
            <a:pPr marL="0" indent="0">
              <a:lnSpc>
                <a:spcPct val="100000"/>
              </a:lnSpc>
              <a:buNone/>
            </a:pPr>
            <a:r>
              <a:rPr kumimoji="0" lang="en-US" altLang="en-US" i="0" u="none" strike="noStrike" cap="none" normalizeH="0" baseline="0" dirty="0">
                <a:ln>
                  <a:noFill/>
                </a:ln>
                <a:solidFill>
                  <a:srgbClr val="273239"/>
                </a:solidFill>
                <a:effectLst/>
                <a:latin typeface="Calibri"/>
                <a:ea typeface="Calibri"/>
                <a:cs typeface="Calibri"/>
              </a:rPr>
              <a:t>The AVL tree is </a:t>
            </a:r>
            <a:r>
              <a:rPr lang="en-US" altLang="en-US" dirty="0">
                <a:solidFill>
                  <a:srgbClr val="273239"/>
                </a:solidFill>
                <a:latin typeface="Calibri"/>
                <a:ea typeface="Calibri"/>
                <a:cs typeface="Calibri"/>
              </a:rPr>
              <a:t>named</a:t>
            </a:r>
            <a:r>
              <a:rPr kumimoji="0" lang="en-US" altLang="en-US" i="0" u="none" strike="noStrike" cap="none" normalizeH="0" baseline="0" dirty="0">
                <a:ln>
                  <a:noFill/>
                </a:ln>
                <a:solidFill>
                  <a:srgbClr val="273239"/>
                </a:solidFill>
                <a:effectLst/>
                <a:latin typeface="Calibri"/>
                <a:ea typeface="Calibri"/>
                <a:cs typeface="Calibri"/>
              </a:rPr>
              <a:t> after its inventors, </a:t>
            </a:r>
            <a:r>
              <a:rPr lang="en-US" altLang="en-US" dirty="0">
                <a:solidFill>
                  <a:srgbClr val="273239"/>
                </a:solidFill>
                <a:latin typeface="Calibri"/>
                <a:ea typeface="Calibri"/>
                <a:cs typeface="Calibri"/>
              </a:rPr>
              <a:t>Adelson, </a:t>
            </a:r>
            <a:r>
              <a:rPr lang="en-US" altLang="en-US" err="1">
                <a:solidFill>
                  <a:srgbClr val="273239"/>
                </a:solidFill>
                <a:latin typeface="Calibri"/>
                <a:ea typeface="Calibri"/>
                <a:cs typeface="Calibri"/>
              </a:rPr>
              <a:t>Velsky</a:t>
            </a:r>
            <a:r>
              <a:rPr kumimoji="0" lang="en-US" altLang="en-US" i="0" u="none" strike="noStrike" cap="none" normalizeH="0" baseline="0" dirty="0">
                <a:ln>
                  <a:noFill/>
                </a:ln>
                <a:solidFill>
                  <a:srgbClr val="273239"/>
                </a:solidFill>
                <a:effectLst/>
                <a:latin typeface="Calibri"/>
                <a:ea typeface="Calibri"/>
                <a:cs typeface="Calibri"/>
              </a:rPr>
              <a:t> and Landis who </a:t>
            </a:r>
            <a:endParaRPr lang="en-US" altLang="en-US">
              <a:solidFill>
                <a:srgbClr val="000000"/>
              </a:solidFill>
              <a:latin typeface="Calibri"/>
              <a:ea typeface="Calibri"/>
              <a:cs typeface="Calibri"/>
            </a:endParaRPr>
          </a:p>
          <a:p>
            <a:pPr marL="0" indent="0">
              <a:lnSpc>
                <a:spcPct val="100000"/>
              </a:lnSpc>
              <a:buNone/>
            </a:pPr>
            <a:r>
              <a:rPr kumimoji="0" lang="en-US" altLang="en-US" i="0" u="none" strike="noStrike" cap="none" normalizeH="0" baseline="0" dirty="0">
                <a:ln>
                  <a:noFill/>
                </a:ln>
                <a:solidFill>
                  <a:srgbClr val="273239"/>
                </a:solidFill>
                <a:effectLst/>
                <a:latin typeface="Calibri"/>
                <a:ea typeface="Calibri"/>
                <a:cs typeface="Calibri"/>
              </a:rPr>
              <a:t>published it in their 1962 paper “An algorithm for the organization of information</a:t>
            </a:r>
            <a:r>
              <a:rPr lang="en-US" altLang="en-US" dirty="0">
                <a:solidFill>
                  <a:srgbClr val="273239"/>
                </a:solidFill>
                <a:latin typeface="Calibri"/>
                <a:ea typeface="Calibri"/>
                <a:cs typeface="Calibri"/>
              </a:rPr>
              <a:t>”.</a:t>
            </a:r>
            <a:endParaRPr lang="en-US" altLang="en-US" dirty="0">
              <a:solidFill>
                <a:srgbClr val="000000"/>
              </a:solidFill>
              <a:latin typeface="Calibri"/>
              <a:ea typeface="Calibri"/>
              <a:cs typeface="Calibri"/>
            </a:endParaRPr>
          </a:p>
          <a:p>
            <a:pPr marL="0" indent="0">
              <a:lnSpc>
                <a:spcPct val="100000"/>
              </a:lnSpc>
              <a:buNone/>
            </a:pPr>
            <a:endParaRPr lang="en-US" altLang="en-US" dirty="0">
              <a:solidFill>
                <a:srgbClr val="273239"/>
              </a:solidFill>
              <a:latin typeface="Calibri"/>
              <a:ea typeface="Calibri"/>
              <a:cs typeface="Calibri"/>
            </a:endParaRPr>
          </a:p>
          <a:p>
            <a:pPr marL="0" indent="0">
              <a:lnSpc>
                <a:spcPct val="100000"/>
              </a:lnSpc>
              <a:buNone/>
            </a:pPr>
            <a:r>
              <a:rPr lang="en-US" dirty="0">
                <a:solidFill>
                  <a:srgbClr val="273239"/>
                </a:solidFill>
                <a:latin typeface="Arial"/>
                <a:ea typeface="Calibri"/>
                <a:cs typeface="Arial"/>
              </a:rPr>
              <a:t>https://www.tpointtech.com/avl-tree</a:t>
            </a:r>
            <a:endParaRPr lang="en-US" dirty="0"/>
          </a:p>
          <a:p>
            <a:pPr marL="0" indent="0">
              <a:lnSpc>
                <a:spcPct val="100000"/>
              </a:lnSpc>
              <a:buNone/>
            </a:pPr>
            <a:endParaRPr lang="en-US" altLang="en-US" i="0" u="none" strike="noStrike" cap="none" normalizeH="0" baseline="0" dirty="0">
              <a:ln>
                <a:noFill/>
              </a:ln>
              <a:solidFill>
                <a:srgbClr val="273239"/>
              </a:solidFill>
              <a:effectLst/>
              <a:latin typeface="Calibri"/>
              <a:ea typeface="Calibri"/>
              <a:cs typeface="Calibri"/>
            </a:endParaRPr>
          </a:p>
        </p:txBody>
      </p:sp>
    </p:spTree>
    <p:extLst>
      <p:ext uri="{BB962C8B-B14F-4D97-AF65-F5344CB8AC3E}">
        <p14:creationId xmlns:p14="http://schemas.microsoft.com/office/powerpoint/2010/main" val="26049284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4F967-EB5B-99DD-4A59-AB34134459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A7326-FBB6-3B6E-A0E3-E642D781E527}"/>
              </a:ext>
            </a:extLst>
          </p:cNvPr>
          <p:cNvSpPr>
            <a:spLocks noGrp="1"/>
          </p:cNvSpPr>
          <p:nvPr>
            <p:ph type="title"/>
          </p:nvPr>
        </p:nvSpPr>
        <p:spPr>
          <a:xfrm>
            <a:off x="772297" y="245456"/>
            <a:ext cx="10515600" cy="1325563"/>
          </a:xfrm>
        </p:spPr>
        <p:txBody>
          <a:bodyPr>
            <a:normAutofit/>
          </a:bodyPr>
          <a:lstStyle/>
          <a:p>
            <a:pPr algn="ctr"/>
            <a:r>
              <a:rPr lang="en-US" dirty="0"/>
              <a:t>AVL Tree Data Structure</a:t>
            </a:r>
            <a:endParaRPr lang="en-US"/>
          </a:p>
        </p:txBody>
      </p:sp>
      <p:pic>
        <p:nvPicPr>
          <p:cNvPr id="5" name="Picture 4">
            <a:extLst>
              <a:ext uri="{FF2B5EF4-FFF2-40B4-BE49-F238E27FC236}">
                <a16:creationId xmlns:a16="http://schemas.microsoft.com/office/drawing/2014/main" id="{3F0F813D-31DA-147F-9866-32AAD22BFDEC}"/>
              </a:ext>
            </a:extLst>
          </p:cNvPr>
          <p:cNvPicPr>
            <a:picLocks noChangeAspect="1"/>
          </p:cNvPicPr>
          <p:nvPr/>
        </p:nvPicPr>
        <p:blipFill>
          <a:blip r:embed="rId2"/>
          <a:stretch>
            <a:fillRect/>
          </a:stretch>
        </p:blipFill>
        <p:spPr>
          <a:xfrm>
            <a:off x="1170097" y="1243223"/>
            <a:ext cx="5506244" cy="5239109"/>
          </a:xfrm>
          <a:prstGeom prst="rect">
            <a:avLst/>
          </a:prstGeom>
        </p:spPr>
      </p:pic>
      <p:sp>
        <p:nvSpPr>
          <p:cNvPr id="6" name="Rectangle 5">
            <a:extLst>
              <a:ext uri="{FF2B5EF4-FFF2-40B4-BE49-F238E27FC236}">
                <a16:creationId xmlns:a16="http://schemas.microsoft.com/office/drawing/2014/main" id="{7F99F8AB-1AE2-EAAA-DA7A-85658FC4E7E4}"/>
              </a:ext>
            </a:extLst>
          </p:cNvPr>
          <p:cNvSpPr/>
          <p:nvPr/>
        </p:nvSpPr>
        <p:spPr>
          <a:xfrm>
            <a:off x="6970084" y="2502039"/>
            <a:ext cx="5336273" cy="1815882"/>
          </a:xfrm>
          <a:prstGeom prst="rect">
            <a:avLst/>
          </a:prstGeom>
        </p:spPr>
        <p:txBody>
          <a:bodyPr wrap="square" lIns="91440" tIns="45720" rIns="91440" bIns="45720" anchor="t">
            <a:spAutoFit/>
          </a:bodyPr>
          <a:lstStyle/>
          <a:p>
            <a:r>
              <a:rPr lang="en-US" sz="2800" b="0" i="0" dirty="0">
                <a:solidFill>
                  <a:srgbClr val="273239"/>
                </a:solidFill>
                <a:effectLst/>
                <a:latin typeface="Calibri"/>
                <a:ea typeface="Calibri"/>
                <a:cs typeface="Calibri"/>
              </a:rPr>
              <a:t>The above tree is AVL because the </a:t>
            </a:r>
            <a:r>
              <a:rPr lang="en-US" sz="2800" dirty="0">
                <a:solidFill>
                  <a:srgbClr val="273239"/>
                </a:solidFill>
                <a:latin typeface="Calibri"/>
                <a:ea typeface="Calibri"/>
                <a:cs typeface="Calibri"/>
              </a:rPr>
              <a:t>differences between</a:t>
            </a:r>
            <a:r>
              <a:rPr lang="en-US" sz="2800" b="0" i="0" dirty="0">
                <a:solidFill>
                  <a:srgbClr val="273239"/>
                </a:solidFill>
                <a:effectLst/>
                <a:latin typeface="Calibri"/>
                <a:ea typeface="Calibri"/>
                <a:cs typeface="Calibri"/>
              </a:rPr>
              <a:t> the heights of left and right subtrees for every node are less than or equal to 1.</a:t>
            </a:r>
            <a:endParaRPr lang="en-US" sz="2800">
              <a:latin typeface="Calibri"/>
              <a:ea typeface="Calibri"/>
              <a:cs typeface="Calibri"/>
            </a:endParaRPr>
          </a:p>
        </p:txBody>
      </p:sp>
    </p:spTree>
    <p:extLst>
      <p:ext uri="{BB962C8B-B14F-4D97-AF65-F5344CB8AC3E}">
        <p14:creationId xmlns:p14="http://schemas.microsoft.com/office/powerpoint/2010/main" val="673651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2297" y="245456"/>
            <a:ext cx="10452538" cy="863108"/>
          </a:xfrm>
        </p:spPr>
        <p:txBody>
          <a:bodyPr/>
          <a:lstStyle/>
          <a:p>
            <a:pPr fontAlgn="base"/>
            <a:r>
              <a:rPr lang="en-US" b="1" dirty="0"/>
              <a:t>Red-Black Tree</a:t>
            </a:r>
          </a:p>
        </p:txBody>
      </p:sp>
      <p:sp>
        <p:nvSpPr>
          <p:cNvPr id="4" name="Rectangle 1"/>
          <p:cNvSpPr>
            <a:spLocks noGrp="1" noChangeArrowheads="1"/>
          </p:cNvSpPr>
          <p:nvPr>
            <p:ph idx="1"/>
          </p:nvPr>
        </p:nvSpPr>
        <p:spPr bwMode="auto">
          <a:xfrm>
            <a:off x="774286" y="973078"/>
            <a:ext cx="9259586" cy="73866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nSpc>
                <a:spcPct val="100000"/>
              </a:lnSpc>
              <a:buNone/>
            </a:pPr>
            <a:r>
              <a:rPr lang="en-US" sz="2400" dirty="0">
                <a:latin typeface="Arial"/>
                <a:cs typeface="Arial"/>
              </a:rPr>
              <a:t>A </a:t>
            </a:r>
            <a:r>
              <a:rPr lang="en-US" sz="2400" u="sng" dirty="0">
                <a:latin typeface="Arial"/>
                <a:cs typeface="Arial"/>
              </a:rPr>
              <a:t>red-black tree </a:t>
            </a:r>
            <a:r>
              <a:rPr lang="en-US" sz="2400" dirty="0">
                <a:latin typeface="Arial"/>
                <a:cs typeface="Arial"/>
              </a:rPr>
              <a:t>is a self-balancing binary search tree in which </a:t>
            </a:r>
            <a:endParaRPr lang="en-US" altLang="en-US" sz="2400" dirty="0">
              <a:latin typeface="Arial"/>
              <a:cs typeface="Arial"/>
            </a:endParaRPr>
          </a:p>
          <a:p>
            <a:pPr marL="0" indent="0">
              <a:lnSpc>
                <a:spcPct val="100000"/>
              </a:lnSpc>
              <a:buNone/>
            </a:pPr>
            <a:r>
              <a:rPr lang="en-US" sz="2400" dirty="0">
                <a:latin typeface="Arial"/>
                <a:cs typeface="Arial"/>
              </a:rPr>
              <a:t>each node of the tree has an color, which can either be red or black.</a:t>
            </a:r>
            <a:endParaRPr lang="en-US" altLang="en-US" sz="2400" b="0" u="none" strike="noStrike" cap="none" normalizeH="0" baseline="0" dirty="0">
              <a:ln>
                <a:noFill/>
              </a:ln>
              <a:effectLst/>
              <a:latin typeface="Arial"/>
              <a:cs typeface="Arial"/>
            </a:endParaRPr>
          </a:p>
        </p:txBody>
      </p:sp>
      <p:sp>
        <p:nvSpPr>
          <p:cNvPr id="6" name="Rectangle 5"/>
          <p:cNvSpPr/>
          <p:nvPr/>
        </p:nvSpPr>
        <p:spPr>
          <a:xfrm>
            <a:off x="457505" y="4180286"/>
            <a:ext cx="8830962" cy="2677656"/>
          </a:xfrm>
          <a:prstGeom prst="rect">
            <a:avLst/>
          </a:prstGeom>
        </p:spPr>
        <p:txBody>
          <a:bodyPr wrap="square" lIns="91440" tIns="45720" rIns="91440" bIns="45720" anchor="t">
            <a:spAutoFit/>
          </a:bodyPr>
          <a:lstStyle/>
          <a:p>
            <a:pPr fontAlgn="base"/>
            <a:r>
              <a:rPr lang="en-US" sz="2400" dirty="0"/>
              <a:t>Node Color: Each node is either red or black.</a:t>
            </a:r>
            <a:endParaRPr lang="en-US" sz="2400">
              <a:ea typeface="Calibri"/>
              <a:cs typeface="Calibri"/>
            </a:endParaRPr>
          </a:p>
          <a:p>
            <a:pPr fontAlgn="base"/>
            <a:r>
              <a:rPr lang="en-US" sz="2400" dirty="0"/>
              <a:t>Root Property: The root of the tree is always black.</a:t>
            </a:r>
            <a:endParaRPr lang="en-US" sz="2400">
              <a:ea typeface="Calibri"/>
              <a:cs typeface="Calibri"/>
            </a:endParaRPr>
          </a:p>
          <a:p>
            <a:pPr fontAlgn="base"/>
            <a:r>
              <a:rPr lang="en-US" sz="2400" dirty="0"/>
              <a:t>Red Property: Red nodes cannot have red children (no two consecutive red nodes on any path).</a:t>
            </a:r>
            <a:endParaRPr lang="en-US" sz="2400">
              <a:ea typeface="Calibri"/>
              <a:cs typeface="Calibri"/>
            </a:endParaRPr>
          </a:p>
          <a:p>
            <a:pPr fontAlgn="base"/>
            <a:r>
              <a:rPr lang="en-US" sz="2400" dirty="0"/>
              <a:t>Black Property: Every path from a node to its descendant null nodes (leaves) has the same number of black nodes.</a:t>
            </a:r>
            <a:endParaRPr lang="en-US" sz="2400">
              <a:ea typeface="Calibri"/>
              <a:cs typeface="Calibri"/>
            </a:endParaRPr>
          </a:p>
          <a:p>
            <a:pPr fontAlgn="base"/>
            <a:r>
              <a:rPr lang="en-US" sz="2400" dirty="0"/>
              <a:t>Leaf Property: All leaves (null nodes) are black.</a:t>
            </a:r>
            <a:endParaRPr lang="en-US" sz="2400" dirty="0">
              <a:ea typeface="Calibri"/>
              <a:cs typeface="Calibri"/>
            </a:endParaRPr>
          </a:p>
        </p:txBody>
      </p:sp>
      <p:pic>
        <p:nvPicPr>
          <p:cNvPr id="3" name="Picture 2"/>
          <p:cNvPicPr>
            <a:picLocks noChangeAspect="1"/>
          </p:cNvPicPr>
          <p:nvPr/>
        </p:nvPicPr>
        <p:blipFill>
          <a:blip r:embed="rId2"/>
          <a:stretch>
            <a:fillRect/>
          </a:stretch>
        </p:blipFill>
        <p:spPr>
          <a:xfrm>
            <a:off x="2943877" y="1711927"/>
            <a:ext cx="5311855" cy="2401005"/>
          </a:xfrm>
          <a:prstGeom prst="rect">
            <a:avLst/>
          </a:prstGeom>
        </p:spPr>
      </p:pic>
    </p:spTree>
    <p:extLst>
      <p:ext uri="{BB962C8B-B14F-4D97-AF65-F5344CB8AC3E}">
        <p14:creationId xmlns:p14="http://schemas.microsoft.com/office/powerpoint/2010/main" val="1242701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2590</Words>
  <Application>Microsoft Office PowerPoint</Application>
  <PresentationFormat>Widescreen</PresentationFormat>
  <Paragraphs>216</Paragraphs>
  <Slides>42</Slides>
  <Notes>16</Notes>
  <HiddenSlides>0</HiddenSlides>
  <MMClips>0</MMClips>
  <ScaleCrop>false</ScaleCrop>
  <HeadingPairs>
    <vt:vector size="4" baseType="variant">
      <vt:variant>
        <vt:lpstr>Theme</vt:lpstr>
      </vt:variant>
      <vt:variant>
        <vt:i4>1</vt:i4>
      </vt:variant>
      <vt:variant>
        <vt:lpstr>Slide Titles</vt:lpstr>
      </vt:variant>
      <vt:variant>
        <vt:i4>42</vt:i4>
      </vt:variant>
    </vt:vector>
  </HeadingPairs>
  <TitlesOfParts>
    <vt:vector size="43" baseType="lpstr">
      <vt:lpstr>Office Theme</vt:lpstr>
      <vt:lpstr>Data structure</vt:lpstr>
      <vt:lpstr>Uses of Tree Data Structure: </vt:lpstr>
      <vt:lpstr>Logic of Tree</vt:lpstr>
      <vt:lpstr>Tree Definition</vt:lpstr>
      <vt:lpstr>Tree terminology...</vt:lpstr>
      <vt:lpstr>2. Edge</vt:lpstr>
      <vt:lpstr>3. Parent</vt:lpstr>
      <vt:lpstr>4. Child</vt:lpstr>
      <vt:lpstr>5. Siblings</vt:lpstr>
      <vt:lpstr>6. Leaf Node</vt:lpstr>
      <vt:lpstr>7. Internal Nodes</vt:lpstr>
      <vt:lpstr>8. Degree</vt:lpstr>
      <vt:lpstr>9. Level</vt:lpstr>
      <vt:lpstr>10. Height</vt:lpstr>
      <vt:lpstr>11. Depth</vt:lpstr>
      <vt:lpstr>12. Path</vt:lpstr>
      <vt:lpstr>13. Sub Tree</vt:lpstr>
      <vt:lpstr>Advantages of Tree</vt:lpstr>
      <vt:lpstr>Disadvantages of Tree:</vt:lpstr>
      <vt:lpstr>Type of Trees</vt:lpstr>
      <vt:lpstr>General Tree </vt:lpstr>
      <vt:lpstr> Binary tree </vt:lpstr>
      <vt:lpstr>Representation of Binary Tree</vt:lpstr>
      <vt:lpstr>Representation of Binary Tree</vt:lpstr>
      <vt:lpstr>Array Representation</vt:lpstr>
      <vt:lpstr>Linked Representation</vt:lpstr>
      <vt:lpstr>Binary Tree Types</vt:lpstr>
      <vt:lpstr>Extended Binary Tree </vt:lpstr>
      <vt:lpstr>Complete Binary Tree </vt:lpstr>
      <vt:lpstr>Full Binary Tree </vt:lpstr>
      <vt:lpstr>Skewed Binary Tree</vt:lpstr>
      <vt:lpstr>  Strictly Binary Tree </vt:lpstr>
      <vt:lpstr>Expression Binary tree</vt:lpstr>
      <vt:lpstr>PowerPoint Presentation</vt:lpstr>
      <vt:lpstr>Insert a new node in Binary Search Tree </vt:lpstr>
      <vt:lpstr>Binary Tree Traversal</vt:lpstr>
      <vt:lpstr>Binary Tree Traversal</vt:lpstr>
      <vt:lpstr>Binary Tree Traversal</vt:lpstr>
      <vt:lpstr> Binary Search Tree</vt:lpstr>
      <vt:lpstr>AVL Tree Data Structure</vt:lpstr>
      <vt:lpstr>AVL Tree Data Structure</vt:lpstr>
      <vt:lpstr>Red-Black Tree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Manisha Chakraburtty</cp:lastModifiedBy>
  <cp:revision>109</cp:revision>
  <dcterms:created xsi:type="dcterms:W3CDTF">2025-01-05T17:26:36Z</dcterms:created>
  <dcterms:modified xsi:type="dcterms:W3CDTF">2025-03-31T20:42:37Z</dcterms:modified>
</cp:coreProperties>
</file>