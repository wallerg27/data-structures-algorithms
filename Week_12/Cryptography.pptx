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60" r:id="rId2"/>
    <p:sldId id="256" r:id="rId3"/>
    <p:sldId id="257" r:id="rId4"/>
    <p:sldId id="258" r:id="rId5"/>
    <p:sldId id="259" r:id="rId6"/>
    <p:sldId id="261" r:id="rId7"/>
    <p:sldId id="262" r:id="rId8"/>
    <p:sldId id="265" r:id="rId9"/>
    <p:sldId id="263" r:id="rId10"/>
    <p:sldId id="264" r:id="rId11"/>
    <p:sldId id="266" r:id="rId12"/>
    <p:sldId id="267" r:id="rId13"/>
    <p:sldId id="268" r:id="rId14"/>
    <p:sldId id="283" r:id="rId15"/>
    <p:sldId id="284" r:id="rId16"/>
    <p:sldId id="278" r:id="rId17"/>
    <p:sldId id="279" r:id="rId18"/>
    <p:sldId id="277" r:id="rId19"/>
    <p:sldId id="280" r:id="rId20"/>
    <p:sldId id="282" r:id="rId21"/>
    <p:sldId id="285" r:id="rId22"/>
    <p:sldId id="269" r:id="rId23"/>
    <p:sldId id="271" r:id="rId24"/>
    <p:sldId id="272" r:id="rId25"/>
    <p:sldId id="274" r:id="rId26"/>
    <p:sldId id="273" r:id="rId27"/>
    <p:sldId id="288" r:id="rId28"/>
    <p:sldId id="270" r:id="rId29"/>
    <p:sldId id="28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60F5D8-83B3-2639-DBB3-004EC3AA46D9}" v="998" dt="2025-02-05T22:47:06.994"/>
    <p1510:client id="{A62ECEC2-3D40-918A-31B3-93EE60C6365B}" v="1377" dt="2025-02-05T23:46:25.448"/>
    <p1510:client id="{B0C79208-52F8-3FA6-44A6-4AD61D6513A7}" v="449" dt="2025-02-05T21:36:00.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3286" autoAdjust="0"/>
  </p:normalViewPr>
  <p:slideViewPr>
    <p:cSldViewPr snapToGrid="0">
      <p:cViewPr varScale="1">
        <p:scale>
          <a:sx n="69" d="100"/>
          <a:sy n="69" d="100"/>
        </p:scale>
        <p:origin x="567" y="51"/>
      </p:cViewPr>
      <p:guideLst/>
    </p:cSldViewPr>
  </p:slideViewPr>
  <p:notesTextViewPr>
    <p:cViewPr>
      <p:scale>
        <a:sx n="1" d="1"/>
        <a:sy n="1" d="1"/>
      </p:scale>
      <p:origin x="0" y="0"/>
    </p:cViewPr>
  </p:notesTextViewPr>
  <p:sorterViewPr>
    <p:cViewPr>
      <p:scale>
        <a:sx n="100" d="100"/>
        <a:sy n="100" d="100"/>
      </p:scale>
      <p:origin x="0" y="-482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9A4E96-ADA2-44CF-B4E2-D5A1E2A2AE60}" type="datetimeFigureOut">
              <a:rPr lang="en-US" smtClean="0"/>
              <a:t>4/1/2026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3FAEA-5AA4-4E44-8464-6793F6C1559B}" type="slidenum">
              <a:rPr lang="en-US" smtClean="0"/>
              <a:t>‹#›</a:t>
            </a:fld>
            <a:endParaRPr lang="en-US" dirty="0"/>
          </a:p>
        </p:txBody>
      </p:sp>
    </p:spTree>
    <p:extLst>
      <p:ext uri="{BB962C8B-B14F-4D97-AF65-F5344CB8AC3E}">
        <p14:creationId xmlns:p14="http://schemas.microsoft.com/office/powerpoint/2010/main" val="3851321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lvl1pPr defTabSz="989013" eaLnBrk="0" hangingPunct="0">
              <a:defRPr sz="2400">
                <a:solidFill>
                  <a:schemeClr val="tx1"/>
                </a:solidFill>
                <a:latin typeface="Times New Roman" panose="02020603050405020304" pitchFamily="18" charset="0"/>
                <a:cs typeface="Arial" panose="020B0604020202020204" pitchFamily="34" charset="0"/>
              </a:defRPr>
            </a:lvl1pPr>
            <a:lvl2pPr marL="742950" indent="-285750" defTabSz="989013" eaLnBrk="0" hangingPunct="0">
              <a:defRPr sz="2400">
                <a:solidFill>
                  <a:schemeClr val="tx1"/>
                </a:solidFill>
                <a:latin typeface="Times New Roman" panose="02020603050405020304" pitchFamily="18" charset="0"/>
                <a:cs typeface="Arial" panose="020B0604020202020204" pitchFamily="34" charset="0"/>
              </a:defRPr>
            </a:lvl2pPr>
            <a:lvl3pPr marL="1143000" indent="-228600" defTabSz="989013" eaLnBrk="0" hangingPunct="0">
              <a:defRPr sz="2400">
                <a:solidFill>
                  <a:schemeClr val="tx1"/>
                </a:solidFill>
                <a:latin typeface="Times New Roman" panose="02020603050405020304" pitchFamily="18" charset="0"/>
                <a:cs typeface="Arial" panose="020B0604020202020204" pitchFamily="34" charset="0"/>
              </a:defRPr>
            </a:lvl3pPr>
            <a:lvl4pPr marL="1600200" indent="-228600" defTabSz="989013" eaLnBrk="0" hangingPunct="0">
              <a:defRPr sz="2400">
                <a:solidFill>
                  <a:schemeClr val="tx1"/>
                </a:solidFill>
                <a:latin typeface="Times New Roman" panose="02020603050405020304" pitchFamily="18" charset="0"/>
                <a:cs typeface="Arial" panose="020B0604020202020204" pitchFamily="34" charset="0"/>
              </a:defRPr>
            </a:lvl4pPr>
            <a:lvl5pPr marL="2057400" indent="-228600" defTabSz="989013" eaLnBrk="0" hangingPunct="0">
              <a:defRPr sz="2400">
                <a:solidFill>
                  <a:schemeClr val="tx1"/>
                </a:solidFill>
                <a:latin typeface="Times New Roman" panose="02020603050405020304" pitchFamily="18" charset="0"/>
                <a:cs typeface="Arial" panose="020B0604020202020204" pitchFamily="34" charset="0"/>
              </a:defRPr>
            </a:lvl5pPr>
            <a:lvl6pPr marL="2514600" indent="-228600" defTabSz="989013"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defTabSz="989013"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defTabSz="989013"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defTabSz="989013"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1A9FF43A-9BF9-4D3F-9FAE-488D13C8CDA9}" type="slidenum">
              <a:rPr lang="en-US" altLang="en-US" sz="1300"/>
              <a:pPr eaLnBrk="1" hangingPunct="1"/>
              <a:t>15</a:t>
            </a:fld>
            <a:endParaRPr lang="en-US" altLang="en-US" sz="1300" dirty="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47" tIns="48324" rIns="96647" bIns="48324"/>
          <a:lstStyle/>
          <a:p>
            <a:r>
              <a:rPr lang="en-US" altLang="en-US" dirty="0"/>
              <a:t>The signature size is reduced by almost a factor a 2.</a:t>
            </a:r>
          </a:p>
        </p:txBody>
      </p:sp>
    </p:spTree>
    <p:extLst>
      <p:ext uri="{BB962C8B-B14F-4D97-AF65-F5344CB8AC3E}">
        <p14:creationId xmlns:p14="http://schemas.microsoft.com/office/powerpoint/2010/main" val="3246586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03FAEA-5AA4-4E44-8464-6793F6C1559B}" type="slidenum">
              <a:rPr lang="en-US" smtClean="0"/>
              <a:t>26</a:t>
            </a:fld>
            <a:endParaRPr lang="en-US" dirty="0"/>
          </a:p>
        </p:txBody>
      </p:sp>
    </p:spTree>
    <p:extLst>
      <p:ext uri="{BB962C8B-B14F-4D97-AF65-F5344CB8AC3E}">
        <p14:creationId xmlns:p14="http://schemas.microsoft.com/office/powerpoint/2010/main" val="933183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dirty="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be3DJEaOYf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FBC3A-20AB-DC74-F8F9-EB4E88840FC2}"/>
              </a:ext>
            </a:extLst>
          </p:cNvPr>
          <p:cNvSpPr>
            <a:spLocks noGrp="1"/>
          </p:cNvSpPr>
          <p:nvPr>
            <p:ph type="title"/>
          </p:nvPr>
        </p:nvSpPr>
        <p:spPr>
          <a:xfrm>
            <a:off x="346881" y="860994"/>
            <a:ext cx="10515600" cy="585669"/>
          </a:xfrm>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Cryptography</a:t>
            </a:r>
          </a:p>
        </p:txBody>
      </p:sp>
      <p:sp>
        <p:nvSpPr>
          <p:cNvPr id="3" name="Content Placeholder 2">
            <a:extLst>
              <a:ext uri="{FF2B5EF4-FFF2-40B4-BE49-F238E27FC236}">
                <a16:creationId xmlns:a16="http://schemas.microsoft.com/office/drawing/2014/main" id="{2CD193F5-7329-681A-1792-42928596723F}"/>
              </a:ext>
            </a:extLst>
          </p:cNvPr>
          <p:cNvSpPr>
            <a:spLocks noGrp="1"/>
          </p:cNvSpPr>
          <p:nvPr>
            <p:ph idx="1"/>
          </p:nvPr>
        </p:nvSpPr>
        <p:spPr>
          <a:xfrm>
            <a:off x="553177" y="1971045"/>
            <a:ext cx="10515600" cy="4386239"/>
          </a:xfrm>
        </p:spPr>
        <p:txBody>
          <a:bodyPr vert="horz" lIns="91440" tIns="45720" rIns="91440" bIns="45720" rtlCol="0" anchor="t">
            <a:normAutofit/>
          </a:bodyPr>
          <a:lstStyle/>
          <a:p>
            <a:r>
              <a:rPr lang="en-US" dirty="0">
                <a:latin typeface="Calibri"/>
                <a:ea typeface="Calibri"/>
                <a:cs typeface="Calibri"/>
              </a:rPr>
              <a:t>In internet when you send data from server to client or from server to server anyone in the middle can check the data.</a:t>
            </a:r>
            <a:br>
              <a:rPr lang="en-US" dirty="0">
                <a:latin typeface="Calibri"/>
                <a:ea typeface="Calibri"/>
                <a:cs typeface="Calibri"/>
              </a:rPr>
            </a:br>
            <a:br>
              <a:rPr lang="en-US" dirty="0">
                <a:latin typeface="Calibri"/>
                <a:ea typeface="Calibri"/>
                <a:cs typeface="Calibri"/>
              </a:rPr>
            </a:br>
            <a:r>
              <a:rPr lang="en-US" dirty="0">
                <a:latin typeface="Calibri"/>
                <a:ea typeface="Calibri"/>
                <a:cs typeface="Calibri"/>
              </a:rPr>
              <a:t>Man in the middle attack-They can not only see your data (passive attack), they can modify your data (active attack).</a:t>
            </a:r>
          </a:p>
          <a:p>
            <a:endParaRPr lang="en-US" dirty="0">
              <a:latin typeface="Calibri"/>
              <a:ea typeface="Calibri"/>
              <a:cs typeface="Calibri"/>
            </a:endParaRPr>
          </a:p>
          <a:p>
            <a:r>
              <a:rPr lang="en-US" dirty="0">
                <a:latin typeface="Calibri"/>
                <a:ea typeface="Calibri"/>
                <a:cs typeface="Calibri"/>
              </a:rPr>
              <a:t>We need to do something so the other person can not read or modify your data</a:t>
            </a:r>
          </a:p>
          <a:p>
            <a:endParaRPr lang="en-US" dirty="0">
              <a:latin typeface="Calibri"/>
              <a:ea typeface="Calibri"/>
              <a:cs typeface="Calibri"/>
            </a:endParaRPr>
          </a:p>
          <a:p>
            <a:endParaRPr lang="en-US" dirty="0"/>
          </a:p>
        </p:txBody>
      </p:sp>
    </p:spTree>
    <p:extLst>
      <p:ext uri="{BB962C8B-B14F-4D97-AF65-F5344CB8AC3E}">
        <p14:creationId xmlns:p14="http://schemas.microsoft.com/office/powerpoint/2010/main" val="3610907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1458" y="1552691"/>
            <a:ext cx="10218208" cy="1152526"/>
          </a:xfrm>
        </p:spPr>
        <p:txBody>
          <a:bodyPr vert="horz" lIns="91440" tIns="45720" rIns="91440" bIns="45720" rtlCol="0" anchor="b">
            <a:noAutofit/>
          </a:bodyPr>
          <a:lstStyle/>
          <a:p>
            <a:r>
              <a:rPr lang="en-US" sz="2800" dirty="0">
                <a:latin typeface="Calibri"/>
                <a:ea typeface="Calibri"/>
                <a:cs typeface="Calibri"/>
              </a:rPr>
              <a:t>Encryption is the process when you convert your plain text to cipher text and decryption is when you change your cipher text to plain text</a:t>
            </a:r>
          </a:p>
        </p:txBody>
      </p:sp>
      <p:sp>
        <p:nvSpPr>
          <p:cNvPr id="5" name="Title 1">
            <a:extLst>
              <a:ext uri="{FF2B5EF4-FFF2-40B4-BE49-F238E27FC236}">
                <a16:creationId xmlns:a16="http://schemas.microsoft.com/office/drawing/2014/main" id="{68A3C8D3-A4D2-36F1-2919-9DDEBF5849B3}"/>
              </a:ext>
            </a:extLst>
          </p:cNvPr>
          <p:cNvSpPr txBox="1">
            <a:spLocks/>
          </p:cNvSpPr>
          <p:nvPr/>
        </p:nvSpPr>
        <p:spPr>
          <a:xfrm>
            <a:off x="660400" y="794924"/>
            <a:ext cx="10218208" cy="41698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In cryptography we use the concept of encryption and decryption</a:t>
            </a:r>
          </a:p>
        </p:txBody>
      </p:sp>
      <p:grpSp>
        <p:nvGrpSpPr>
          <p:cNvPr id="17" name="Group 16">
            <a:extLst>
              <a:ext uri="{FF2B5EF4-FFF2-40B4-BE49-F238E27FC236}">
                <a16:creationId xmlns:a16="http://schemas.microsoft.com/office/drawing/2014/main" id="{ED3BBDF8-B91D-B142-8DE7-A37727C05D02}"/>
              </a:ext>
            </a:extLst>
          </p:cNvPr>
          <p:cNvGrpSpPr/>
          <p:nvPr/>
        </p:nvGrpSpPr>
        <p:grpSpPr>
          <a:xfrm>
            <a:off x="1934451" y="3429802"/>
            <a:ext cx="7665609" cy="1140092"/>
            <a:chOff x="1532777" y="3429802"/>
            <a:chExt cx="7665609" cy="1140092"/>
          </a:xfrm>
        </p:grpSpPr>
        <p:pic>
          <p:nvPicPr>
            <p:cNvPr id="7" name="Graphic 6" descr="Computer with solid fill">
              <a:extLst>
                <a:ext uri="{FF2B5EF4-FFF2-40B4-BE49-F238E27FC236}">
                  <a16:creationId xmlns:a16="http://schemas.microsoft.com/office/drawing/2014/main" id="{FE5B6942-7F0F-19C9-4A81-77182682E1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48233" y="3655494"/>
              <a:ext cx="914400" cy="914400"/>
            </a:xfrm>
            <a:prstGeom prst="rect">
              <a:avLst/>
            </a:prstGeom>
          </p:spPr>
        </p:pic>
        <p:pic>
          <p:nvPicPr>
            <p:cNvPr id="8" name="Graphic 7" descr="Computer with solid fill">
              <a:extLst>
                <a:ext uri="{FF2B5EF4-FFF2-40B4-BE49-F238E27FC236}">
                  <a16:creationId xmlns:a16="http://schemas.microsoft.com/office/drawing/2014/main" id="{EA47CE7A-346B-DB72-B2A6-8728B19502F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852446" y="3655494"/>
              <a:ext cx="914400" cy="914400"/>
            </a:xfrm>
            <a:prstGeom prst="rect">
              <a:avLst/>
            </a:prstGeom>
          </p:spPr>
        </p:pic>
        <p:pic>
          <p:nvPicPr>
            <p:cNvPr id="9" name="Graphic 8" descr="Computer with solid fill">
              <a:extLst>
                <a:ext uri="{FF2B5EF4-FFF2-40B4-BE49-F238E27FC236}">
                  <a16:creationId xmlns:a16="http://schemas.microsoft.com/office/drawing/2014/main" id="{FA8978F8-401F-8AFE-FAE5-01A564B7A4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5239" y="3654898"/>
              <a:ext cx="914400" cy="914400"/>
            </a:xfrm>
            <a:prstGeom prst="rect">
              <a:avLst/>
            </a:prstGeom>
          </p:spPr>
        </p:pic>
        <p:cxnSp>
          <p:nvCxnSpPr>
            <p:cNvPr id="10" name="Straight Arrow Connector 9">
              <a:extLst>
                <a:ext uri="{FF2B5EF4-FFF2-40B4-BE49-F238E27FC236}">
                  <a16:creationId xmlns:a16="http://schemas.microsoft.com/office/drawing/2014/main" id="{BCF46CDE-B44E-C9FB-E5BC-364F201A25D0}"/>
                </a:ext>
              </a:extLst>
            </p:cNvPr>
            <p:cNvCxnSpPr/>
            <p:nvPr/>
          </p:nvCxnSpPr>
          <p:spPr>
            <a:xfrm>
              <a:off x="2837289" y="4030617"/>
              <a:ext cx="1668923" cy="5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C329380-22E3-E179-7DDF-8ACBE21515B0}"/>
                </a:ext>
              </a:extLst>
            </p:cNvPr>
            <p:cNvCxnSpPr>
              <a:cxnSpLocks/>
            </p:cNvCxnSpPr>
            <p:nvPr/>
          </p:nvCxnSpPr>
          <p:spPr>
            <a:xfrm>
              <a:off x="6207887" y="4077762"/>
              <a:ext cx="1668923" cy="5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679E648-BB12-CA0C-8038-BCAEE3EBB55C}"/>
                </a:ext>
              </a:extLst>
            </p:cNvPr>
            <p:cNvSpPr txBox="1"/>
            <p:nvPr/>
          </p:nvSpPr>
          <p:spPr>
            <a:xfrm>
              <a:off x="1532777" y="3429802"/>
              <a:ext cx="1152456" cy="371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sp>
          <p:nvSpPr>
            <p:cNvPr id="13" name="TextBox 12">
              <a:extLst>
                <a:ext uri="{FF2B5EF4-FFF2-40B4-BE49-F238E27FC236}">
                  <a16:creationId xmlns:a16="http://schemas.microsoft.com/office/drawing/2014/main" id="{80E796C9-E03B-43BB-D87F-ACF431860676}"/>
                </a:ext>
              </a:extLst>
            </p:cNvPr>
            <p:cNvSpPr txBox="1"/>
            <p:nvPr/>
          </p:nvSpPr>
          <p:spPr>
            <a:xfrm>
              <a:off x="4736514" y="3429802"/>
              <a:ext cx="14639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Cipher text </a:t>
              </a:r>
            </a:p>
          </p:txBody>
        </p:sp>
        <p:sp>
          <p:nvSpPr>
            <p:cNvPr id="14" name="TextBox 13">
              <a:extLst>
                <a:ext uri="{FF2B5EF4-FFF2-40B4-BE49-F238E27FC236}">
                  <a16:creationId xmlns:a16="http://schemas.microsoft.com/office/drawing/2014/main" id="{81FAFB01-E404-3E3A-D2B5-75C15CFD4C15}"/>
                </a:ext>
              </a:extLst>
            </p:cNvPr>
            <p:cNvSpPr txBox="1"/>
            <p:nvPr/>
          </p:nvSpPr>
          <p:spPr>
            <a:xfrm>
              <a:off x="8045930" y="3429802"/>
              <a:ext cx="1152456" cy="371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sp>
          <p:nvSpPr>
            <p:cNvPr id="15" name="TextBox 14">
              <a:extLst>
                <a:ext uri="{FF2B5EF4-FFF2-40B4-BE49-F238E27FC236}">
                  <a16:creationId xmlns:a16="http://schemas.microsoft.com/office/drawing/2014/main" id="{CB3EA27C-22FE-0583-8AE5-D02AE5006430}"/>
                </a:ext>
              </a:extLst>
            </p:cNvPr>
            <p:cNvSpPr txBox="1"/>
            <p:nvPr/>
          </p:nvSpPr>
          <p:spPr>
            <a:xfrm>
              <a:off x="2801188" y="3597545"/>
              <a:ext cx="18127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Encryption key</a:t>
              </a:r>
            </a:p>
          </p:txBody>
        </p:sp>
        <p:sp>
          <p:nvSpPr>
            <p:cNvPr id="16" name="TextBox 15">
              <a:extLst>
                <a:ext uri="{FF2B5EF4-FFF2-40B4-BE49-F238E27FC236}">
                  <a16:creationId xmlns:a16="http://schemas.microsoft.com/office/drawing/2014/main" id="{6583F38A-069A-21D6-61AE-D9AD17A7DA30}"/>
                </a:ext>
              </a:extLst>
            </p:cNvPr>
            <p:cNvSpPr txBox="1"/>
            <p:nvPr/>
          </p:nvSpPr>
          <p:spPr>
            <a:xfrm>
              <a:off x="6189443" y="3599136"/>
              <a:ext cx="17377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Decryption key </a:t>
              </a:r>
            </a:p>
          </p:txBody>
        </p:sp>
      </p:gr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6DD38-4551-C3DA-F9AF-8BF9159E25DB}"/>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E6ABE9BB-1861-FD4A-DDF4-1D1F4F741A56}"/>
              </a:ext>
            </a:extLst>
          </p:cNvPr>
          <p:cNvGrpSpPr/>
          <p:nvPr/>
        </p:nvGrpSpPr>
        <p:grpSpPr>
          <a:xfrm>
            <a:off x="1474171" y="1412479"/>
            <a:ext cx="8937149" cy="2018446"/>
            <a:chOff x="1527088" y="983854"/>
            <a:chExt cx="8937149" cy="2018446"/>
          </a:xfrm>
        </p:grpSpPr>
        <p:grpSp>
          <p:nvGrpSpPr>
            <p:cNvPr id="24" name="Group 23">
              <a:extLst>
                <a:ext uri="{FF2B5EF4-FFF2-40B4-BE49-F238E27FC236}">
                  <a16:creationId xmlns:a16="http://schemas.microsoft.com/office/drawing/2014/main" id="{6114E8A5-D2AB-1AA4-689C-E91E0B56BA93}"/>
                </a:ext>
              </a:extLst>
            </p:cNvPr>
            <p:cNvGrpSpPr/>
            <p:nvPr/>
          </p:nvGrpSpPr>
          <p:grpSpPr>
            <a:xfrm>
              <a:off x="1527088" y="983854"/>
              <a:ext cx="3710772" cy="1911203"/>
              <a:chOff x="499107" y="1048552"/>
              <a:chExt cx="3710772" cy="1911203"/>
            </a:xfrm>
          </p:grpSpPr>
          <p:pic>
            <p:nvPicPr>
              <p:cNvPr id="7" name="Graphic 6" descr="Computer with solid fill">
                <a:extLst>
                  <a:ext uri="{FF2B5EF4-FFF2-40B4-BE49-F238E27FC236}">
                    <a16:creationId xmlns:a16="http://schemas.microsoft.com/office/drawing/2014/main" id="{A1BE2643-12A5-E471-6FEE-636329EB552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1189" y="2045355"/>
                <a:ext cx="914400" cy="914400"/>
              </a:xfrm>
              <a:prstGeom prst="rect">
                <a:avLst/>
              </a:prstGeom>
            </p:spPr>
          </p:pic>
          <p:cxnSp>
            <p:nvCxnSpPr>
              <p:cNvPr id="10" name="Straight Arrow Connector 9">
                <a:extLst>
                  <a:ext uri="{FF2B5EF4-FFF2-40B4-BE49-F238E27FC236}">
                    <a16:creationId xmlns:a16="http://schemas.microsoft.com/office/drawing/2014/main" id="{0DBDB222-EB4A-F186-BABD-CC9FEFA239D3}"/>
                  </a:ext>
                </a:extLst>
              </p:cNvPr>
              <p:cNvCxnSpPr/>
              <p:nvPr/>
            </p:nvCxnSpPr>
            <p:spPr>
              <a:xfrm flipV="1">
                <a:off x="2302831" y="2570393"/>
                <a:ext cx="1907048" cy="31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A6318F7-430E-5F65-3D82-8A5A37EC052A}"/>
                  </a:ext>
                </a:extLst>
              </p:cNvPr>
              <p:cNvSpPr txBox="1"/>
              <p:nvPr/>
            </p:nvSpPr>
            <p:spPr>
              <a:xfrm>
                <a:off x="499107" y="1673889"/>
                <a:ext cx="1152456" cy="371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grpSp>
            <p:nvGrpSpPr>
              <p:cNvPr id="20" name="Group 19">
                <a:extLst>
                  <a:ext uri="{FF2B5EF4-FFF2-40B4-BE49-F238E27FC236}">
                    <a16:creationId xmlns:a16="http://schemas.microsoft.com/office/drawing/2014/main" id="{981881B8-F3A6-284A-3039-FF795D4B111E}"/>
                  </a:ext>
                </a:extLst>
              </p:cNvPr>
              <p:cNvGrpSpPr/>
              <p:nvPr/>
            </p:nvGrpSpPr>
            <p:grpSpPr>
              <a:xfrm>
                <a:off x="2201805" y="1048552"/>
                <a:ext cx="1463930" cy="1325301"/>
                <a:chOff x="5191597" y="4567510"/>
                <a:chExt cx="1463930" cy="1325301"/>
              </a:xfrm>
            </p:grpSpPr>
            <p:pic>
              <p:nvPicPr>
                <p:cNvPr id="8" name="Graphic 7" descr="Computer with solid fill">
                  <a:extLst>
                    <a:ext uri="{FF2B5EF4-FFF2-40B4-BE49-F238E27FC236}">
                      <a16:creationId xmlns:a16="http://schemas.microsoft.com/office/drawing/2014/main" id="{42775F0E-5AE5-01E8-344F-6F8AE972EFA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71571" y="4978411"/>
                  <a:ext cx="914400" cy="914400"/>
                </a:xfrm>
                <a:prstGeom prst="rect">
                  <a:avLst/>
                </a:prstGeom>
              </p:spPr>
            </p:pic>
            <p:sp>
              <p:nvSpPr>
                <p:cNvPr id="13" name="TextBox 12">
                  <a:extLst>
                    <a:ext uri="{FF2B5EF4-FFF2-40B4-BE49-F238E27FC236}">
                      <a16:creationId xmlns:a16="http://schemas.microsoft.com/office/drawing/2014/main" id="{E988DB6A-2945-866E-6D41-3C49E9A5FE41}"/>
                    </a:ext>
                  </a:extLst>
                </p:cNvPr>
                <p:cNvSpPr txBox="1"/>
                <p:nvPr/>
              </p:nvSpPr>
              <p:spPr>
                <a:xfrm>
                  <a:off x="5191597" y="4567510"/>
                  <a:ext cx="14639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Cipher text </a:t>
                  </a:r>
                </a:p>
              </p:txBody>
            </p:sp>
          </p:grpSp>
          <p:sp>
            <p:nvSpPr>
              <p:cNvPr id="15" name="TextBox 14">
                <a:extLst>
                  <a:ext uri="{FF2B5EF4-FFF2-40B4-BE49-F238E27FC236}">
                    <a16:creationId xmlns:a16="http://schemas.microsoft.com/office/drawing/2014/main" id="{A44C3262-CF7F-9A56-35E0-E07308A8E7A4}"/>
                  </a:ext>
                </a:extLst>
              </p:cNvPr>
              <p:cNvSpPr txBox="1"/>
              <p:nvPr/>
            </p:nvSpPr>
            <p:spPr>
              <a:xfrm>
                <a:off x="2303771" y="2211128"/>
                <a:ext cx="19061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Encryption Key</a:t>
                </a:r>
              </a:p>
            </p:txBody>
          </p:sp>
          <p:pic>
            <p:nvPicPr>
              <p:cNvPr id="17" name="Graphic 16" descr="Man with solid fill">
                <a:extLst>
                  <a:ext uri="{FF2B5EF4-FFF2-40B4-BE49-F238E27FC236}">
                    <a16:creationId xmlns:a16="http://schemas.microsoft.com/office/drawing/2014/main" id="{91D2DEC0-DFB1-BA25-B1DA-EBF63E74DF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4559" y="1936726"/>
                <a:ext cx="914400" cy="914400"/>
              </a:xfrm>
              <a:prstGeom prst="rect">
                <a:avLst/>
              </a:prstGeom>
            </p:spPr>
          </p:pic>
        </p:grpSp>
        <p:grpSp>
          <p:nvGrpSpPr>
            <p:cNvPr id="2" name="Group 1">
              <a:extLst>
                <a:ext uri="{FF2B5EF4-FFF2-40B4-BE49-F238E27FC236}">
                  <a16:creationId xmlns:a16="http://schemas.microsoft.com/office/drawing/2014/main" id="{094352C8-AEEC-F9F5-064D-F9BD5FB29AF4}"/>
                </a:ext>
              </a:extLst>
            </p:cNvPr>
            <p:cNvGrpSpPr/>
            <p:nvPr/>
          </p:nvGrpSpPr>
          <p:grpSpPr>
            <a:xfrm>
              <a:off x="6729611" y="1816076"/>
              <a:ext cx="3734626" cy="1186224"/>
              <a:chOff x="7274653" y="1482701"/>
              <a:chExt cx="3734626" cy="1186224"/>
            </a:xfrm>
          </p:grpSpPr>
          <p:cxnSp>
            <p:nvCxnSpPr>
              <p:cNvPr id="11" name="Straight Arrow Connector 10">
                <a:extLst>
                  <a:ext uri="{FF2B5EF4-FFF2-40B4-BE49-F238E27FC236}">
                    <a16:creationId xmlns:a16="http://schemas.microsoft.com/office/drawing/2014/main" id="{5C629B6B-0BD3-8D67-725D-038AF58001E6}"/>
                  </a:ext>
                </a:extLst>
              </p:cNvPr>
              <p:cNvCxnSpPr>
                <a:cxnSpLocks/>
              </p:cNvCxnSpPr>
              <p:nvPr/>
            </p:nvCxnSpPr>
            <p:spPr>
              <a:xfrm>
                <a:off x="8186035" y="2277618"/>
                <a:ext cx="1668923" cy="5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315F159B-1A35-56EB-1A1E-6A93F7D1DCCB}"/>
                  </a:ext>
                </a:extLst>
              </p:cNvPr>
              <p:cNvGrpSpPr/>
              <p:nvPr/>
            </p:nvGrpSpPr>
            <p:grpSpPr>
              <a:xfrm>
                <a:off x="9856823" y="1529429"/>
                <a:ext cx="1152456" cy="1139496"/>
                <a:chOff x="8045930" y="3429802"/>
                <a:chExt cx="1152456" cy="1139496"/>
              </a:xfrm>
            </p:grpSpPr>
            <p:pic>
              <p:nvPicPr>
                <p:cNvPr id="9" name="Graphic 8" descr="Computer with solid fill">
                  <a:extLst>
                    <a:ext uri="{FF2B5EF4-FFF2-40B4-BE49-F238E27FC236}">
                      <a16:creationId xmlns:a16="http://schemas.microsoft.com/office/drawing/2014/main" id="{77D4E6E8-DAC2-269F-BEF4-300B6B6F642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5239" y="3654898"/>
                  <a:ext cx="914400" cy="914400"/>
                </a:xfrm>
                <a:prstGeom prst="rect">
                  <a:avLst/>
                </a:prstGeom>
              </p:spPr>
            </p:pic>
            <p:sp>
              <p:nvSpPr>
                <p:cNvPr id="14" name="TextBox 13">
                  <a:extLst>
                    <a:ext uri="{FF2B5EF4-FFF2-40B4-BE49-F238E27FC236}">
                      <a16:creationId xmlns:a16="http://schemas.microsoft.com/office/drawing/2014/main" id="{E1021813-8E97-5415-666C-45D9447FECFA}"/>
                    </a:ext>
                  </a:extLst>
                </p:cNvPr>
                <p:cNvSpPr txBox="1"/>
                <p:nvPr/>
              </p:nvSpPr>
              <p:spPr>
                <a:xfrm>
                  <a:off x="8045930" y="3429802"/>
                  <a:ext cx="1152456" cy="371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grpSp>
          <p:sp>
            <p:nvSpPr>
              <p:cNvPr id="16" name="TextBox 15">
                <a:extLst>
                  <a:ext uri="{FF2B5EF4-FFF2-40B4-BE49-F238E27FC236}">
                    <a16:creationId xmlns:a16="http://schemas.microsoft.com/office/drawing/2014/main" id="{E6979BE1-0127-4690-21F8-EAA20A545AF5}"/>
                  </a:ext>
                </a:extLst>
              </p:cNvPr>
              <p:cNvSpPr txBox="1"/>
              <p:nvPr/>
            </p:nvSpPr>
            <p:spPr>
              <a:xfrm>
                <a:off x="8171972" y="1914754"/>
                <a:ext cx="18041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Decryption key </a:t>
                </a:r>
              </a:p>
            </p:txBody>
          </p:sp>
          <p:pic>
            <p:nvPicPr>
              <p:cNvPr id="18" name="Graphic 17" descr="Woman with solid fill">
                <a:extLst>
                  <a:ext uri="{FF2B5EF4-FFF2-40B4-BE49-F238E27FC236}">
                    <a16:creationId xmlns:a16="http://schemas.microsoft.com/office/drawing/2014/main" id="{C5686FF9-BABE-048C-CC71-11F14B4B3D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4653" y="1482701"/>
                <a:ext cx="914400" cy="914400"/>
              </a:xfrm>
              <a:prstGeom prst="rect">
                <a:avLst/>
              </a:prstGeom>
            </p:spPr>
          </p:pic>
        </p:grpSp>
      </p:grpSp>
      <p:sp>
        <p:nvSpPr>
          <p:cNvPr id="23" name="TextBox 22">
            <a:extLst>
              <a:ext uri="{FF2B5EF4-FFF2-40B4-BE49-F238E27FC236}">
                <a16:creationId xmlns:a16="http://schemas.microsoft.com/office/drawing/2014/main" id="{815AFA1A-DCE7-1444-BD8D-83579FC89D48}"/>
              </a:ext>
            </a:extLst>
          </p:cNvPr>
          <p:cNvSpPr txBox="1"/>
          <p:nvPr/>
        </p:nvSpPr>
        <p:spPr>
          <a:xfrm>
            <a:off x="2037246" y="3801442"/>
            <a:ext cx="7805530" cy="5980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latin typeface="Calibri"/>
                <a:ea typeface="Calibri"/>
                <a:cs typeface="Calibri"/>
              </a:rPr>
              <a:t>Keys can be both symmetric and asymmetric</a:t>
            </a:r>
          </a:p>
        </p:txBody>
      </p:sp>
    </p:spTree>
    <p:extLst>
      <p:ext uri="{BB962C8B-B14F-4D97-AF65-F5344CB8AC3E}">
        <p14:creationId xmlns:p14="http://schemas.microsoft.com/office/powerpoint/2010/main" val="1671375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8D839-1E3A-D66A-81F3-4802CB699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51073-8EEF-532E-849D-8D23A0A48C47}"/>
              </a:ext>
            </a:extLst>
          </p:cNvPr>
          <p:cNvSpPr>
            <a:spLocks noGrp="1"/>
          </p:cNvSpPr>
          <p:nvPr>
            <p:ph type="ctrTitle"/>
          </p:nvPr>
        </p:nvSpPr>
        <p:spPr>
          <a:xfrm>
            <a:off x="510221" y="4210965"/>
            <a:ext cx="10218208" cy="879137"/>
          </a:xfrm>
        </p:spPr>
        <p:txBody>
          <a:bodyPr vert="horz" lIns="91440" tIns="45720" rIns="91440" bIns="45720" rtlCol="0" anchor="b">
            <a:noAutofit/>
          </a:bodyPr>
          <a:lstStyle/>
          <a:p>
            <a:r>
              <a:rPr lang="en-US" sz="2800" dirty="0">
                <a:latin typeface="Calibri"/>
                <a:ea typeface="Calibri"/>
                <a:cs typeface="Calibri"/>
              </a:rPr>
              <a:t>A and B both have the same key. This key needs to be shared off line and before transmitting the document through internet.</a:t>
            </a:r>
          </a:p>
        </p:txBody>
      </p:sp>
      <p:sp>
        <p:nvSpPr>
          <p:cNvPr id="5" name="Title 1">
            <a:extLst>
              <a:ext uri="{FF2B5EF4-FFF2-40B4-BE49-F238E27FC236}">
                <a16:creationId xmlns:a16="http://schemas.microsoft.com/office/drawing/2014/main" id="{2B531E72-9F0E-CC52-2CC3-0EF704CC5086}"/>
              </a:ext>
            </a:extLst>
          </p:cNvPr>
          <p:cNvSpPr txBox="1">
            <a:spLocks/>
          </p:cNvSpPr>
          <p:nvPr/>
        </p:nvSpPr>
        <p:spPr>
          <a:xfrm>
            <a:off x="660400" y="794924"/>
            <a:ext cx="10218208" cy="41698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Symmetric Key Cryptography</a:t>
            </a:r>
          </a:p>
        </p:txBody>
      </p:sp>
      <p:grpSp>
        <p:nvGrpSpPr>
          <p:cNvPr id="32" name="Group 31">
            <a:extLst>
              <a:ext uri="{FF2B5EF4-FFF2-40B4-BE49-F238E27FC236}">
                <a16:creationId xmlns:a16="http://schemas.microsoft.com/office/drawing/2014/main" id="{8FE7A145-1598-EC65-5F6A-9397782DA286}"/>
              </a:ext>
            </a:extLst>
          </p:cNvPr>
          <p:cNvGrpSpPr/>
          <p:nvPr/>
        </p:nvGrpSpPr>
        <p:grpSpPr>
          <a:xfrm>
            <a:off x="1299667" y="1714952"/>
            <a:ext cx="8937149" cy="2018446"/>
            <a:chOff x="1527088" y="983854"/>
            <a:chExt cx="8937149" cy="2018446"/>
          </a:xfrm>
        </p:grpSpPr>
        <p:grpSp>
          <p:nvGrpSpPr>
            <p:cNvPr id="4" name="Group 3">
              <a:extLst>
                <a:ext uri="{FF2B5EF4-FFF2-40B4-BE49-F238E27FC236}">
                  <a16:creationId xmlns:a16="http://schemas.microsoft.com/office/drawing/2014/main" id="{275EFB24-9739-7265-8A3C-7743E9D2E413}"/>
                </a:ext>
              </a:extLst>
            </p:cNvPr>
            <p:cNvGrpSpPr/>
            <p:nvPr/>
          </p:nvGrpSpPr>
          <p:grpSpPr>
            <a:xfrm>
              <a:off x="1527088" y="983854"/>
              <a:ext cx="3710772" cy="1911203"/>
              <a:chOff x="499107" y="1048552"/>
              <a:chExt cx="3710772" cy="1911203"/>
            </a:xfrm>
          </p:grpSpPr>
          <p:pic>
            <p:nvPicPr>
              <p:cNvPr id="24" name="Graphic 23" descr="Computer with solid fill">
                <a:extLst>
                  <a:ext uri="{FF2B5EF4-FFF2-40B4-BE49-F238E27FC236}">
                    <a16:creationId xmlns:a16="http://schemas.microsoft.com/office/drawing/2014/main" id="{2EBC9805-C929-5B43-E961-E249DAD9DB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1189" y="2045355"/>
                <a:ext cx="914400" cy="914400"/>
              </a:xfrm>
              <a:prstGeom prst="rect">
                <a:avLst/>
              </a:prstGeom>
            </p:spPr>
          </p:pic>
          <p:cxnSp>
            <p:nvCxnSpPr>
              <p:cNvPr id="25" name="Straight Arrow Connector 24">
                <a:extLst>
                  <a:ext uri="{FF2B5EF4-FFF2-40B4-BE49-F238E27FC236}">
                    <a16:creationId xmlns:a16="http://schemas.microsoft.com/office/drawing/2014/main" id="{7067403C-5D44-4420-0F6D-637571E6E1E6}"/>
                  </a:ext>
                </a:extLst>
              </p:cNvPr>
              <p:cNvCxnSpPr/>
              <p:nvPr/>
            </p:nvCxnSpPr>
            <p:spPr>
              <a:xfrm flipV="1">
                <a:off x="2302831" y="2570393"/>
                <a:ext cx="1907048" cy="31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BCEEEC78-7827-6333-5B9C-F9D927232875}"/>
                  </a:ext>
                </a:extLst>
              </p:cNvPr>
              <p:cNvSpPr txBox="1"/>
              <p:nvPr/>
            </p:nvSpPr>
            <p:spPr>
              <a:xfrm>
                <a:off x="499107" y="1673889"/>
                <a:ext cx="1152456" cy="371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grpSp>
            <p:nvGrpSpPr>
              <p:cNvPr id="27" name="Group 26">
                <a:extLst>
                  <a:ext uri="{FF2B5EF4-FFF2-40B4-BE49-F238E27FC236}">
                    <a16:creationId xmlns:a16="http://schemas.microsoft.com/office/drawing/2014/main" id="{30C70880-4B75-0ED6-10F3-2AC862602A65}"/>
                  </a:ext>
                </a:extLst>
              </p:cNvPr>
              <p:cNvGrpSpPr/>
              <p:nvPr/>
            </p:nvGrpSpPr>
            <p:grpSpPr>
              <a:xfrm>
                <a:off x="2201805" y="1048552"/>
                <a:ext cx="1463930" cy="1325301"/>
                <a:chOff x="5191597" y="4567510"/>
                <a:chExt cx="1463930" cy="1325301"/>
              </a:xfrm>
            </p:grpSpPr>
            <p:pic>
              <p:nvPicPr>
                <p:cNvPr id="30" name="Graphic 29" descr="Computer with solid fill">
                  <a:extLst>
                    <a:ext uri="{FF2B5EF4-FFF2-40B4-BE49-F238E27FC236}">
                      <a16:creationId xmlns:a16="http://schemas.microsoft.com/office/drawing/2014/main" id="{4038EE42-947F-7C29-FD7A-8C62EC0EB06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71571" y="4978411"/>
                  <a:ext cx="914400" cy="914400"/>
                </a:xfrm>
                <a:prstGeom prst="rect">
                  <a:avLst/>
                </a:prstGeom>
              </p:spPr>
            </p:pic>
            <p:sp>
              <p:nvSpPr>
                <p:cNvPr id="31" name="TextBox 30">
                  <a:extLst>
                    <a:ext uri="{FF2B5EF4-FFF2-40B4-BE49-F238E27FC236}">
                      <a16:creationId xmlns:a16="http://schemas.microsoft.com/office/drawing/2014/main" id="{2A14138D-A668-9AB2-8E4D-7E431B7FB245}"/>
                    </a:ext>
                  </a:extLst>
                </p:cNvPr>
                <p:cNvSpPr txBox="1"/>
                <p:nvPr/>
              </p:nvSpPr>
              <p:spPr>
                <a:xfrm>
                  <a:off x="5191597" y="4567510"/>
                  <a:ext cx="14639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Cipher text </a:t>
                  </a:r>
                </a:p>
              </p:txBody>
            </p:sp>
          </p:grpSp>
          <p:sp>
            <p:nvSpPr>
              <p:cNvPr id="28" name="TextBox 27">
                <a:extLst>
                  <a:ext uri="{FF2B5EF4-FFF2-40B4-BE49-F238E27FC236}">
                    <a16:creationId xmlns:a16="http://schemas.microsoft.com/office/drawing/2014/main" id="{8E76BBEE-69C5-BD8C-076E-E7B75E94C22B}"/>
                  </a:ext>
                </a:extLst>
              </p:cNvPr>
              <p:cNvSpPr txBox="1"/>
              <p:nvPr/>
            </p:nvSpPr>
            <p:spPr>
              <a:xfrm>
                <a:off x="2303771" y="2211128"/>
                <a:ext cx="19061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Encryption key</a:t>
                </a:r>
              </a:p>
            </p:txBody>
          </p:sp>
          <p:pic>
            <p:nvPicPr>
              <p:cNvPr id="29" name="Graphic 28" descr="Man with solid fill">
                <a:extLst>
                  <a:ext uri="{FF2B5EF4-FFF2-40B4-BE49-F238E27FC236}">
                    <a16:creationId xmlns:a16="http://schemas.microsoft.com/office/drawing/2014/main" id="{217D3AC0-8D7A-CCBF-7D84-0FF2BEEC11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4559" y="1936726"/>
                <a:ext cx="914400" cy="914400"/>
              </a:xfrm>
              <a:prstGeom prst="rect">
                <a:avLst/>
              </a:prstGeom>
            </p:spPr>
          </p:pic>
        </p:grpSp>
        <p:grpSp>
          <p:nvGrpSpPr>
            <p:cNvPr id="6" name="Group 5">
              <a:extLst>
                <a:ext uri="{FF2B5EF4-FFF2-40B4-BE49-F238E27FC236}">
                  <a16:creationId xmlns:a16="http://schemas.microsoft.com/office/drawing/2014/main" id="{2C6ECF40-01F9-2A40-D766-33DDF941BAB1}"/>
                </a:ext>
              </a:extLst>
            </p:cNvPr>
            <p:cNvGrpSpPr/>
            <p:nvPr/>
          </p:nvGrpSpPr>
          <p:grpSpPr>
            <a:xfrm>
              <a:off x="6729611" y="1816076"/>
              <a:ext cx="3734626" cy="1186224"/>
              <a:chOff x="7274653" y="1482701"/>
              <a:chExt cx="3734626" cy="1186224"/>
            </a:xfrm>
          </p:grpSpPr>
          <p:cxnSp>
            <p:nvCxnSpPr>
              <p:cNvPr id="18" name="Straight Arrow Connector 17">
                <a:extLst>
                  <a:ext uri="{FF2B5EF4-FFF2-40B4-BE49-F238E27FC236}">
                    <a16:creationId xmlns:a16="http://schemas.microsoft.com/office/drawing/2014/main" id="{783C191F-5E69-D0CA-C745-3948D0F216E8}"/>
                  </a:ext>
                </a:extLst>
              </p:cNvPr>
              <p:cNvCxnSpPr>
                <a:cxnSpLocks/>
              </p:cNvCxnSpPr>
              <p:nvPr/>
            </p:nvCxnSpPr>
            <p:spPr>
              <a:xfrm>
                <a:off x="8186035" y="2277618"/>
                <a:ext cx="1668923" cy="5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F137AC4D-7AE6-58EF-6AB9-FD730788F93D}"/>
                  </a:ext>
                </a:extLst>
              </p:cNvPr>
              <p:cNvGrpSpPr/>
              <p:nvPr/>
            </p:nvGrpSpPr>
            <p:grpSpPr>
              <a:xfrm>
                <a:off x="9856823" y="1529429"/>
                <a:ext cx="1152456" cy="1139496"/>
                <a:chOff x="8045930" y="3429802"/>
                <a:chExt cx="1152456" cy="1139496"/>
              </a:xfrm>
            </p:grpSpPr>
            <p:pic>
              <p:nvPicPr>
                <p:cNvPr id="22" name="Graphic 21" descr="Computer with solid fill">
                  <a:extLst>
                    <a:ext uri="{FF2B5EF4-FFF2-40B4-BE49-F238E27FC236}">
                      <a16:creationId xmlns:a16="http://schemas.microsoft.com/office/drawing/2014/main" id="{C62F63A0-1F45-3A03-C558-734686CFFC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5239" y="3654898"/>
                  <a:ext cx="914400" cy="914400"/>
                </a:xfrm>
                <a:prstGeom prst="rect">
                  <a:avLst/>
                </a:prstGeom>
              </p:spPr>
            </p:pic>
            <p:sp>
              <p:nvSpPr>
                <p:cNvPr id="23" name="TextBox 22">
                  <a:extLst>
                    <a:ext uri="{FF2B5EF4-FFF2-40B4-BE49-F238E27FC236}">
                      <a16:creationId xmlns:a16="http://schemas.microsoft.com/office/drawing/2014/main" id="{971949ED-95A7-9E52-A007-E0BFE7A60C70}"/>
                    </a:ext>
                  </a:extLst>
                </p:cNvPr>
                <p:cNvSpPr txBox="1"/>
                <p:nvPr/>
              </p:nvSpPr>
              <p:spPr>
                <a:xfrm>
                  <a:off x="8045930" y="3429802"/>
                  <a:ext cx="1152456" cy="371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grpSp>
          <p:sp>
            <p:nvSpPr>
              <p:cNvPr id="20" name="TextBox 19">
                <a:extLst>
                  <a:ext uri="{FF2B5EF4-FFF2-40B4-BE49-F238E27FC236}">
                    <a16:creationId xmlns:a16="http://schemas.microsoft.com/office/drawing/2014/main" id="{1D7F82F4-1404-28DE-404C-020530AD1921}"/>
                  </a:ext>
                </a:extLst>
              </p:cNvPr>
              <p:cNvSpPr txBox="1"/>
              <p:nvPr/>
            </p:nvSpPr>
            <p:spPr>
              <a:xfrm>
                <a:off x="8171972" y="1914754"/>
                <a:ext cx="18041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Decryption key </a:t>
                </a:r>
              </a:p>
            </p:txBody>
          </p:sp>
          <p:pic>
            <p:nvPicPr>
              <p:cNvPr id="21" name="Graphic 20" descr="Woman with solid fill">
                <a:extLst>
                  <a:ext uri="{FF2B5EF4-FFF2-40B4-BE49-F238E27FC236}">
                    <a16:creationId xmlns:a16="http://schemas.microsoft.com/office/drawing/2014/main" id="{3228516F-E2D3-3538-8F75-6317C302CE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4653" y="1482701"/>
                <a:ext cx="914400" cy="914400"/>
              </a:xfrm>
              <a:prstGeom prst="rect">
                <a:avLst/>
              </a:prstGeom>
            </p:spPr>
          </p:pic>
        </p:grpSp>
      </p:grpSp>
    </p:spTree>
    <p:extLst>
      <p:ext uri="{BB962C8B-B14F-4D97-AF65-F5344CB8AC3E}">
        <p14:creationId xmlns:p14="http://schemas.microsoft.com/office/powerpoint/2010/main" val="2560190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7D932-7390-9A29-B1EC-5816060EC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2BA6F-86F1-6D7E-4279-0930D56F4683}"/>
              </a:ext>
            </a:extLst>
          </p:cNvPr>
          <p:cNvSpPr>
            <a:spLocks noGrp="1"/>
          </p:cNvSpPr>
          <p:nvPr>
            <p:ph type="ctrTitle"/>
          </p:nvPr>
        </p:nvSpPr>
        <p:spPr>
          <a:xfrm>
            <a:off x="446237" y="4199332"/>
            <a:ext cx="10776619" cy="1007105"/>
          </a:xfrm>
        </p:spPr>
        <p:txBody>
          <a:bodyPr vert="horz" lIns="91440" tIns="45720" rIns="91440" bIns="45720" rtlCol="0" anchor="b">
            <a:noAutofit/>
          </a:bodyPr>
          <a:lstStyle/>
          <a:p>
            <a:r>
              <a:rPr lang="en-US" sz="2800" dirty="0">
                <a:latin typeface="Calibri"/>
                <a:ea typeface="Calibri"/>
                <a:cs typeface="Calibri"/>
              </a:rPr>
              <a:t>Advantages : We can have bigger key size, bigger the size, safer the data.</a:t>
            </a:r>
            <a:br>
              <a:rPr lang="en-US" sz="2800" dirty="0">
                <a:latin typeface="Calibri"/>
                <a:ea typeface="Calibri"/>
                <a:cs typeface="Calibri"/>
              </a:rPr>
            </a:br>
            <a:r>
              <a:rPr lang="en-US" sz="2800" dirty="0">
                <a:latin typeface="Calibri"/>
                <a:ea typeface="Calibri"/>
                <a:cs typeface="Calibri"/>
              </a:rPr>
              <a:t>It is easy to use.</a:t>
            </a:r>
          </a:p>
        </p:txBody>
      </p:sp>
      <p:sp>
        <p:nvSpPr>
          <p:cNvPr id="5" name="Title 1">
            <a:extLst>
              <a:ext uri="{FF2B5EF4-FFF2-40B4-BE49-F238E27FC236}">
                <a16:creationId xmlns:a16="http://schemas.microsoft.com/office/drawing/2014/main" id="{4D964552-1DAD-F564-4AF0-EF5A17D981FD}"/>
              </a:ext>
            </a:extLst>
          </p:cNvPr>
          <p:cNvSpPr txBox="1">
            <a:spLocks/>
          </p:cNvSpPr>
          <p:nvPr/>
        </p:nvSpPr>
        <p:spPr>
          <a:xfrm>
            <a:off x="660400" y="794924"/>
            <a:ext cx="10218208" cy="41698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Advantages of Symmetric Key Cryptography</a:t>
            </a:r>
          </a:p>
        </p:txBody>
      </p:sp>
      <p:grpSp>
        <p:nvGrpSpPr>
          <p:cNvPr id="32" name="Group 31">
            <a:extLst>
              <a:ext uri="{FF2B5EF4-FFF2-40B4-BE49-F238E27FC236}">
                <a16:creationId xmlns:a16="http://schemas.microsoft.com/office/drawing/2014/main" id="{572CADC1-7228-DE8C-64C5-F937176508CF}"/>
              </a:ext>
            </a:extLst>
          </p:cNvPr>
          <p:cNvGrpSpPr/>
          <p:nvPr/>
        </p:nvGrpSpPr>
        <p:grpSpPr>
          <a:xfrm>
            <a:off x="1299667" y="1714952"/>
            <a:ext cx="8937149" cy="2018446"/>
            <a:chOff x="1527088" y="983854"/>
            <a:chExt cx="8937149" cy="2018446"/>
          </a:xfrm>
        </p:grpSpPr>
        <p:grpSp>
          <p:nvGrpSpPr>
            <p:cNvPr id="4" name="Group 3">
              <a:extLst>
                <a:ext uri="{FF2B5EF4-FFF2-40B4-BE49-F238E27FC236}">
                  <a16:creationId xmlns:a16="http://schemas.microsoft.com/office/drawing/2014/main" id="{15106372-5E38-69C4-EC52-FBC62F62226B}"/>
                </a:ext>
              </a:extLst>
            </p:cNvPr>
            <p:cNvGrpSpPr/>
            <p:nvPr/>
          </p:nvGrpSpPr>
          <p:grpSpPr>
            <a:xfrm>
              <a:off x="1527088" y="983854"/>
              <a:ext cx="3710772" cy="1911203"/>
              <a:chOff x="499107" y="1048552"/>
              <a:chExt cx="3710772" cy="1911203"/>
            </a:xfrm>
          </p:grpSpPr>
          <p:pic>
            <p:nvPicPr>
              <p:cNvPr id="24" name="Graphic 23" descr="Computer with solid fill">
                <a:extLst>
                  <a:ext uri="{FF2B5EF4-FFF2-40B4-BE49-F238E27FC236}">
                    <a16:creationId xmlns:a16="http://schemas.microsoft.com/office/drawing/2014/main" id="{569E0193-0B94-456D-56EF-6A2C6722CF8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1189" y="2045355"/>
                <a:ext cx="914400" cy="914400"/>
              </a:xfrm>
              <a:prstGeom prst="rect">
                <a:avLst/>
              </a:prstGeom>
            </p:spPr>
          </p:pic>
          <p:cxnSp>
            <p:nvCxnSpPr>
              <p:cNvPr id="25" name="Straight Arrow Connector 24">
                <a:extLst>
                  <a:ext uri="{FF2B5EF4-FFF2-40B4-BE49-F238E27FC236}">
                    <a16:creationId xmlns:a16="http://schemas.microsoft.com/office/drawing/2014/main" id="{6E4C73CC-25E9-031C-7C58-2FD614FA638B}"/>
                  </a:ext>
                </a:extLst>
              </p:cNvPr>
              <p:cNvCxnSpPr/>
              <p:nvPr/>
            </p:nvCxnSpPr>
            <p:spPr>
              <a:xfrm flipV="1">
                <a:off x="2302831" y="2570393"/>
                <a:ext cx="1907048" cy="31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7A1B4713-AC33-8341-EE1D-EFA1799AA41E}"/>
                  </a:ext>
                </a:extLst>
              </p:cNvPr>
              <p:cNvSpPr txBox="1"/>
              <p:nvPr/>
            </p:nvSpPr>
            <p:spPr>
              <a:xfrm>
                <a:off x="499107" y="1673889"/>
                <a:ext cx="1152456" cy="371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grpSp>
            <p:nvGrpSpPr>
              <p:cNvPr id="27" name="Group 26">
                <a:extLst>
                  <a:ext uri="{FF2B5EF4-FFF2-40B4-BE49-F238E27FC236}">
                    <a16:creationId xmlns:a16="http://schemas.microsoft.com/office/drawing/2014/main" id="{775124F0-A2F6-AABD-ECA7-2EFF40E54094}"/>
                  </a:ext>
                </a:extLst>
              </p:cNvPr>
              <p:cNvGrpSpPr/>
              <p:nvPr/>
            </p:nvGrpSpPr>
            <p:grpSpPr>
              <a:xfrm>
                <a:off x="2201805" y="1048552"/>
                <a:ext cx="1463930" cy="1325301"/>
                <a:chOff x="5191597" y="4567510"/>
                <a:chExt cx="1463930" cy="1325301"/>
              </a:xfrm>
            </p:grpSpPr>
            <p:pic>
              <p:nvPicPr>
                <p:cNvPr id="30" name="Graphic 29" descr="Computer with solid fill">
                  <a:extLst>
                    <a:ext uri="{FF2B5EF4-FFF2-40B4-BE49-F238E27FC236}">
                      <a16:creationId xmlns:a16="http://schemas.microsoft.com/office/drawing/2014/main" id="{E936B8F9-4DBF-B9B7-92DE-0A5ACB18D62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71571" y="4978411"/>
                  <a:ext cx="914400" cy="914400"/>
                </a:xfrm>
                <a:prstGeom prst="rect">
                  <a:avLst/>
                </a:prstGeom>
              </p:spPr>
            </p:pic>
            <p:sp>
              <p:nvSpPr>
                <p:cNvPr id="31" name="TextBox 30">
                  <a:extLst>
                    <a:ext uri="{FF2B5EF4-FFF2-40B4-BE49-F238E27FC236}">
                      <a16:creationId xmlns:a16="http://schemas.microsoft.com/office/drawing/2014/main" id="{2D59FE42-4CD3-6989-6F5F-2F125D54AD82}"/>
                    </a:ext>
                  </a:extLst>
                </p:cNvPr>
                <p:cNvSpPr txBox="1"/>
                <p:nvPr/>
              </p:nvSpPr>
              <p:spPr>
                <a:xfrm>
                  <a:off x="5191597" y="4567510"/>
                  <a:ext cx="14639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Cipher text </a:t>
                  </a:r>
                </a:p>
              </p:txBody>
            </p:sp>
          </p:grpSp>
          <p:sp>
            <p:nvSpPr>
              <p:cNvPr id="28" name="TextBox 27">
                <a:extLst>
                  <a:ext uri="{FF2B5EF4-FFF2-40B4-BE49-F238E27FC236}">
                    <a16:creationId xmlns:a16="http://schemas.microsoft.com/office/drawing/2014/main" id="{D9C4CA7D-AA3B-6ACE-FD5E-0DE143AB29D3}"/>
                  </a:ext>
                </a:extLst>
              </p:cNvPr>
              <p:cNvSpPr txBox="1"/>
              <p:nvPr/>
            </p:nvSpPr>
            <p:spPr>
              <a:xfrm>
                <a:off x="2303771" y="2211128"/>
                <a:ext cx="1812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Encryption key</a:t>
                </a:r>
              </a:p>
            </p:txBody>
          </p:sp>
          <p:pic>
            <p:nvPicPr>
              <p:cNvPr id="29" name="Graphic 28" descr="Man with solid fill">
                <a:extLst>
                  <a:ext uri="{FF2B5EF4-FFF2-40B4-BE49-F238E27FC236}">
                    <a16:creationId xmlns:a16="http://schemas.microsoft.com/office/drawing/2014/main" id="{EA79C469-824F-C258-9FD2-FD4DBA86C1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4559" y="1936726"/>
                <a:ext cx="914400" cy="914400"/>
              </a:xfrm>
              <a:prstGeom prst="rect">
                <a:avLst/>
              </a:prstGeom>
            </p:spPr>
          </p:pic>
        </p:grpSp>
        <p:grpSp>
          <p:nvGrpSpPr>
            <p:cNvPr id="6" name="Group 5">
              <a:extLst>
                <a:ext uri="{FF2B5EF4-FFF2-40B4-BE49-F238E27FC236}">
                  <a16:creationId xmlns:a16="http://schemas.microsoft.com/office/drawing/2014/main" id="{A3C3219C-983F-5E93-4613-EBB0279CB81A}"/>
                </a:ext>
              </a:extLst>
            </p:cNvPr>
            <p:cNvGrpSpPr/>
            <p:nvPr/>
          </p:nvGrpSpPr>
          <p:grpSpPr>
            <a:xfrm>
              <a:off x="6729611" y="1816076"/>
              <a:ext cx="3734626" cy="1186224"/>
              <a:chOff x="7274653" y="1482701"/>
              <a:chExt cx="3734626" cy="1186224"/>
            </a:xfrm>
          </p:grpSpPr>
          <p:cxnSp>
            <p:nvCxnSpPr>
              <p:cNvPr id="18" name="Straight Arrow Connector 17">
                <a:extLst>
                  <a:ext uri="{FF2B5EF4-FFF2-40B4-BE49-F238E27FC236}">
                    <a16:creationId xmlns:a16="http://schemas.microsoft.com/office/drawing/2014/main" id="{BEE53F7C-67B5-C41A-86C5-8DCB9CD72907}"/>
                  </a:ext>
                </a:extLst>
              </p:cNvPr>
              <p:cNvCxnSpPr>
                <a:cxnSpLocks/>
              </p:cNvCxnSpPr>
              <p:nvPr/>
            </p:nvCxnSpPr>
            <p:spPr>
              <a:xfrm>
                <a:off x="8186035" y="2277618"/>
                <a:ext cx="1668923" cy="5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499B9042-2DFA-B6C4-BAC3-47C44141BE8F}"/>
                  </a:ext>
                </a:extLst>
              </p:cNvPr>
              <p:cNvGrpSpPr/>
              <p:nvPr/>
            </p:nvGrpSpPr>
            <p:grpSpPr>
              <a:xfrm>
                <a:off x="9856823" y="1529429"/>
                <a:ext cx="1152456" cy="1139496"/>
                <a:chOff x="8045930" y="3429802"/>
                <a:chExt cx="1152456" cy="1139496"/>
              </a:xfrm>
            </p:grpSpPr>
            <p:pic>
              <p:nvPicPr>
                <p:cNvPr id="22" name="Graphic 21" descr="Computer with solid fill">
                  <a:extLst>
                    <a:ext uri="{FF2B5EF4-FFF2-40B4-BE49-F238E27FC236}">
                      <a16:creationId xmlns:a16="http://schemas.microsoft.com/office/drawing/2014/main" id="{EDD814FA-CF91-E1B3-FB06-C863088382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5239" y="3654898"/>
                  <a:ext cx="914400" cy="914400"/>
                </a:xfrm>
                <a:prstGeom prst="rect">
                  <a:avLst/>
                </a:prstGeom>
              </p:spPr>
            </p:pic>
            <p:sp>
              <p:nvSpPr>
                <p:cNvPr id="23" name="TextBox 22">
                  <a:extLst>
                    <a:ext uri="{FF2B5EF4-FFF2-40B4-BE49-F238E27FC236}">
                      <a16:creationId xmlns:a16="http://schemas.microsoft.com/office/drawing/2014/main" id="{AD09D284-1659-7107-0769-088C2381D96C}"/>
                    </a:ext>
                  </a:extLst>
                </p:cNvPr>
                <p:cNvSpPr txBox="1"/>
                <p:nvPr/>
              </p:nvSpPr>
              <p:spPr>
                <a:xfrm>
                  <a:off x="8045930" y="3429802"/>
                  <a:ext cx="1152456" cy="371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grpSp>
          <p:sp>
            <p:nvSpPr>
              <p:cNvPr id="20" name="TextBox 19">
                <a:extLst>
                  <a:ext uri="{FF2B5EF4-FFF2-40B4-BE49-F238E27FC236}">
                    <a16:creationId xmlns:a16="http://schemas.microsoft.com/office/drawing/2014/main" id="{F4907267-A735-0612-20A1-4EEE18191D93}"/>
                  </a:ext>
                </a:extLst>
              </p:cNvPr>
              <p:cNvSpPr txBox="1"/>
              <p:nvPr/>
            </p:nvSpPr>
            <p:spPr>
              <a:xfrm>
                <a:off x="8171972" y="1914754"/>
                <a:ext cx="18041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Decryption key </a:t>
                </a:r>
              </a:p>
            </p:txBody>
          </p:sp>
          <p:pic>
            <p:nvPicPr>
              <p:cNvPr id="21" name="Graphic 20" descr="Woman with solid fill">
                <a:extLst>
                  <a:ext uri="{FF2B5EF4-FFF2-40B4-BE49-F238E27FC236}">
                    <a16:creationId xmlns:a16="http://schemas.microsoft.com/office/drawing/2014/main" id="{2DD68642-3284-141C-6C97-D57709297DF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4653" y="1482701"/>
                <a:ext cx="914400" cy="914400"/>
              </a:xfrm>
              <a:prstGeom prst="rect">
                <a:avLst/>
              </a:prstGeom>
            </p:spPr>
          </p:pic>
        </p:grpSp>
      </p:grpSp>
    </p:spTree>
    <p:extLst>
      <p:ext uri="{BB962C8B-B14F-4D97-AF65-F5344CB8AC3E}">
        <p14:creationId xmlns:p14="http://schemas.microsoft.com/office/powerpoint/2010/main" val="2786404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B59E6-64E1-CD68-5F8C-5FCB126778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8150C-63A0-1CC2-6CCA-D5FD08DC6577}"/>
              </a:ext>
            </a:extLst>
          </p:cNvPr>
          <p:cNvSpPr>
            <a:spLocks noGrp="1"/>
          </p:cNvSpPr>
          <p:nvPr>
            <p:ph type="ctrTitle"/>
          </p:nvPr>
        </p:nvSpPr>
        <p:spPr>
          <a:xfrm>
            <a:off x="446237" y="4199332"/>
            <a:ext cx="10752807" cy="1911980"/>
          </a:xfrm>
        </p:spPr>
        <p:txBody>
          <a:bodyPr vert="horz" lIns="91440" tIns="45720" rIns="91440" bIns="45720" rtlCol="0" anchor="b">
            <a:noAutofit/>
          </a:bodyPr>
          <a:lstStyle/>
          <a:p>
            <a:r>
              <a:rPr lang="en-US" sz="2800" dirty="0">
                <a:latin typeface="Calibri"/>
                <a:ea typeface="Calibri"/>
                <a:cs typeface="Calibri"/>
              </a:rPr>
              <a:t>Disadvantages : Has to be shared well in ahead and off line.</a:t>
            </a:r>
            <a:br>
              <a:rPr lang="en-US" sz="2800" dirty="0">
                <a:latin typeface="Calibri"/>
                <a:ea typeface="Calibri"/>
                <a:cs typeface="Calibri"/>
              </a:rPr>
            </a:br>
            <a:r>
              <a:rPr lang="en-US" sz="2800" dirty="0">
                <a:latin typeface="Calibri"/>
                <a:ea typeface="Calibri"/>
                <a:cs typeface="Calibri"/>
              </a:rPr>
              <a:t>If you have multiple people in the network, you will have to manage multiple keys, that becomes a problem.</a:t>
            </a:r>
            <a:br>
              <a:rPr lang="en-US" sz="2800" dirty="0">
                <a:latin typeface="Calibri"/>
                <a:ea typeface="Calibri"/>
                <a:cs typeface="Calibri"/>
              </a:rPr>
            </a:br>
            <a:endParaRPr lang="en-US" sz="2800" dirty="0">
              <a:latin typeface="Calibri"/>
              <a:ea typeface="Calibri"/>
              <a:cs typeface="Calibri"/>
            </a:endParaRPr>
          </a:p>
        </p:txBody>
      </p:sp>
      <p:sp>
        <p:nvSpPr>
          <p:cNvPr id="5" name="Title 1">
            <a:extLst>
              <a:ext uri="{FF2B5EF4-FFF2-40B4-BE49-F238E27FC236}">
                <a16:creationId xmlns:a16="http://schemas.microsoft.com/office/drawing/2014/main" id="{BDE9CABD-EBF2-AE6D-D247-E90990428436}"/>
              </a:ext>
            </a:extLst>
          </p:cNvPr>
          <p:cNvSpPr txBox="1">
            <a:spLocks/>
          </p:cNvSpPr>
          <p:nvPr/>
        </p:nvSpPr>
        <p:spPr>
          <a:xfrm>
            <a:off x="660400" y="597153"/>
            <a:ext cx="10218208" cy="41698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Disadvantages of Symmetric Key Cryptography</a:t>
            </a:r>
          </a:p>
        </p:txBody>
      </p:sp>
      <p:grpSp>
        <p:nvGrpSpPr>
          <p:cNvPr id="4" name="Group 3">
            <a:extLst>
              <a:ext uri="{FF2B5EF4-FFF2-40B4-BE49-F238E27FC236}">
                <a16:creationId xmlns:a16="http://schemas.microsoft.com/office/drawing/2014/main" id="{A6670681-FBCE-3551-D092-C9B66B54CD44}"/>
              </a:ext>
            </a:extLst>
          </p:cNvPr>
          <p:cNvGrpSpPr/>
          <p:nvPr/>
        </p:nvGrpSpPr>
        <p:grpSpPr>
          <a:xfrm>
            <a:off x="1299667" y="1714952"/>
            <a:ext cx="3896391" cy="1911203"/>
            <a:chOff x="499107" y="1048552"/>
            <a:chExt cx="3896391" cy="1911203"/>
          </a:xfrm>
        </p:grpSpPr>
        <p:pic>
          <p:nvPicPr>
            <p:cNvPr id="24" name="Graphic 23" descr="Computer with solid fill">
              <a:extLst>
                <a:ext uri="{FF2B5EF4-FFF2-40B4-BE49-F238E27FC236}">
                  <a16:creationId xmlns:a16="http://schemas.microsoft.com/office/drawing/2014/main" id="{41945C10-789D-CBBE-4CA0-BD8A0782F1D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1189" y="2045355"/>
              <a:ext cx="914400" cy="914400"/>
            </a:xfrm>
            <a:prstGeom prst="rect">
              <a:avLst/>
            </a:prstGeom>
          </p:spPr>
        </p:pic>
        <p:cxnSp>
          <p:nvCxnSpPr>
            <p:cNvPr id="25" name="Straight Arrow Connector 24">
              <a:extLst>
                <a:ext uri="{FF2B5EF4-FFF2-40B4-BE49-F238E27FC236}">
                  <a16:creationId xmlns:a16="http://schemas.microsoft.com/office/drawing/2014/main" id="{73DFDE2D-7456-ED24-9F21-1313808371C6}"/>
                </a:ext>
              </a:extLst>
            </p:cNvPr>
            <p:cNvCxnSpPr/>
            <p:nvPr/>
          </p:nvCxnSpPr>
          <p:spPr>
            <a:xfrm flipV="1">
              <a:off x="2302831" y="2570393"/>
              <a:ext cx="1907048" cy="31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E9B0CFA6-03CA-7835-233F-F7710600EECE}"/>
                </a:ext>
              </a:extLst>
            </p:cNvPr>
            <p:cNvSpPr txBox="1"/>
            <p:nvPr/>
          </p:nvSpPr>
          <p:spPr>
            <a:xfrm>
              <a:off x="499107" y="1673889"/>
              <a:ext cx="1152456" cy="371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grpSp>
          <p:nvGrpSpPr>
            <p:cNvPr id="27" name="Group 26">
              <a:extLst>
                <a:ext uri="{FF2B5EF4-FFF2-40B4-BE49-F238E27FC236}">
                  <a16:creationId xmlns:a16="http://schemas.microsoft.com/office/drawing/2014/main" id="{06CF296B-217F-B658-ACC0-C64D5514F4B8}"/>
                </a:ext>
              </a:extLst>
            </p:cNvPr>
            <p:cNvGrpSpPr/>
            <p:nvPr/>
          </p:nvGrpSpPr>
          <p:grpSpPr>
            <a:xfrm>
              <a:off x="2201805" y="1048552"/>
              <a:ext cx="1463930" cy="1325301"/>
              <a:chOff x="5191597" y="4567510"/>
              <a:chExt cx="1463930" cy="1325301"/>
            </a:xfrm>
          </p:grpSpPr>
          <p:pic>
            <p:nvPicPr>
              <p:cNvPr id="30" name="Graphic 29" descr="Computer with solid fill">
                <a:extLst>
                  <a:ext uri="{FF2B5EF4-FFF2-40B4-BE49-F238E27FC236}">
                    <a16:creationId xmlns:a16="http://schemas.microsoft.com/office/drawing/2014/main" id="{BA782F25-9933-224A-5722-B48FAC9342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71571" y="4978411"/>
                <a:ext cx="914400" cy="914400"/>
              </a:xfrm>
              <a:prstGeom prst="rect">
                <a:avLst/>
              </a:prstGeom>
            </p:spPr>
          </p:pic>
          <p:sp>
            <p:nvSpPr>
              <p:cNvPr id="31" name="TextBox 30">
                <a:extLst>
                  <a:ext uri="{FF2B5EF4-FFF2-40B4-BE49-F238E27FC236}">
                    <a16:creationId xmlns:a16="http://schemas.microsoft.com/office/drawing/2014/main" id="{DF225053-507D-86FA-D64E-23DD36A277A8}"/>
                  </a:ext>
                </a:extLst>
              </p:cNvPr>
              <p:cNvSpPr txBox="1"/>
              <p:nvPr/>
            </p:nvSpPr>
            <p:spPr>
              <a:xfrm>
                <a:off x="5191597" y="4567510"/>
                <a:ext cx="14639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Cipher text </a:t>
                </a:r>
              </a:p>
            </p:txBody>
          </p:sp>
        </p:grpSp>
        <p:sp>
          <p:nvSpPr>
            <p:cNvPr id="28" name="TextBox 27">
              <a:extLst>
                <a:ext uri="{FF2B5EF4-FFF2-40B4-BE49-F238E27FC236}">
                  <a16:creationId xmlns:a16="http://schemas.microsoft.com/office/drawing/2014/main" id="{8B57915A-AFE9-74D0-16E8-3194F6210E29}"/>
                </a:ext>
              </a:extLst>
            </p:cNvPr>
            <p:cNvSpPr txBox="1"/>
            <p:nvPr/>
          </p:nvSpPr>
          <p:spPr>
            <a:xfrm>
              <a:off x="2248209" y="2219065"/>
              <a:ext cx="2147289" cy="3764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Encryption key (k1)</a:t>
              </a:r>
            </a:p>
          </p:txBody>
        </p:sp>
        <p:pic>
          <p:nvPicPr>
            <p:cNvPr id="29" name="Graphic 28" descr="Man with solid fill">
              <a:extLst>
                <a:ext uri="{FF2B5EF4-FFF2-40B4-BE49-F238E27FC236}">
                  <a16:creationId xmlns:a16="http://schemas.microsoft.com/office/drawing/2014/main" id="{329ED7EB-858B-9ABB-25B1-436AC7D40D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4559" y="1936726"/>
              <a:ext cx="914400" cy="914400"/>
            </a:xfrm>
            <a:prstGeom prst="rect">
              <a:avLst/>
            </a:prstGeom>
          </p:spPr>
        </p:pic>
      </p:grpSp>
      <p:grpSp>
        <p:nvGrpSpPr>
          <p:cNvPr id="6" name="Group 5">
            <a:extLst>
              <a:ext uri="{FF2B5EF4-FFF2-40B4-BE49-F238E27FC236}">
                <a16:creationId xmlns:a16="http://schemas.microsoft.com/office/drawing/2014/main" id="{885DFCDB-8695-5D29-8BFD-DB860C38AC05}"/>
              </a:ext>
            </a:extLst>
          </p:cNvPr>
          <p:cNvGrpSpPr/>
          <p:nvPr/>
        </p:nvGrpSpPr>
        <p:grpSpPr>
          <a:xfrm>
            <a:off x="6502190" y="2547174"/>
            <a:ext cx="3734626" cy="1186224"/>
            <a:chOff x="7274653" y="1482701"/>
            <a:chExt cx="3734626" cy="1186224"/>
          </a:xfrm>
        </p:grpSpPr>
        <p:cxnSp>
          <p:nvCxnSpPr>
            <p:cNvPr id="18" name="Straight Arrow Connector 17">
              <a:extLst>
                <a:ext uri="{FF2B5EF4-FFF2-40B4-BE49-F238E27FC236}">
                  <a16:creationId xmlns:a16="http://schemas.microsoft.com/office/drawing/2014/main" id="{42610C83-A814-1470-57BD-B7F88B0F704D}"/>
                </a:ext>
              </a:extLst>
            </p:cNvPr>
            <p:cNvCxnSpPr>
              <a:cxnSpLocks/>
            </p:cNvCxnSpPr>
            <p:nvPr/>
          </p:nvCxnSpPr>
          <p:spPr>
            <a:xfrm>
              <a:off x="8186035" y="2277618"/>
              <a:ext cx="1668923" cy="5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064857F0-5476-60D5-6EA1-1AD45B3B532E}"/>
                </a:ext>
              </a:extLst>
            </p:cNvPr>
            <p:cNvGrpSpPr/>
            <p:nvPr/>
          </p:nvGrpSpPr>
          <p:grpSpPr>
            <a:xfrm>
              <a:off x="9856823" y="1529429"/>
              <a:ext cx="1152456" cy="1139496"/>
              <a:chOff x="8045930" y="3429802"/>
              <a:chExt cx="1152456" cy="1139496"/>
            </a:xfrm>
          </p:grpSpPr>
          <p:pic>
            <p:nvPicPr>
              <p:cNvPr id="22" name="Graphic 21" descr="Computer with solid fill">
                <a:extLst>
                  <a:ext uri="{FF2B5EF4-FFF2-40B4-BE49-F238E27FC236}">
                    <a16:creationId xmlns:a16="http://schemas.microsoft.com/office/drawing/2014/main" id="{A33959B2-7D65-F432-35A4-CABBD81A26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5239" y="3654898"/>
                <a:ext cx="914400" cy="914400"/>
              </a:xfrm>
              <a:prstGeom prst="rect">
                <a:avLst/>
              </a:prstGeom>
            </p:spPr>
          </p:pic>
          <p:sp>
            <p:nvSpPr>
              <p:cNvPr id="23" name="TextBox 22">
                <a:extLst>
                  <a:ext uri="{FF2B5EF4-FFF2-40B4-BE49-F238E27FC236}">
                    <a16:creationId xmlns:a16="http://schemas.microsoft.com/office/drawing/2014/main" id="{F7581978-21DA-4184-77AC-0AF5C3756588}"/>
                  </a:ext>
                </a:extLst>
              </p:cNvPr>
              <p:cNvSpPr txBox="1"/>
              <p:nvPr/>
            </p:nvSpPr>
            <p:spPr>
              <a:xfrm>
                <a:off x="8045930" y="3429802"/>
                <a:ext cx="1152456" cy="371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grpSp>
        <p:sp>
          <p:nvSpPr>
            <p:cNvPr id="20" name="TextBox 19">
              <a:extLst>
                <a:ext uri="{FF2B5EF4-FFF2-40B4-BE49-F238E27FC236}">
                  <a16:creationId xmlns:a16="http://schemas.microsoft.com/office/drawing/2014/main" id="{E4826AC3-FAFD-9ADF-ECC5-F39779CF4BDF}"/>
                </a:ext>
              </a:extLst>
            </p:cNvPr>
            <p:cNvSpPr txBox="1"/>
            <p:nvPr/>
          </p:nvSpPr>
          <p:spPr>
            <a:xfrm>
              <a:off x="8171972" y="1914754"/>
              <a:ext cx="18041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Decryption key </a:t>
              </a:r>
            </a:p>
          </p:txBody>
        </p:sp>
        <p:pic>
          <p:nvPicPr>
            <p:cNvPr id="21" name="Graphic 20" descr="Woman with solid fill">
              <a:extLst>
                <a:ext uri="{FF2B5EF4-FFF2-40B4-BE49-F238E27FC236}">
                  <a16:creationId xmlns:a16="http://schemas.microsoft.com/office/drawing/2014/main" id="{8FD64D33-5E8C-4185-6B80-747546F98F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4653" y="1482701"/>
              <a:ext cx="914400" cy="914400"/>
            </a:xfrm>
            <a:prstGeom prst="rect">
              <a:avLst/>
            </a:prstGeom>
          </p:spPr>
        </p:pic>
      </p:grpSp>
      <p:pic>
        <p:nvPicPr>
          <p:cNvPr id="3" name="Graphic 2" descr="Man with solid fill">
            <a:extLst>
              <a:ext uri="{FF2B5EF4-FFF2-40B4-BE49-F238E27FC236}">
                <a16:creationId xmlns:a16="http://schemas.microsoft.com/office/drawing/2014/main" id="{F0A0D2C8-D533-37FC-64D6-14EE9DC454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4697" y="1258928"/>
            <a:ext cx="914400" cy="914400"/>
          </a:xfrm>
          <a:prstGeom prst="rect">
            <a:avLst/>
          </a:prstGeom>
        </p:spPr>
      </p:pic>
      <p:pic>
        <p:nvPicPr>
          <p:cNvPr id="7" name="Graphic 6" descr="Woman with solid fill">
            <a:extLst>
              <a:ext uri="{FF2B5EF4-FFF2-40B4-BE49-F238E27FC236}">
                <a16:creationId xmlns:a16="http://schemas.microsoft.com/office/drawing/2014/main" id="{6BB1B75A-B67D-354F-5344-B035A2F15E9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6317" y="1803214"/>
            <a:ext cx="914400" cy="914400"/>
          </a:xfrm>
          <a:prstGeom prst="rect">
            <a:avLst/>
          </a:prstGeom>
        </p:spPr>
      </p:pic>
      <p:pic>
        <p:nvPicPr>
          <p:cNvPr id="8" name="Graphic 7" descr="Man with solid fill">
            <a:extLst>
              <a:ext uri="{FF2B5EF4-FFF2-40B4-BE49-F238E27FC236}">
                <a16:creationId xmlns:a16="http://schemas.microsoft.com/office/drawing/2014/main" id="{2EBB0702-DD11-0A3D-0A26-DB495999A7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05260" y="1257664"/>
            <a:ext cx="914400" cy="914400"/>
          </a:xfrm>
          <a:prstGeom prst="rect">
            <a:avLst/>
          </a:prstGeom>
        </p:spPr>
      </p:pic>
      <p:pic>
        <p:nvPicPr>
          <p:cNvPr id="9" name="Graphic 8" descr="Man with solid fill">
            <a:extLst>
              <a:ext uri="{FF2B5EF4-FFF2-40B4-BE49-F238E27FC236}">
                <a16:creationId xmlns:a16="http://schemas.microsoft.com/office/drawing/2014/main" id="{7A610B02-C06F-03E9-E545-62FFC8B8F0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80954" y="803030"/>
            <a:ext cx="914400" cy="914400"/>
          </a:xfrm>
          <a:prstGeom prst="rect">
            <a:avLst/>
          </a:prstGeom>
        </p:spPr>
      </p:pic>
      <p:pic>
        <p:nvPicPr>
          <p:cNvPr id="10" name="Graphic 9" descr="Woman with solid fill">
            <a:extLst>
              <a:ext uri="{FF2B5EF4-FFF2-40B4-BE49-F238E27FC236}">
                <a16:creationId xmlns:a16="http://schemas.microsoft.com/office/drawing/2014/main" id="{50C68480-1D6C-0737-0F77-311E6151D5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43497" y="1969822"/>
            <a:ext cx="914400" cy="914400"/>
          </a:xfrm>
          <a:prstGeom prst="rect">
            <a:avLst/>
          </a:prstGeom>
        </p:spPr>
      </p:pic>
      <p:pic>
        <p:nvPicPr>
          <p:cNvPr id="11" name="Graphic 10" descr="Woman with solid fill">
            <a:extLst>
              <a:ext uri="{FF2B5EF4-FFF2-40B4-BE49-F238E27FC236}">
                <a16:creationId xmlns:a16="http://schemas.microsoft.com/office/drawing/2014/main" id="{4CBBAD96-7787-10EE-6292-7B73584743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91717" y="946778"/>
            <a:ext cx="914400" cy="914400"/>
          </a:xfrm>
          <a:prstGeom prst="rect">
            <a:avLst/>
          </a:prstGeom>
        </p:spPr>
      </p:pic>
      <p:sp>
        <p:nvSpPr>
          <p:cNvPr id="17" name="TextBox 16">
            <a:extLst>
              <a:ext uri="{FF2B5EF4-FFF2-40B4-BE49-F238E27FC236}">
                <a16:creationId xmlns:a16="http://schemas.microsoft.com/office/drawing/2014/main" id="{4CA26D53-16CC-1E2D-588E-325284DA001F}"/>
              </a:ext>
            </a:extLst>
          </p:cNvPr>
          <p:cNvSpPr txBox="1"/>
          <p:nvPr/>
        </p:nvSpPr>
        <p:spPr>
          <a:xfrm>
            <a:off x="6011044" y="1259865"/>
            <a:ext cx="440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k3</a:t>
            </a:r>
          </a:p>
        </p:txBody>
      </p:sp>
      <p:sp>
        <p:nvSpPr>
          <p:cNvPr id="35" name="TextBox 34">
            <a:extLst>
              <a:ext uri="{FF2B5EF4-FFF2-40B4-BE49-F238E27FC236}">
                <a16:creationId xmlns:a16="http://schemas.microsoft.com/office/drawing/2014/main" id="{BBF30E52-00BD-000C-5223-F05768C339A2}"/>
              </a:ext>
            </a:extLst>
          </p:cNvPr>
          <p:cNvSpPr txBox="1"/>
          <p:nvPr/>
        </p:nvSpPr>
        <p:spPr>
          <a:xfrm>
            <a:off x="10781481" y="1894865"/>
            <a:ext cx="440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k8</a:t>
            </a:r>
          </a:p>
        </p:txBody>
      </p:sp>
      <p:sp>
        <p:nvSpPr>
          <p:cNvPr id="36" name="TextBox 35">
            <a:extLst>
              <a:ext uri="{FF2B5EF4-FFF2-40B4-BE49-F238E27FC236}">
                <a16:creationId xmlns:a16="http://schemas.microsoft.com/office/drawing/2014/main" id="{F76F520C-473B-ED44-3A44-97336634B88D}"/>
              </a:ext>
            </a:extLst>
          </p:cNvPr>
          <p:cNvSpPr txBox="1"/>
          <p:nvPr/>
        </p:nvSpPr>
        <p:spPr>
          <a:xfrm>
            <a:off x="10479856" y="894740"/>
            <a:ext cx="440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k6</a:t>
            </a:r>
          </a:p>
        </p:txBody>
      </p:sp>
      <p:sp>
        <p:nvSpPr>
          <p:cNvPr id="37" name="TextBox 36">
            <a:extLst>
              <a:ext uri="{FF2B5EF4-FFF2-40B4-BE49-F238E27FC236}">
                <a16:creationId xmlns:a16="http://schemas.microsoft.com/office/drawing/2014/main" id="{34F91115-37D7-5107-DC4B-9A0944A3DD96}"/>
              </a:ext>
            </a:extLst>
          </p:cNvPr>
          <p:cNvSpPr txBox="1"/>
          <p:nvPr/>
        </p:nvSpPr>
        <p:spPr>
          <a:xfrm>
            <a:off x="9336856" y="894740"/>
            <a:ext cx="440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k5</a:t>
            </a:r>
          </a:p>
        </p:txBody>
      </p:sp>
      <p:sp>
        <p:nvSpPr>
          <p:cNvPr id="38" name="TextBox 37">
            <a:extLst>
              <a:ext uri="{FF2B5EF4-FFF2-40B4-BE49-F238E27FC236}">
                <a16:creationId xmlns:a16="http://schemas.microsoft.com/office/drawing/2014/main" id="{CC97AFCD-1368-2951-7558-78CE7117D067}"/>
              </a:ext>
            </a:extLst>
          </p:cNvPr>
          <p:cNvSpPr txBox="1"/>
          <p:nvPr/>
        </p:nvSpPr>
        <p:spPr>
          <a:xfrm>
            <a:off x="8003356" y="1259865"/>
            <a:ext cx="440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k4</a:t>
            </a:r>
          </a:p>
        </p:txBody>
      </p:sp>
      <p:sp>
        <p:nvSpPr>
          <p:cNvPr id="40" name="TextBox 39">
            <a:extLst>
              <a:ext uri="{FF2B5EF4-FFF2-40B4-BE49-F238E27FC236}">
                <a16:creationId xmlns:a16="http://schemas.microsoft.com/office/drawing/2014/main" id="{BF4E9C79-20A3-EE38-B37C-31D50EC8B259}"/>
              </a:ext>
            </a:extLst>
          </p:cNvPr>
          <p:cNvSpPr txBox="1"/>
          <p:nvPr/>
        </p:nvSpPr>
        <p:spPr>
          <a:xfrm>
            <a:off x="8924106" y="2077428"/>
            <a:ext cx="440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k7</a:t>
            </a:r>
          </a:p>
        </p:txBody>
      </p:sp>
    </p:spTree>
    <p:extLst>
      <p:ext uri="{BB962C8B-B14F-4D97-AF65-F5344CB8AC3E}">
        <p14:creationId xmlns:p14="http://schemas.microsoft.com/office/powerpoint/2010/main" val="3419654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F4BF4-0D3B-EF88-A6DE-81A729C35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D20CB-6A24-7910-C5F7-C20CFCBBC6D8}"/>
              </a:ext>
            </a:extLst>
          </p:cNvPr>
          <p:cNvSpPr>
            <a:spLocks noGrp="1"/>
          </p:cNvSpPr>
          <p:nvPr>
            <p:ph type="ctrTitle"/>
          </p:nvPr>
        </p:nvSpPr>
        <p:spPr>
          <a:xfrm>
            <a:off x="849016" y="4678744"/>
            <a:ext cx="10218208" cy="994053"/>
          </a:xfrm>
        </p:spPr>
        <p:txBody>
          <a:bodyPr vert="horz" lIns="91440" tIns="45720" rIns="91440" bIns="45720" rtlCol="0" anchor="b">
            <a:noAutofit/>
          </a:bodyPr>
          <a:lstStyle/>
          <a:p>
            <a:r>
              <a:rPr lang="en-US" sz="2800" dirty="0">
                <a:latin typeface="Calibri"/>
                <a:ea typeface="Calibri"/>
                <a:cs typeface="Calibri"/>
              </a:rPr>
              <a:t>Private Key: Only the owner knows</a:t>
            </a:r>
            <a:br>
              <a:rPr lang="en-US" sz="2800" dirty="0">
                <a:latin typeface="Calibri"/>
                <a:ea typeface="Calibri"/>
                <a:cs typeface="Calibri"/>
              </a:rPr>
            </a:br>
            <a:r>
              <a:rPr lang="en-US" sz="2800" dirty="0">
                <a:latin typeface="Calibri"/>
                <a:ea typeface="Calibri"/>
                <a:cs typeface="Calibri"/>
              </a:rPr>
              <a:t>Public key: known to all, kept is a public server</a:t>
            </a:r>
          </a:p>
        </p:txBody>
      </p:sp>
      <p:sp>
        <p:nvSpPr>
          <p:cNvPr id="5" name="Title 1">
            <a:extLst>
              <a:ext uri="{FF2B5EF4-FFF2-40B4-BE49-F238E27FC236}">
                <a16:creationId xmlns:a16="http://schemas.microsoft.com/office/drawing/2014/main" id="{141572F1-AF50-6E2A-76FF-F5A603F5CF11}"/>
              </a:ext>
            </a:extLst>
          </p:cNvPr>
          <p:cNvSpPr txBox="1">
            <a:spLocks/>
          </p:cNvSpPr>
          <p:nvPr/>
        </p:nvSpPr>
        <p:spPr>
          <a:xfrm>
            <a:off x="660400" y="715180"/>
            <a:ext cx="11121975" cy="96633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Solution to the problem: Asymmetric Key Cryptography. Concept of public and private key</a:t>
            </a:r>
          </a:p>
        </p:txBody>
      </p:sp>
      <p:pic>
        <p:nvPicPr>
          <p:cNvPr id="7" name="Graphic 6" descr="Computer with solid fill">
            <a:extLst>
              <a:ext uri="{FF2B5EF4-FFF2-40B4-BE49-F238E27FC236}">
                <a16:creationId xmlns:a16="http://schemas.microsoft.com/office/drawing/2014/main" id="{10B55864-025D-8EA8-CF1D-82D1A4D37E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85214" y="3128859"/>
            <a:ext cx="1103590" cy="1042317"/>
          </a:xfrm>
          <a:prstGeom prst="rect">
            <a:avLst/>
          </a:prstGeom>
        </p:spPr>
      </p:pic>
      <p:pic>
        <p:nvPicPr>
          <p:cNvPr id="8" name="Graphic 7" descr="Computer with solid fill">
            <a:extLst>
              <a:ext uri="{FF2B5EF4-FFF2-40B4-BE49-F238E27FC236}">
                <a16:creationId xmlns:a16="http://schemas.microsoft.com/office/drawing/2014/main" id="{BA8EEB5F-2843-D956-B372-98A2BDCDFB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52382" y="3128859"/>
            <a:ext cx="1103590" cy="1042317"/>
          </a:xfrm>
          <a:prstGeom prst="rect">
            <a:avLst/>
          </a:prstGeom>
        </p:spPr>
      </p:pic>
      <p:pic>
        <p:nvPicPr>
          <p:cNvPr id="9" name="Graphic 8" descr="Computer with solid fill">
            <a:extLst>
              <a:ext uri="{FF2B5EF4-FFF2-40B4-BE49-F238E27FC236}">
                <a16:creationId xmlns:a16="http://schemas.microsoft.com/office/drawing/2014/main" id="{055D8276-20B1-2B2C-7B29-48588B39F0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50595" y="3128180"/>
            <a:ext cx="1103590" cy="1042317"/>
          </a:xfrm>
          <a:prstGeom prst="rect">
            <a:avLst/>
          </a:prstGeom>
        </p:spPr>
      </p:pic>
      <p:cxnSp>
        <p:nvCxnSpPr>
          <p:cNvPr id="10" name="Straight Arrow Connector 9">
            <a:extLst>
              <a:ext uri="{FF2B5EF4-FFF2-40B4-BE49-F238E27FC236}">
                <a16:creationId xmlns:a16="http://schemas.microsoft.com/office/drawing/2014/main" id="{88A1D663-B110-C7B9-295C-0B2374CFB3F7}"/>
              </a:ext>
            </a:extLst>
          </p:cNvPr>
          <p:cNvCxnSpPr/>
          <p:nvPr/>
        </p:nvCxnSpPr>
        <p:spPr>
          <a:xfrm>
            <a:off x="2720287" y="3556459"/>
            <a:ext cx="2014225" cy="63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1F0A35F-6333-01CE-B4AC-20A855BABB3C}"/>
              </a:ext>
            </a:extLst>
          </p:cNvPr>
          <p:cNvCxnSpPr>
            <a:cxnSpLocks/>
          </p:cNvCxnSpPr>
          <p:nvPr/>
        </p:nvCxnSpPr>
        <p:spPr>
          <a:xfrm>
            <a:off x="6788265" y="3610199"/>
            <a:ext cx="2014225" cy="63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ACBAD7E-58C5-724C-78DF-B4F081009373}"/>
              </a:ext>
            </a:extLst>
          </p:cNvPr>
          <p:cNvSpPr txBox="1"/>
          <p:nvPr/>
        </p:nvSpPr>
        <p:spPr>
          <a:xfrm>
            <a:off x="1145870" y="2871595"/>
            <a:ext cx="1390900" cy="4232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sp>
        <p:nvSpPr>
          <p:cNvPr id="13" name="TextBox 12">
            <a:extLst>
              <a:ext uri="{FF2B5EF4-FFF2-40B4-BE49-F238E27FC236}">
                <a16:creationId xmlns:a16="http://schemas.microsoft.com/office/drawing/2014/main" id="{28E7265C-BA74-7993-462A-6EFB3B0B387B}"/>
              </a:ext>
            </a:extLst>
          </p:cNvPr>
          <p:cNvSpPr txBox="1"/>
          <p:nvPr/>
        </p:nvSpPr>
        <p:spPr>
          <a:xfrm>
            <a:off x="5012463" y="2871595"/>
            <a:ext cx="1766819" cy="420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Cipher text </a:t>
            </a:r>
          </a:p>
        </p:txBody>
      </p:sp>
      <p:sp>
        <p:nvSpPr>
          <p:cNvPr id="14" name="TextBox 13">
            <a:extLst>
              <a:ext uri="{FF2B5EF4-FFF2-40B4-BE49-F238E27FC236}">
                <a16:creationId xmlns:a16="http://schemas.microsoft.com/office/drawing/2014/main" id="{20A04BB4-A790-D15C-3ECB-43F599C0FB02}"/>
              </a:ext>
            </a:extLst>
          </p:cNvPr>
          <p:cNvSpPr txBox="1"/>
          <p:nvPr/>
        </p:nvSpPr>
        <p:spPr>
          <a:xfrm>
            <a:off x="9006601" y="2871595"/>
            <a:ext cx="1390900" cy="4232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Plain text </a:t>
            </a:r>
          </a:p>
        </p:txBody>
      </p:sp>
      <p:sp>
        <p:nvSpPr>
          <p:cNvPr id="15" name="TextBox 14">
            <a:extLst>
              <a:ext uri="{FF2B5EF4-FFF2-40B4-BE49-F238E27FC236}">
                <a16:creationId xmlns:a16="http://schemas.microsoft.com/office/drawing/2014/main" id="{DF27025C-B4F0-BB6D-13E3-245D825908A8}"/>
              </a:ext>
            </a:extLst>
          </p:cNvPr>
          <p:cNvSpPr txBox="1"/>
          <p:nvPr/>
        </p:nvSpPr>
        <p:spPr>
          <a:xfrm>
            <a:off x="2676716" y="2867874"/>
            <a:ext cx="203737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Encrypt the data with public key</a:t>
            </a:r>
          </a:p>
        </p:txBody>
      </p:sp>
      <p:sp>
        <p:nvSpPr>
          <p:cNvPr id="16" name="TextBox 15">
            <a:extLst>
              <a:ext uri="{FF2B5EF4-FFF2-40B4-BE49-F238E27FC236}">
                <a16:creationId xmlns:a16="http://schemas.microsoft.com/office/drawing/2014/main" id="{6C296C7A-2759-BFEE-7B34-FB5E8D8F27F8}"/>
              </a:ext>
            </a:extLst>
          </p:cNvPr>
          <p:cNvSpPr txBox="1"/>
          <p:nvPr/>
        </p:nvSpPr>
        <p:spPr>
          <a:xfrm>
            <a:off x="6783726" y="2869688"/>
            <a:ext cx="202590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Decrypt the data with private key </a:t>
            </a:r>
          </a:p>
        </p:txBody>
      </p:sp>
      <p:pic>
        <p:nvPicPr>
          <p:cNvPr id="4" name="Graphic 3" descr="Man with solid fill">
            <a:extLst>
              <a:ext uri="{FF2B5EF4-FFF2-40B4-BE49-F238E27FC236}">
                <a16:creationId xmlns:a16="http://schemas.microsoft.com/office/drawing/2014/main" id="{E27B42FE-D061-44CF-A0AB-427B3AF99A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8053" y="1710812"/>
            <a:ext cx="914400" cy="914400"/>
          </a:xfrm>
          <a:prstGeom prst="rect">
            <a:avLst/>
          </a:prstGeom>
        </p:spPr>
      </p:pic>
      <p:pic>
        <p:nvPicPr>
          <p:cNvPr id="18" name="Graphic 17" descr="Woman with solid fill">
            <a:extLst>
              <a:ext uri="{FF2B5EF4-FFF2-40B4-BE49-F238E27FC236}">
                <a16:creationId xmlns:a16="http://schemas.microsoft.com/office/drawing/2014/main" id="{6E09C1CB-5BC4-B16E-9297-5E8DC8FD87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71290" y="1712286"/>
            <a:ext cx="914400" cy="914400"/>
          </a:xfrm>
          <a:prstGeom prst="rect">
            <a:avLst/>
          </a:prstGeom>
        </p:spPr>
      </p:pic>
      <p:sp>
        <p:nvSpPr>
          <p:cNvPr id="19" name="TextBox 18">
            <a:extLst>
              <a:ext uri="{FF2B5EF4-FFF2-40B4-BE49-F238E27FC236}">
                <a16:creationId xmlns:a16="http://schemas.microsoft.com/office/drawing/2014/main" id="{F1141C51-DDD9-28DE-286A-97714CEFB89F}"/>
              </a:ext>
            </a:extLst>
          </p:cNvPr>
          <p:cNvSpPr txBox="1"/>
          <p:nvPr/>
        </p:nvSpPr>
        <p:spPr>
          <a:xfrm>
            <a:off x="2140386" y="4357060"/>
            <a:ext cx="203737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Encrypt the data with private key</a:t>
            </a:r>
          </a:p>
        </p:txBody>
      </p:sp>
      <p:sp>
        <p:nvSpPr>
          <p:cNvPr id="21" name="TextBox 20">
            <a:extLst>
              <a:ext uri="{FF2B5EF4-FFF2-40B4-BE49-F238E27FC236}">
                <a16:creationId xmlns:a16="http://schemas.microsoft.com/office/drawing/2014/main" id="{A6030FB4-D571-EDC0-346D-901A7E3002FE}"/>
              </a:ext>
            </a:extLst>
          </p:cNvPr>
          <p:cNvSpPr txBox="1"/>
          <p:nvPr/>
        </p:nvSpPr>
        <p:spPr>
          <a:xfrm>
            <a:off x="6774865" y="3613966"/>
            <a:ext cx="202590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Decrypt the data with public key </a:t>
            </a:r>
          </a:p>
        </p:txBody>
      </p:sp>
      <p:cxnSp>
        <p:nvCxnSpPr>
          <p:cNvPr id="23" name="Straight Arrow Connector 22">
            <a:extLst>
              <a:ext uri="{FF2B5EF4-FFF2-40B4-BE49-F238E27FC236}">
                <a16:creationId xmlns:a16="http://schemas.microsoft.com/office/drawing/2014/main" id="{88A1D663-B110-C7B9-295C-0B2374CFB3F7}"/>
              </a:ext>
            </a:extLst>
          </p:cNvPr>
          <p:cNvCxnSpPr/>
          <p:nvPr/>
        </p:nvCxnSpPr>
        <p:spPr>
          <a:xfrm>
            <a:off x="2712967" y="3660811"/>
            <a:ext cx="2014225" cy="63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8A1D663-B110-C7B9-295C-0B2374CFB3F7}"/>
              </a:ext>
            </a:extLst>
          </p:cNvPr>
          <p:cNvCxnSpPr/>
          <p:nvPr/>
        </p:nvCxnSpPr>
        <p:spPr>
          <a:xfrm>
            <a:off x="6788264" y="3517708"/>
            <a:ext cx="2014225" cy="63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4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4816D-246D-4761-6DC8-11E3D03F1E4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6464B33-476C-9E9F-E141-B9010AE70117}"/>
              </a:ext>
            </a:extLst>
          </p:cNvPr>
          <p:cNvSpPr txBox="1">
            <a:spLocks/>
          </p:cNvSpPr>
          <p:nvPr/>
        </p:nvSpPr>
        <p:spPr>
          <a:xfrm>
            <a:off x="248920" y="1456860"/>
            <a:ext cx="11121975" cy="121525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Algorithms for symmetric key cryptography</a:t>
            </a:r>
          </a:p>
          <a:p>
            <a:r>
              <a:rPr lang="en-US" sz="2800" dirty="0">
                <a:latin typeface="Calibri"/>
                <a:ea typeface="Calibri"/>
                <a:cs typeface="Calibri"/>
              </a:rPr>
              <a:t>AES – Advanced Encryption Standard</a:t>
            </a:r>
          </a:p>
          <a:p>
            <a:r>
              <a:rPr lang="en-US" sz="2800" dirty="0">
                <a:latin typeface="Calibri"/>
                <a:ea typeface="Calibri"/>
                <a:cs typeface="Calibri"/>
              </a:rPr>
              <a:t>DES – Data Encryption Standard</a:t>
            </a:r>
          </a:p>
        </p:txBody>
      </p:sp>
      <p:sp>
        <p:nvSpPr>
          <p:cNvPr id="17" name="Title 1">
            <a:extLst>
              <a:ext uri="{FF2B5EF4-FFF2-40B4-BE49-F238E27FC236}">
                <a16:creationId xmlns:a16="http://schemas.microsoft.com/office/drawing/2014/main" id="{1501EE56-78A5-B0B1-983B-02EAEB88B510}"/>
              </a:ext>
            </a:extLst>
          </p:cNvPr>
          <p:cNvSpPr txBox="1">
            <a:spLocks/>
          </p:cNvSpPr>
          <p:nvPr/>
        </p:nvSpPr>
        <p:spPr>
          <a:xfrm>
            <a:off x="538479" y="3427899"/>
            <a:ext cx="11121975" cy="121525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Algorithms for asymmetric key cryptography</a:t>
            </a:r>
          </a:p>
          <a:p>
            <a:r>
              <a:rPr lang="en-US" sz="2800" dirty="0">
                <a:latin typeface="Calibri"/>
                <a:ea typeface="Calibri"/>
                <a:cs typeface="Calibri"/>
              </a:rPr>
              <a:t>RSA – Rivest, Shamir, Adleman</a:t>
            </a:r>
          </a:p>
          <a:p>
            <a:r>
              <a:rPr lang="en-US" sz="2800" dirty="0">
                <a:latin typeface="Calibri"/>
                <a:ea typeface="Calibri"/>
                <a:cs typeface="Calibri"/>
              </a:rPr>
              <a:t>ECC – Elliptic Curve Cryptography</a:t>
            </a:r>
          </a:p>
        </p:txBody>
      </p:sp>
    </p:spTree>
    <p:extLst>
      <p:ext uri="{BB962C8B-B14F-4D97-AF65-F5344CB8AC3E}">
        <p14:creationId xmlns:p14="http://schemas.microsoft.com/office/powerpoint/2010/main" val="3861709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D3926-5309-CA66-2C1E-C84E3931D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DE849-1D04-752B-4332-532B2F9360EB}"/>
              </a:ext>
            </a:extLst>
          </p:cNvPr>
          <p:cNvSpPr>
            <a:spLocks noGrp="1"/>
          </p:cNvSpPr>
          <p:nvPr>
            <p:ph type="ctrTitle"/>
          </p:nvPr>
        </p:nvSpPr>
        <p:spPr>
          <a:xfrm>
            <a:off x="849016" y="4678744"/>
            <a:ext cx="10218208" cy="994053"/>
          </a:xfrm>
        </p:spPr>
        <p:txBody>
          <a:bodyPr vert="horz" lIns="91440" tIns="45720" rIns="91440" bIns="45720" rtlCol="0" anchor="b">
            <a:noAutofit/>
          </a:bodyPr>
          <a:lstStyle/>
          <a:p>
            <a:r>
              <a:rPr lang="en-US" sz="2800" dirty="0">
                <a:latin typeface="Calibri"/>
                <a:ea typeface="Calibri"/>
                <a:cs typeface="Calibri"/>
              </a:rPr>
              <a:t>Private Key: Only the owner knows</a:t>
            </a:r>
            <a:br>
              <a:rPr lang="en-US" sz="2800" dirty="0">
                <a:latin typeface="Calibri"/>
                <a:ea typeface="Calibri"/>
                <a:cs typeface="Calibri"/>
              </a:rPr>
            </a:br>
            <a:r>
              <a:rPr lang="en-US" sz="2800" dirty="0">
                <a:latin typeface="Calibri"/>
                <a:ea typeface="Calibri"/>
                <a:cs typeface="Calibri"/>
              </a:rPr>
              <a:t>Public key: known to all, kept is a public server</a:t>
            </a:r>
          </a:p>
        </p:txBody>
      </p:sp>
      <p:sp>
        <p:nvSpPr>
          <p:cNvPr id="5" name="Title 1">
            <a:extLst>
              <a:ext uri="{FF2B5EF4-FFF2-40B4-BE49-F238E27FC236}">
                <a16:creationId xmlns:a16="http://schemas.microsoft.com/office/drawing/2014/main" id="{09A310AD-7720-38B7-90EE-03E50CE67D3C}"/>
              </a:ext>
            </a:extLst>
          </p:cNvPr>
          <p:cNvSpPr txBox="1">
            <a:spLocks/>
          </p:cNvSpPr>
          <p:nvPr/>
        </p:nvSpPr>
        <p:spPr>
          <a:xfrm>
            <a:off x="660400" y="715180"/>
            <a:ext cx="11121975" cy="96633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Solution to the problem: Asymmetric Key Cryptography. Concept of public and private key</a:t>
            </a:r>
          </a:p>
        </p:txBody>
      </p:sp>
      <p:pic>
        <p:nvPicPr>
          <p:cNvPr id="7" name="Graphic 6" descr="Computer with solid fill">
            <a:extLst>
              <a:ext uri="{FF2B5EF4-FFF2-40B4-BE49-F238E27FC236}">
                <a16:creationId xmlns:a16="http://schemas.microsoft.com/office/drawing/2014/main" id="{F95075AB-B980-30FF-AA95-61D0821418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85214" y="3128859"/>
            <a:ext cx="1103590" cy="1042317"/>
          </a:xfrm>
          <a:prstGeom prst="rect">
            <a:avLst/>
          </a:prstGeom>
        </p:spPr>
      </p:pic>
      <p:pic>
        <p:nvPicPr>
          <p:cNvPr id="9" name="Graphic 8" descr="Computer with solid fill">
            <a:extLst>
              <a:ext uri="{FF2B5EF4-FFF2-40B4-BE49-F238E27FC236}">
                <a16:creationId xmlns:a16="http://schemas.microsoft.com/office/drawing/2014/main" id="{2EAF032F-6F5C-091C-16E9-7FDE0D7EB6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50595" y="3128180"/>
            <a:ext cx="1103590" cy="1042317"/>
          </a:xfrm>
          <a:prstGeom prst="rect">
            <a:avLst/>
          </a:prstGeom>
        </p:spPr>
      </p:pic>
      <p:cxnSp>
        <p:nvCxnSpPr>
          <p:cNvPr id="10" name="Straight Arrow Connector 9">
            <a:extLst>
              <a:ext uri="{FF2B5EF4-FFF2-40B4-BE49-F238E27FC236}">
                <a16:creationId xmlns:a16="http://schemas.microsoft.com/office/drawing/2014/main" id="{1F788523-844C-87DC-5409-CC4A7CA01A6A}"/>
              </a:ext>
            </a:extLst>
          </p:cNvPr>
          <p:cNvCxnSpPr/>
          <p:nvPr/>
        </p:nvCxnSpPr>
        <p:spPr>
          <a:xfrm>
            <a:off x="2720287" y="3556459"/>
            <a:ext cx="2014225" cy="63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EE2C4C3-78E5-EF5D-2F2C-053F67E7152D}"/>
              </a:ext>
            </a:extLst>
          </p:cNvPr>
          <p:cNvCxnSpPr>
            <a:cxnSpLocks/>
          </p:cNvCxnSpPr>
          <p:nvPr/>
        </p:nvCxnSpPr>
        <p:spPr>
          <a:xfrm>
            <a:off x="6788265" y="3610199"/>
            <a:ext cx="2014225" cy="63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F69FBD6-E014-C3C0-DE54-F5FBF4CF4FE8}"/>
              </a:ext>
            </a:extLst>
          </p:cNvPr>
          <p:cNvSpPr txBox="1"/>
          <p:nvPr/>
        </p:nvSpPr>
        <p:spPr>
          <a:xfrm>
            <a:off x="2810502" y="2984210"/>
            <a:ext cx="235730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 encrypts the data with B's public key</a:t>
            </a:r>
          </a:p>
        </p:txBody>
      </p:sp>
      <p:sp>
        <p:nvSpPr>
          <p:cNvPr id="16" name="TextBox 15">
            <a:extLst>
              <a:ext uri="{FF2B5EF4-FFF2-40B4-BE49-F238E27FC236}">
                <a16:creationId xmlns:a16="http://schemas.microsoft.com/office/drawing/2014/main" id="{2F7FE93E-4A72-0673-C3D2-999A937846C9}"/>
              </a:ext>
            </a:extLst>
          </p:cNvPr>
          <p:cNvSpPr txBox="1"/>
          <p:nvPr/>
        </p:nvSpPr>
        <p:spPr>
          <a:xfrm>
            <a:off x="6428902" y="3055825"/>
            <a:ext cx="283443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B decrypts the data with her own private key </a:t>
            </a:r>
          </a:p>
        </p:txBody>
      </p:sp>
      <p:pic>
        <p:nvPicPr>
          <p:cNvPr id="4" name="Graphic 3" descr="Man with solid fill">
            <a:extLst>
              <a:ext uri="{FF2B5EF4-FFF2-40B4-BE49-F238E27FC236}">
                <a16:creationId xmlns:a16="http://schemas.microsoft.com/office/drawing/2014/main" id="{B0358DAA-6215-EAA3-F6E8-9C8EC128C6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8053" y="1710812"/>
            <a:ext cx="914400" cy="914400"/>
          </a:xfrm>
          <a:prstGeom prst="rect">
            <a:avLst/>
          </a:prstGeom>
        </p:spPr>
      </p:pic>
      <p:pic>
        <p:nvPicPr>
          <p:cNvPr id="18" name="Graphic 17" descr="Woman with solid fill">
            <a:extLst>
              <a:ext uri="{FF2B5EF4-FFF2-40B4-BE49-F238E27FC236}">
                <a16:creationId xmlns:a16="http://schemas.microsoft.com/office/drawing/2014/main" id="{94ACEB10-D2D4-E951-5702-57308768E0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71290" y="1712286"/>
            <a:ext cx="914400" cy="914400"/>
          </a:xfrm>
          <a:prstGeom prst="rect">
            <a:avLst/>
          </a:prstGeom>
        </p:spPr>
      </p:pic>
      <p:sp>
        <p:nvSpPr>
          <p:cNvPr id="21" name="TextBox 20">
            <a:extLst>
              <a:ext uri="{FF2B5EF4-FFF2-40B4-BE49-F238E27FC236}">
                <a16:creationId xmlns:a16="http://schemas.microsoft.com/office/drawing/2014/main" id="{36033A20-F4C5-289F-CD46-EF0C569947B5}"/>
              </a:ext>
            </a:extLst>
          </p:cNvPr>
          <p:cNvSpPr txBox="1"/>
          <p:nvPr/>
        </p:nvSpPr>
        <p:spPr>
          <a:xfrm>
            <a:off x="7752086" y="4678439"/>
            <a:ext cx="20259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p>
        </p:txBody>
      </p:sp>
    </p:spTree>
    <p:extLst>
      <p:ext uri="{BB962C8B-B14F-4D97-AF65-F5344CB8AC3E}">
        <p14:creationId xmlns:p14="http://schemas.microsoft.com/office/powerpoint/2010/main" val="1853225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88B6F-31E1-B5C7-E78B-89D654D90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A77A6C-F3E9-0019-C183-38650949DC97}"/>
              </a:ext>
            </a:extLst>
          </p:cNvPr>
          <p:cNvSpPr>
            <a:spLocks noGrp="1"/>
          </p:cNvSpPr>
          <p:nvPr>
            <p:ph type="ctrTitle"/>
          </p:nvPr>
        </p:nvSpPr>
        <p:spPr>
          <a:xfrm>
            <a:off x="849016" y="4747536"/>
            <a:ext cx="10218208" cy="438428"/>
          </a:xfrm>
        </p:spPr>
        <p:txBody>
          <a:bodyPr vert="horz" lIns="91440" tIns="45720" rIns="91440" bIns="45720" rtlCol="0" anchor="b">
            <a:noAutofit/>
          </a:bodyPr>
          <a:lstStyle/>
          <a:p>
            <a:br>
              <a:rPr lang="en-US" sz="2800" dirty="0">
                <a:latin typeface="Calibri"/>
                <a:ea typeface="Calibri"/>
                <a:cs typeface="Calibri"/>
              </a:rPr>
            </a:br>
            <a:r>
              <a:rPr lang="en-US" sz="2800" dirty="0">
                <a:latin typeface="Calibri"/>
                <a:ea typeface="Calibri"/>
                <a:cs typeface="Calibri"/>
              </a:rPr>
              <a:t>Public key: known to all, kept is a public server</a:t>
            </a:r>
          </a:p>
        </p:txBody>
      </p:sp>
      <p:sp>
        <p:nvSpPr>
          <p:cNvPr id="5" name="Title 1">
            <a:extLst>
              <a:ext uri="{FF2B5EF4-FFF2-40B4-BE49-F238E27FC236}">
                <a16:creationId xmlns:a16="http://schemas.microsoft.com/office/drawing/2014/main" id="{C8DBC6D7-9FD0-B201-F568-2215634B5655}"/>
              </a:ext>
            </a:extLst>
          </p:cNvPr>
          <p:cNvSpPr txBox="1">
            <a:spLocks/>
          </p:cNvSpPr>
          <p:nvPr/>
        </p:nvSpPr>
        <p:spPr>
          <a:xfrm>
            <a:off x="660400" y="715180"/>
            <a:ext cx="11121975" cy="64629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Problems with Asymmetric Key Cryptography</a:t>
            </a:r>
          </a:p>
        </p:txBody>
      </p:sp>
      <p:pic>
        <p:nvPicPr>
          <p:cNvPr id="7" name="Graphic 6" descr="Computer with solid fill">
            <a:extLst>
              <a:ext uri="{FF2B5EF4-FFF2-40B4-BE49-F238E27FC236}">
                <a16:creationId xmlns:a16="http://schemas.microsoft.com/office/drawing/2014/main" id="{31FD59B3-1F27-6704-1CF8-2E2421E42A0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85214" y="3128859"/>
            <a:ext cx="1103590" cy="1042317"/>
          </a:xfrm>
          <a:prstGeom prst="rect">
            <a:avLst/>
          </a:prstGeom>
        </p:spPr>
      </p:pic>
      <p:pic>
        <p:nvPicPr>
          <p:cNvPr id="9" name="Graphic 8" descr="Computer with solid fill">
            <a:extLst>
              <a:ext uri="{FF2B5EF4-FFF2-40B4-BE49-F238E27FC236}">
                <a16:creationId xmlns:a16="http://schemas.microsoft.com/office/drawing/2014/main" id="{5436A49B-1818-E0E6-D1F5-CB2E8A87C8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50595" y="3128180"/>
            <a:ext cx="1103590" cy="1042317"/>
          </a:xfrm>
          <a:prstGeom prst="rect">
            <a:avLst/>
          </a:prstGeom>
        </p:spPr>
      </p:pic>
      <p:cxnSp>
        <p:nvCxnSpPr>
          <p:cNvPr id="10" name="Straight Arrow Connector 9">
            <a:extLst>
              <a:ext uri="{FF2B5EF4-FFF2-40B4-BE49-F238E27FC236}">
                <a16:creationId xmlns:a16="http://schemas.microsoft.com/office/drawing/2014/main" id="{EB82B7B5-F7C0-804A-4380-35232570B5E8}"/>
              </a:ext>
            </a:extLst>
          </p:cNvPr>
          <p:cNvCxnSpPr/>
          <p:nvPr/>
        </p:nvCxnSpPr>
        <p:spPr>
          <a:xfrm flipV="1">
            <a:off x="2386912" y="3636889"/>
            <a:ext cx="1363350" cy="14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2949807-0330-9826-5A28-0253884FFF6D}"/>
              </a:ext>
            </a:extLst>
          </p:cNvPr>
          <p:cNvCxnSpPr>
            <a:cxnSpLocks/>
          </p:cNvCxnSpPr>
          <p:nvPr/>
        </p:nvCxnSpPr>
        <p:spPr>
          <a:xfrm flipV="1">
            <a:off x="5794131" y="3616546"/>
            <a:ext cx="3008359" cy="203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0BFC3CAB-62A0-CA1A-B97C-1E35029B9686}"/>
              </a:ext>
            </a:extLst>
          </p:cNvPr>
          <p:cNvSpPr txBox="1"/>
          <p:nvPr/>
        </p:nvSpPr>
        <p:spPr>
          <a:xfrm>
            <a:off x="2096126" y="2624377"/>
            <a:ext cx="235730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 encrypts the data with B's public key</a:t>
            </a:r>
          </a:p>
        </p:txBody>
      </p:sp>
      <p:sp>
        <p:nvSpPr>
          <p:cNvPr id="16" name="TextBox 15">
            <a:extLst>
              <a:ext uri="{FF2B5EF4-FFF2-40B4-BE49-F238E27FC236}">
                <a16:creationId xmlns:a16="http://schemas.microsoft.com/office/drawing/2014/main" id="{1F3A4C0B-A27C-8659-9DEB-F6B9ED8BD851}"/>
              </a:ext>
            </a:extLst>
          </p:cNvPr>
          <p:cNvSpPr txBox="1"/>
          <p:nvPr/>
        </p:nvSpPr>
        <p:spPr>
          <a:xfrm>
            <a:off x="8232788" y="1552873"/>
            <a:ext cx="283443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B decrypts the data with her own private key, doesn't know whether the file came from A or C.</a:t>
            </a:r>
          </a:p>
          <a:p>
            <a:r>
              <a:rPr lang="en-US" dirty="0"/>
              <a:t>How to authenticate the identity of the sender.</a:t>
            </a:r>
          </a:p>
        </p:txBody>
      </p:sp>
      <p:pic>
        <p:nvPicPr>
          <p:cNvPr id="4" name="Graphic 3" descr="Man with solid fill">
            <a:extLst>
              <a:ext uri="{FF2B5EF4-FFF2-40B4-BE49-F238E27FC236}">
                <a16:creationId xmlns:a16="http://schemas.microsoft.com/office/drawing/2014/main" id="{3EF2DBE1-DA61-21E1-5D42-8F389353C1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8053" y="1710812"/>
            <a:ext cx="914400" cy="914400"/>
          </a:xfrm>
          <a:prstGeom prst="rect">
            <a:avLst/>
          </a:prstGeom>
        </p:spPr>
      </p:pic>
      <p:pic>
        <p:nvPicPr>
          <p:cNvPr id="18" name="Graphic 17" descr="Woman with solid fill">
            <a:extLst>
              <a:ext uri="{FF2B5EF4-FFF2-40B4-BE49-F238E27FC236}">
                <a16:creationId xmlns:a16="http://schemas.microsoft.com/office/drawing/2014/main" id="{57DDDD87-D721-BBBB-8053-3F1463B54D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81930" y="1346526"/>
            <a:ext cx="914400" cy="914400"/>
          </a:xfrm>
          <a:prstGeom prst="rect">
            <a:avLst/>
          </a:prstGeom>
        </p:spPr>
      </p:pic>
      <p:pic>
        <p:nvPicPr>
          <p:cNvPr id="3" name="Graphic 2" descr="Computer with solid fill">
            <a:extLst>
              <a:ext uri="{FF2B5EF4-FFF2-40B4-BE49-F238E27FC236}">
                <a16:creationId xmlns:a16="http://schemas.microsoft.com/office/drawing/2014/main" id="{AE32CE92-5474-675B-6946-D8E6C31C31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4589" y="3086525"/>
            <a:ext cx="1103590" cy="1042317"/>
          </a:xfrm>
          <a:prstGeom prst="rect">
            <a:avLst/>
          </a:prstGeom>
        </p:spPr>
      </p:pic>
      <p:pic>
        <p:nvPicPr>
          <p:cNvPr id="8" name="Graphic 7" descr="Man with solid fill">
            <a:extLst>
              <a:ext uri="{FF2B5EF4-FFF2-40B4-BE49-F238E27FC236}">
                <a16:creationId xmlns:a16="http://schemas.microsoft.com/office/drawing/2014/main" id="{F618CF4F-FB54-49FE-D3C6-9C3A034274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56803" y="2033604"/>
            <a:ext cx="914400" cy="914400"/>
          </a:xfrm>
          <a:prstGeom prst="rect">
            <a:avLst/>
          </a:prstGeom>
        </p:spPr>
      </p:pic>
      <p:sp>
        <p:nvSpPr>
          <p:cNvPr id="12" name="TextBox 11">
            <a:extLst>
              <a:ext uri="{FF2B5EF4-FFF2-40B4-BE49-F238E27FC236}">
                <a16:creationId xmlns:a16="http://schemas.microsoft.com/office/drawing/2014/main" id="{0A0DA627-A369-5C7A-AC87-6395B5D36928}"/>
              </a:ext>
            </a:extLst>
          </p:cNvPr>
          <p:cNvSpPr txBox="1"/>
          <p:nvPr/>
        </p:nvSpPr>
        <p:spPr>
          <a:xfrm>
            <a:off x="5230155" y="1751989"/>
            <a:ext cx="272167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 hacks in and changes the data and encrypts the data with B's public key</a:t>
            </a:r>
          </a:p>
        </p:txBody>
      </p:sp>
      <p:cxnSp>
        <p:nvCxnSpPr>
          <p:cNvPr id="13" name="Straight Arrow Connector 12">
            <a:extLst>
              <a:ext uri="{FF2B5EF4-FFF2-40B4-BE49-F238E27FC236}">
                <a16:creationId xmlns:a16="http://schemas.microsoft.com/office/drawing/2014/main" id="{EEB8982C-A25C-7A49-AA85-98C6EB1FB0F1}"/>
              </a:ext>
            </a:extLst>
          </p:cNvPr>
          <p:cNvCxnSpPr/>
          <p:nvPr/>
        </p:nvCxnSpPr>
        <p:spPr>
          <a:xfrm>
            <a:off x="5677775" y="2898445"/>
            <a:ext cx="2620511" cy="3308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0092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A0F94-F918-2F04-421D-76B952CE52F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B511C09-7F45-2722-4697-1925F193DB17}"/>
              </a:ext>
            </a:extLst>
          </p:cNvPr>
          <p:cNvSpPr txBox="1">
            <a:spLocks/>
          </p:cNvSpPr>
          <p:nvPr/>
        </p:nvSpPr>
        <p:spPr>
          <a:xfrm>
            <a:off x="660400" y="715180"/>
            <a:ext cx="11121975" cy="64629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How to maintain the identity of the sender: Use digital signature</a:t>
            </a:r>
          </a:p>
        </p:txBody>
      </p:sp>
      <p:pic>
        <p:nvPicPr>
          <p:cNvPr id="7" name="Graphic 6" descr="Computer with solid fill">
            <a:extLst>
              <a:ext uri="{FF2B5EF4-FFF2-40B4-BE49-F238E27FC236}">
                <a16:creationId xmlns:a16="http://schemas.microsoft.com/office/drawing/2014/main" id="{70354056-CC40-ED67-FF5B-03532533D6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85214" y="3128859"/>
            <a:ext cx="1103590" cy="1042317"/>
          </a:xfrm>
          <a:prstGeom prst="rect">
            <a:avLst/>
          </a:prstGeom>
        </p:spPr>
      </p:pic>
      <p:pic>
        <p:nvPicPr>
          <p:cNvPr id="9" name="Graphic 8" descr="Computer with solid fill">
            <a:extLst>
              <a:ext uri="{FF2B5EF4-FFF2-40B4-BE49-F238E27FC236}">
                <a16:creationId xmlns:a16="http://schemas.microsoft.com/office/drawing/2014/main" id="{9D9321C5-82E2-6E34-42A5-5BB714977F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50595" y="3128180"/>
            <a:ext cx="1103590" cy="1042317"/>
          </a:xfrm>
          <a:prstGeom prst="rect">
            <a:avLst/>
          </a:prstGeom>
        </p:spPr>
      </p:pic>
      <p:cxnSp>
        <p:nvCxnSpPr>
          <p:cNvPr id="10" name="Straight Arrow Connector 9">
            <a:extLst>
              <a:ext uri="{FF2B5EF4-FFF2-40B4-BE49-F238E27FC236}">
                <a16:creationId xmlns:a16="http://schemas.microsoft.com/office/drawing/2014/main" id="{CBE0EDC9-FF4E-B0A1-1F6B-B96579FD817E}"/>
              </a:ext>
            </a:extLst>
          </p:cNvPr>
          <p:cNvCxnSpPr/>
          <p:nvPr/>
        </p:nvCxnSpPr>
        <p:spPr>
          <a:xfrm flipV="1">
            <a:off x="2386912" y="3636889"/>
            <a:ext cx="1363350" cy="148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411F737-913B-8967-9DAB-5755D9C670E2}"/>
              </a:ext>
            </a:extLst>
          </p:cNvPr>
          <p:cNvCxnSpPr>
            <a:cxnSpLocks/>
          </p:cNvCxnSpPr>
          <p:nvPr/>
        </p:nvCxnSpPr>
        <p:spPr>
          <a:xfrm>
            <a:off x="6096702" y="3501342"/>
            <a:ext cx="2014225" cy="63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A8A0D76-876D-689B-F7E9-5C4F01969E1C}"/>
              </a:ext>
            </a:extLst>
          </p:cNvPr>
          <p:cNvSpPr txBox="1"/>
          <p:nvPr/>
        </p:nvSpPr>
        <p:spPr>
          <a:xfrm>
            <a:off x="1167639" y="2643587"/>
            <a:ext cx="29950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 encrypts the data with his own private key</a:t>
            </a:r>
          </a:p>
        </p:txBody>
      </p:sp>
      <p:sp>
        <p:nvSpPr>
          <p:cNvPr id="16" name="TextBox 15">
            <a:extLst>
              <a:ext uri="{FF2B5EF4-FFF2-40B4-BE49-F238E27FC236}">
                <a16:creationId xmlns:a16="http://schemas.microsoft.com/office/drawing/2014/main" id="{7BA7DB76-90A9-8778-2C42-54AA164C40B4}"/>
              </a:ext>
            </a:extLst>
          </p:cNvPr>
          <p:cNvSpPr txBox="1"/>
          <p:nvPr/>
        </p:nvSpPr>
        <p:spPr>
          <a:xfrm>
            <a:off x="8805376" y="4166013"/>
            <a:ext cx="324008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B decrypts the data with A's public key, A’s data can only be decrypted by A’s public key. If the packet is hacked by C, A's public key will not work, only C's public key will work and B knows something is wrong, it didn’t come from A.</a:t>
            </a:r>
          </a:p>
        </p:txBody>
      </p:sp>
      <p:pic>
        <p:nvPicPr>
          <p:cNvPr id="4" name="Graphic 3" descr="Man with solid fill">
            <a:extLst>
              <a:ext uri="{FF2B5EF4-FFF2-40B4-BE49-F238E27FC236}">
                <a16:creationId xmlns:a16="http://schemas.microsoft.com/office/drawing/2014/main" id="{B825E59B-5C15-381A-3C37-954D19E777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76305" y="1730022"/>
            <a:ext cx="914400" cy="914400"/>
          </a:xfrm>
          <a:prstGeom prst="rect">
            <a:avLst/>
          </a:prstGeom>
        </p:spPr>
      </p:pic>
      <p:pic>
        <p:nvPicPr>
          <p:cNvPr id="18" name="Graphic 17" descr="Woman with solid fill">
            <a:extLst>
              <a:ext uri="{FF2B5EF4-FFF2-40B4-BE49-F238E27FC236}">
                <a16:creationId xmlns:a16="http://schemas.microsoft.com/office/drawing/2014/main" id="{8C6A8CF8-4D1E-0CB5-13C1-63BB36BD61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04249" y="1890812"/>
            <a:ext cx="914400" cy="914400"/>
          </a:xfrm>
          <a:prstGeom prst="rect">
            <a:avLst/>
          </a:prstGeom>
        </p:spPr>
      </p:pic>
      <p:pic>
        <p:nvPicPr>
          <p:cNvPr id="3" name="Graphic 2" descr="Computer with solid fill">
            <a:extLst>
              <a:ext uri="{FF2B5EF4-FFF2-40B4-BE49-F238E27FC236}">
                <a16:creationId xmlns:a16="http://schemas.microsoft.com/office/drawing/2014/main" id="{BE9D2C15-289E-7C0C-043A-0C3C59E13D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4589" y="3086525"/>
            <a:ext cx="1103590" cy="1042317"/>
          </a:xfrm>
          <a:prstGeom prst="rect">
            <a:avLst/>
          </a:prstGeom>
        </p:spPr>
      </p:pic>
      <p:pic>
        <p:nvPicPr>
          <p:cNvPr id="8" name="Graphic 7" descr="Man with solid fill">
            <a:extLst>
              <a:ext uri="{FF2B5EF4-FFF2-40B4-BE49-F238E27FC236}">
                <a16:creationId xmlns:a16="http://schemas.microsoft.com/office/drawing/2014/main" id="{222E2629-82DD-2E74-A3D9-54C54059FD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56803" y="2033604"/>
            <a:ext cx="914400" cy="914400"/>
          </a:xfrm>
          <a:prstGeom prst="rect">
            <a:avLst/>
          </a:prstGeom>
        </p:spPr>
      </p:pic>
      <p:sp>
        <p:nvSpPr>
          <p:cNvPr id="12" name="TextBox 11">
            <a:extLst>
              <a:ext uri="{FF2B5EF4-FFF2-40B4-BE49-F238E27FC236}">
                <a16:creationId xmlns:a16="http://schemas.microsoft.com/office/drawing/2014/main" id="{E6D183AB-1EC5-0E18-955C-7D9DDC52FCB2}"/>
              </a:ext>
            </a:extLst>
          </p:cNvPr>
          <p:cNvSpPr txBox="1"/>
          <p:nvPr/>
        </p:nvSpPr>
        <p:spPr>
          <a:xfrm>
            <a:off x="5249959" y="2169294"/>
            <a:ext cx="235730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 comes in and hacks. </a:t>
            </a:r>
          </a:p>
        </p:txBody>
      </p:sp>
      <p:cxnSp>
        <p:nvCxnSpPr>
          <p:cNvPr id="13" name="Straight Arrow Connector 12">
            <a:extLst>
              <a:ext uri="{FF2B5EF4-FFF2-40B4-BE49-F238E27FC236}">
                <a16:creationId xmlns:a16="http://schemas.microsoft.com/office/drawing/2014/main" id="{7EE95DB7-3961-EA98-AAB4-3D531BE7AC41}"/>
              </a:ext>
            </a:extLst>
          </p:cNvPr>
          <p:cNvCxnSpPr/>
          <p:nvPr/>
        </p:nvCxnSpPr>
        <p:spPr>
          <a:xfrm>
            <a:off x="5793036" y="2706344"/>
            <a:ext cx="2620511" cy="3308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itle 1">
            <a:extLst>
              <a:ext uri="{FF2B5EF4-FFF2-40B4-BE49-F238E27FC236}">
                <a16:creationId xmlns:a16="http://schemas.microsoft.com/office/drawing/2014/main" id="{214F0CBC-7029-4F0C-4593-3F99649C9981}"/>
              </a:ext>
            </a:extLst>
          </p:cNvPr>
          <p:cNvSpPr>
            <a:spLocks noGrp="1"/>
          </p:cNvSpPr>
          <p:nvPr>
            <p:ph type="ctrTitle"/>
          </p:nvPr>
        </p:nvSpPr>
        <p:spPr>
          <a:xfrm>
            <a:off x="663319" y="4805166"/>
            <a:ext cx="6984512" cy="476849"/>
          </a:xfrm>
        </p:spPr>
        <p:txBody>
          <a:bodyPr vert="horz" lIns="91440" tIns="45720" rIns="91440" bIns="45720" rtlCol="0" anchor="b">
            <a:noAutofit/>
          </a:bodyPr>
          <a:lstStyle/>
          <a:p>
            <a:br>
              <a:rPr lang="en-US" sz="2800" dirty="0">
                <a:latin typeface="Calibri"/>
                <a:ea typeface="Calibri"/>
                <a:cs typeface="Calibri"/>
              </a:rPr>
            </a:br>
            <a:r>
              <a:rPr lang="en-US" sz="2800" dirty="0">
                <a:latin typeface="Calibri"/>
                <a:ea typeface="Calibri"/>
                <a:cs typeface="Calibri"/>
              </a:rPr>
              <a:t>Public key: known to all, kept is a public server</a:t>
            </a:r>
          </a:p>
        </p:txBody>
      </p:sp>
    </p:spTree>
    <p:extLst>
      <p:ext uri="{BB962C8B-B14F-4D97-AF65-F5344CB8AC3E}">
        <p14:creationId xmlns:p14="http://schemas.microsoft.com/office/powerpoint/2010/main" val="427199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0604F-5FDF-E39E-DE19-75CC4A92E3E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5323E3D-2743-4907-DA6C-FB74F7E4AF2E}"/>
              </a:ext>
            </a:extLst>
          </p:cNvPr>
          <p:cNvSpPr txBox="1">
            <a:spLocks/>
          </p:cNvSpPr>
          <p:nvPr/>
        </p:nvSpPr>
        <p:spPr>
          <a:xfrm>
            <a:off x="660400" y="715180"/>
            <a:ext cx="11121975" cy="64629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Problem!</a:t>
            </a:r>
            <a:endParaRPr lang="en-US" dirty="0"/>
          </a:p>
        </p:txBody>
      </p:sp>
      <p:sp>
        <p:nvSpPr>
          <p:cNvPr id="19" name="Title 1">
            <a:extLst>
              <a:ext uri="{FF2B5EF4-FFF2-40B4-BE49-F238E27FC236}">
                <a16:creationId xmlns:a16="http://schemas.microsoft.com/office/drawing/2014/main" id="{95DAB9B7-8557-9682-8B8B-A169B3EBECA1}"/>
              </a:ext>
            </a:extLst>
          </p:cNvPr>
          <p:cNvSpPr>
            <a:spLocks noGrp="1"/>
          </p:cNvSpPr>
          <p:nvPr>
            <p:ph type="ctrTitle"/>
          </p:nvPr>
        </p:nvSpPr>
        <p:spPr>
          <a:xfrm>
            <a:off x="1201201" y="2384696"/>
            <a:ext cx="9789184" cy="1040344"/>
          </a:xfrm>
        </p:spPr>
        <p:txBody>
          <a:bodyPr vert="horz" lIns="91440" tIns="45720" rIns="91440" bIns="45720" rtlCol="0" anchor="b">
            <a:noAutofit/>
          </a:bodyPr>
          <a:lstStyle/>
          <a:p>
            <a:br>
              <a:rPr lang="en-US" sz="2800" dirty="0">
                <a:latin typeface="Calibri"/>
                <a:ea typeface="Calibri"/>
                <a:cs typeface="Calibri"/>
              </a:rPr>
            </a:br>
            <a:r>
              <a:rPr lang="en-US" sz="2800" dirty="0">
                <a:latin typeface="Calibri"/>
                <a:ea typeface="Calibri"/>
                <a:cs typeface="Calibri"/>
              </a:rPr>
              <a:t>Public key: known to all, anyone can read and change the data with the available public key.</a:t>
            </a:r>
          </a:p>
        </p:txBody>
      </p:sp>
    </p:spTree>
    <p:extLst>
      <p:ext uri="{BB962C8B-B14F-4D97-AF65-F5344CB8AC3E}">
        <p14:creationId xmlns:p14="http://schemas.microsoft.com/office/powerpoint/2010/main" val="3352978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2A06B-F0AB-8909-11B3-1A5FD628DE0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335AC99-2518-EA25-34A3-1537DDE5CD5F}"/>
              </a:ext>
            </a:extLst>
          </p:cNvPr>
          <p:cNvSpPr txBox="1">
            <a:spLocks/>
          </p:cNvSpPr>
          <p:nvPr/>
        </p:nvSpPr>
        <p:spPr>
          <a:xfrm>
            <a:off x="314037" y="611271"/>
            <a:ext cx="11121975" cy="64629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Calibri"/>
                <a:ea typeface="Calibri"/>
                <a:cs typeface="Calibri"/>
              </a:rPr>
              <a:t>How to solve the problem! - Double Encryption</a:t>
            </a:r>
          </a:p>
        </p:txBody>
      </p:sp>
      <p:pic>
        <p:nvPicPr>
          <p:cNvPr id="9" name="Graphic 8" descr="Computer with solid fill">
            <a:extLst>
              <a:ext uri="{FF2B5EF4-FFF2-40B4-BE49-F238E27FC236}">
                <a16:creationId xmlns:a16="http://schemas.microsoft.com/office/drawing/2014/main" id="{D44488B9-5C61-227C-3BB2-1C91D2A354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25378" y="1648354"/>
            <a:ext cx="1103590" cy="1042317"/>
          </a:xfrm>
          <a:prstGeom prst="rect">
            <a:avLst/>
          </a:prstGeom>
        </p:spPr>
      </p:pic>
      <p:sp>
        <p:nvSpPr>
          <p:cNvPr id="15" name="TextBox 14">
            <a:extLst>
              <a:ext uri="{FF2B5EF4-FFF2-40B4-BE49-F238E27FC236}">
                <a16:creationId xmlns:a16="http://schemas.microsoft.com/office/drawing/2014/main" id="{FED1C05D-173A-2E22-4F6C-E70B270A6C0B}"/>
              </a:ext>
            </a:extLst>
          </p:cNvPr>
          <p:cNvSpPr txBox="1"/>
          <p:nvPr/>
        </p:nvSpPr>
        <p:spPr>
          <a:xfrm>
            <a:off x="876494" y="2550721"/>
            <a:ext cx="394753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 encrypts the data with B's public key.</a:t>
            </a:r>
          </a:p>
          <a:p>
            <a:r>
              <a:rPr lang="en-US" dirty="0"/>
              <a:t>So B can only decrypt it with his private key. He is the only one who can read the data.</a:t>
            </a:r>
          </a:p>
          <a:p>
            <a:endParaRPr lang="en-US" dirty="0"/>
          </a:p>
          <a:p>
            <a:r>
              <a:rPr lang="en-US" dirty="0"/>
              <a:t>A then encrypts the data with his private key. When B gets the packet, he can open it with A's public key so he knows the data came from A.</a:t>
            </a:r>
          </a:p>
        </p:txBody>
      </p:sp>
      <p:sp>
        <p:nvSpPr>
          <p:cNvPr id="16" name="TextBox 15">
            <a:extLst>
              <a:ext uri="{FF2B5EF4-FFF2-40B4-BE49-F238E27FC236}">
                <a16:creationId xmlns:a16="http://schemas.microsoft.com/office/drawing/2014/main" id="{C6CC14FF-D791-D56E-09A2-43C6C95B98B4}"/>
              </a:ext>
            </a:extLst>
          </p:cNvPr>
          <p:cNvSpPr txBox="1"/>
          <p:nvPr/>
        </p:nvSpPr>
        <p:spPr>
          <a:xfrm>
            <a:off x="7816985" y="2686188"/>
            <a:ext cx="283443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B decrypts the data with A's public key.</a:t>
            </a:r>
          </a:p>
          <a:p>
            <a:endParaRPr lang="en-US" dirty="0"/>
          </a:p>
          <a:p>
            <a:r>
              <a:rPr lang="en-US" dirty="0"/>
              <a:t>If the packet is hacked by C, A's public key will not work, only C's public key will work and B knows something is wrong.</a:t>
            </a:r>
          </a:p>
        </p:txBody>
      </p:sp>
      <p:pic>
        <p:nvPicPr>
          <p:cNvPr id="4" name="Graphic 3" descr="Man with solid fill">
            <a:extLst>
              <a:ext uri="{FF2B5EF4-FFF2-40B4-BE49-F238E27FC236}">
                <a16:creationId xmlns:a16="http://schemas.microsoft.com/office/drawing/2014/main" id="{837832E2-C236-A4D3-CBBC-B797D44DAE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8896" y="1510658"/>
            <a:ext cx="914400" cy="914400"/>
          </a:xfrm>
          <a:prstGeom prst="rect">
            <a:avLst/>
          </a:prstGeom>
        </p:spPr>
      </p:pic>
      <p:pic>
        <p:nvPicPr>
          <p:cNvPr id="18" name="Graphic 17" descr="Woman with solid fill">
            <a:extLst>
              <a:ext uri="{FF2B5EF4-FFF2-40B4-BE49-F238E27FC236}">
                <a16:creationId xmlns:a16="http://schemas.microsoft.com/office/drawing/2014/main" id="{6F973CAD-C2F7-D68B-DBEF-3F85271284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34944" y="1570551"/>
            <a:ext cx="914400" cy="914400"/>
          </a:xfrm>
          <a:prstGeom prst="rect">
            <a:avLst/>
          </a:prstGeom>
        </p:spPr>
      </p:pic>
      <p:pic>
        <p:nvPicPr>
          <p:cNvPr id="3" name="Graphic 2" descr="Computer with solid fill">
            <a:extLst>
              <a:ext uri="{FF2B5EF4-FFF2-40B4-BE49-F238E27FC236}">
                <a16:creationId xmlns:a16="http://schemas.microsoft.com/office/drawing/2014/main" id="{6FD7C0AE-D589-4DD6-243F-ADDC3094623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21249" y="1511073"/>
            <a:ext cx="1103590" cy="1042317"/>
          </a:xfrm>
          <a:prstGeom prst="rect">
            <a:avLst/>
          </a:prstGeom>
        </p:spPr>
      </p:pic>
      <p:sp>
        <p:nvSpPr>
          <p:cNvPr id="17" name="Title 1">
            <a:extLst>
              <a:ext uri="{FF2B5EF4-FFF2-40B4-BE49-F238E27FC236}">
                <a16:creationId xmlns:a16="http://schemas.microsoft.com/office/drawing/2014/main" id="{64195A00-05C5-AB6D-8DF9-D5B4D4C568A6}"/>
              </a:ext>
            </a:extLst>
          </p:cNvPr>
          <p:cNvSpPr>
            <a:spLocks noGrp="1"/>
          </p:cNvSpPr>
          <p:nvPr>
            <p:ph type="ctrTitle"/>
          </p:nvPr>
        </p:nvSpPr>
        <p:spPr>
          <a:xfrm>
            <a:off x="1160276" y="5507187"/>
            <a:ext cx="9666706" cy="818436"/>
          </a:xfrm>
        </p:spPr>
        <p:txBody>
          <a:bodyPr vert="horz" lIns="91440" tIns="45720" rIns="91440" bIns="45720" rtlCol="0" anchor="b">
            <a:noAutofit/>
          </a:bodyPr>
          <a:lstStyle/>
          <a:p>
            <a:br>
              <a:rPr lang="en-US" sz="2800" dirty="0">
                <a:latin typeface="Calibri"/>
                <a:ea typeface="Calibri"/>
                <a:cs typeface="Calibri"/>
              </a:rPr>
            </a:br>
            <a:r>
              <a:rPr lang="en-US" sz="2800" dirty="0">
                <a:latin typeface="Calibri"/>
                <a:ea typeface="Calibri"/>
                <a:cs typeface="Calibri"/>
              </a:rPr>
              <a:t>The identity of the sender and the security of the document both achieved</a:t>
            </a:r>
          </a:p>
        </p:txBody>
      </p:sp>
    </p:spTree>
    <p:extLst>
      <p:ext uri="{BB962C8B-B14F-4D97-AF65-F5344CB8AC3E}">
        <p14:creationId xmlns:p14="http://schemas.microsoft.com/office/powerpoint/2010/main" val="3962989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r>
              <a:rPr lang="en-US" altLang="zh-CN" dirty="0">
                <a:ea typeface="SimSun" panose="02010600030101010101" pitchFamily="2" charset="-122"/>
              </a:rPr>
              <a:t>One-Time Digital Signatures</a:t>
            </a:r>
          </a:p>
        </p:txBody>
      </p:sp>
      <p:sp>
        <p:nvSpPr>
          <p:cNvPr id="20485" name="Rectangle 3"/>
          <p:cNvSpPr>
            <a:spLocks noGrp="1" noChangeArrowheads="1"/>
          </p:cNvSpPr>
          <p:nvPr>
            <p:ph type="body" idx="1"/>
          </p:nvPr>
        </p:nvSpPr>
        <p:spPr>
          <a:xfrm>
            <a:off x="2805114" y="1676400"/>
            <a:ext cx="6796087" cy="4114800"/>
          </a:xfrm>
        </p:spPr>
        <p:txBody>
          <a:bodyPr/>
          <a:lstStyle/>
          <a:p>
            <a:r>
              <a:rPr lang="en-US" altLang="zh-CN" sz="2400" dirty="0">
                <a:ea typeface="SimSun" panose="02010600030101010101" pitchFamily="2" charset="-122"/>
              </a:rPr>
              <a:t>One-time digital signatures: digital schemes used to sign, at most one message; otherwise signature can be forged. </a:t>
            </a:r>
          </a:p>
          <a:p>
            <a:r>
              <a:rPr lang="en-US" altLang="zh-CN" sz="2400" dirty="0">
                <a:ea typeface="SimSun" panose="02010600030101010101" pitchFamily="2" charset="-122"/>
              </a:rPr>
              <a:t>A new public key is required for each signed message.</a:t>
            </a:r>
          </a:p>
          <a:p>
            <a:r>
              <a:rPr lang="en-US" altLang="zh-CN" sz="2400" dirty="0">
                <a:ea typeface="SimSun" panose="02010600030101010101" pitchFamily="2" charset="-122"/>
              </a:rPr>
              <a:t>Advantage: signature generation and verification are very efficient and is useful for devices with low computation power.</a:t>
            </a:r>
          </a:p>
        </p:txBody>
      </p:sp>
    </p:spTree>
    <p:extLst>
      <p:ext uri="{BB962C8B-B14F-4D97-AF65-F5344CB8AC3E}">
        <p14:creationId xmlns:p14="http://schemas.microsoft.com/office/powerpoint/2010/main" val="1345038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1828800" y="0"/>
            <a:ext cx="8305800" cy="1143000"/>
          </a:xfrm>
        </p:spPr>
        <p:txBody>
          <a:bodyPr/>
          <a:lstStyle/>
          <a:p>
            <a:r>
              <a:rPr lang="en-US" altLang="en-US" dirty="0"/>
              <a:t>Lamport One-time Signature </a:t>
            </a:r>
          </a:p>
        </p:txBody>
      </p:sp>
      <p:sp>
        <p:nvSpPr>
          <p:cNvPr id="21509" name="Rectangle 3"/>
          <p:cNvSpPr>
            <a:spLocks noGrp="1" noChangeArrowheads="1"/>
          </p:cNvSpPr>
          <p:nvPr>
            <p:ph type="body" idx="1"/>
          </p:nvPr>
        </p:nvSpPr>
        <p:spPr>
          <a:xfrm>
            <a:off x="2362200" y="1447800"/>
            <a:ext cx="4800600" cy="4495800"/>
          </a:xfrm>
        </p:spPr>
        <p:txBody>
          <a:bodyPr>
            <a:normAutofit lnSpcReduction="10000"/>
          </a:bodyPr>
          <a:lstStyle/>
          <a:p>
            <a:pPr>
              <a:lnSpc>
                <a:spcPct val="90000"/>
              </a:lnSpc>
              <a:buFont typeface="Times" panose="02020603050405020304" pitchFamily="18" charset="0"/>
              <a:buNone/>
            </a:pPr>
            <a:r>
              <a:rPr lang="en-US" altLang="en-US" sz="2400" b="1" dirty="0">
                <a:solidFill>
                  <a:srgbClr val="CC0099"/>
                </a:solidFill>
              </a:rPr>
              <a:t>To sign one bit:</a:t>
            </a:r>
            <a:endParaRPr lang="en-US" altLang="en-US" sz="2400" dirty="0"/>
          </a:p>
          <a:p>
            <a:pPr>
              <a:lnSpc>
                <a:spcPct val="90000"/>
              </a:lnSpc>
            </a:pPr>
            <a:r>
              <a:rPr lang="en-US" altLang="en-US" sz="2400" dirty="0"/>
              <a:t>Choose as secret keys x</a:t>
            </a:r>
            <a:r>
              <a:rPr lang="en-US" altLang="en-US" sz="2400" baseline="-25000" dirty="0"/>
              <a:t>0</a:t>
            </a:r>
            <a:r>
              <a:rPr lang="en-US" altLang="en-US" sz="2400" dirty="0"/>
              <a:t>, x</a:t>
            </a:r>
            <a:r>
              <a:rPr lang="en-US" altLang="en-US" sz="2400" baseline="-25000" dirty="0"/>
              <a:t>1</a:t>
            </a:r>
            <a:r>
              <a:rPr lang="en-US" altLang="en-US" sz="2400" dirty="0"/>
              <a:t> </a:t>
            </a:r>
          </a:p>
          <a:p>
            <a:pPr lvl="1">
              <a:lnSpc>
                <a:spcPct val="90000"/>
              </a:lnSpc>
            </a:pPr>
            <a:r>
              <a:rPr lang="en-US" altLang="en-US" sz="2000" dirty="0"/>
              <a:t>x</a:t>
            </a:r>
            <a:r>
              <a:rPr lang="en-US" altLang="en-US" sz="2000" baseline="-25000" dirty="0"/>
              <a:t>0</a:t>
            </a:r>
            <a:r>
              <a:rPr lang="en-US" altLang="en-US" sz="2000" dirty="0"/>
              <a:t>  represents ‘0’ </a:t>
            </a:r>
          </a:p>
          <a:p>
            <a:pPr lvl="1">
              <a:lnSpc>
                <a:spcPct val="90000"/>
              </a:lnSpc>
            </a:pPr>
            <a:r>
              <a:rPr lang="en-US" altLang="en-US" sz="2000" dirty="0"/>
              <a:t>x</a:t>
            </a:r>
            <a:r>
              <a:rPr lang="en-US" altLang="en-US" sz="2000" baseline="-25000" dirty="0"/>
              <a:t>1</a:t>
            </a:r>
            <a:r>
              <a:rPr lang="en-US" altLang="en-US" sz="2000" dirty="0"/>
              <a:t>  represents ‘1’</a:t>
            </a:r>
          </a:p>
          <a:p>
            <a:pPr>
              <a:lnSpc>
                <a:spcPct val="90000"/>
              </a:lnSpc>
            </a:pPr>
            <a:r>
              <a:rPr lang="en-US" altLang="en-US" sz="2400" dirty="0"/>
              <a:t>public key (y</a:t>
            </a:r>
            <a:r>
              <a:rPr lang="en-US" altLang="en-US" sz="2400" baseline="-25000" dirty="0"/>
              <a:t>0</a:t>
            </a:r>
            <a:r>
              <a:rPr lang="en-US" altLang="en-US" sz="2400" dirty="0"/>
              <a:t>,y</a:t>
            </a:r>
            <a:r>
              <a:rPr lang="en-US" altLang="en-US" sz="2400" baseline="-25000" dirty="0"/>
              <a:t>1</a:t>
            </a:r>
            <a:r>
              <a:rPr lang="en-US" altLang="en-US" sz="2400" dirty="0"/>
              <a:t>): </a:t>
            </a:r>
          </a:p>
          <a:p>
            <a:pPr lvl="1">
              <a:lnSpc>
                <a:spcPct val="90000"/>
              </a:lnSpc>
            </a:pPr>
            <a:r>
              <a:rPr lang="en-US" altLang="en-US" sz="2000" dirty="0"/>
              <a:t>y</a:t>
            </a:r>
            <a:r>
              <a:rPr lang="en-US" altLang="en-US" sz="2000" baseline="-25000" dirty="0"/>
              <a:t>0 </a:t>
            </a:r>
            <a:r>
              <a:rPr lang="en-US" altLang="en-US" sz="2000" dirty="0"/>
              <a:t>= f(x</a:t>
            </a:r>
            <a:r>
              <a:rPr lang="en-US" altLang="en-US" sz="2000" baseline="-25000" dirty="0"/>
              <a:t>0</a:t>
            </a:r>
            <a:r>
              <a:rPr lang="en-US" altLang="en-US" sz="2000" dirty="0"/>
              <a:t>), </a:t>
            </a:r>
          </a:p>
          <a:p>
            <a:pPr lvl="1">
              <a:lnSpc>
                <a:spcPct val="90000"/>
              </a:lnSpc>
            </a:pPr>
            <a:r>
              <a:rPr lang="en-US" altLang="en-US" sz="2000" dirty="0"/>
              <a:t>y</a:t>
            </a:r>
            <a:r>
              <a:rPr lang="en-US" altLang="en-US" sz="2000" baseline="-25000" dirty="0"/>
              <a:t>1 </a:t>
            </a:r>
            <a:r>
              <a:rPr lang="en-US" altLang="en-US" sz="2000" dirty="0"/>
              <a:t>= f(x</a:t>
            </a:r>
            <a:r>
              <a:rPr lang="en-US" altLang="en-US" sz="2000" baseline="-25000" dirty="0"/>
              <a:t>1</a:t>
            </a:r>
            <a:r>
              <a:rPr lang="en-US" altLang="en-US" sz="2000" dirty="0"/>
              <a:t>).</a:t>
            </a:r>
          </a:p>
          <a:p>
            <a:pPr lvl="1">
              <a:lnSpc>
                <a:spcPct val="90000"/>
              </a:lnSpc>
            </a:pPr>
            <a:r>
              <a:rPr lang="en-US" altLang="en-US" sz="2000" dirty="0"/>
              <a:t>Where f is a one-way function</a:t>
            </a:r>
          </a:p>
          <a:p>
            <a:pPr>
              <a:lnSpc>
                <a:spcPct val="90000"/>
              </a:lnSpc>
            </a:pPr>
            <a:r>
              <a:rPr lang="en-US" altLang="en-US" sz="2400" dirty="0"/>
              <a:t>Signature is x</a:t>
            </a:r>
            <a:r>
              <a:rPr lang="en-US" altLang="en-US" sz="2400" baseline="-25000" dirty="0"/>
              <a:t>0</a:t>
            </a:r>
            <a:r>
              <a:rPr lang="en-US" altLang="en-US" sz="2400" dirty="0"/>
              <a:t> if the message is 0 or x</a:t>
            </a:r>
            <a:r>
              <a:rPr lang="en-US" altLang="en-US" sz="2400" baseline="-25000" dirty="0"/>
              <a:t>1</a:t>
            </a:r>
            <a:r>
              <a:rPr lang="en-US" altLang="en-US" sz="2400" dirty="0"/>
              <a:t> if message is 1.</a:t>
            </a:r>
            <a:endParaRPr lang="en-US" altLang="en-US" sz="2400" baseline="-25000" dirty="0"/>
          </a:p>
          <a:p>
            <a:pPr>
              <a:lnSpc>
                <a:spcPct val="90000"/>
              </a:lnSpc>
            </a:pPr>
            <a:r>
              <a:rPr lang="en-US" altLang="en-US" sz="2400" dirty="0"/>
              <a:t>To sign a message m, use hash and sigh each bit of h(m)</a:t>
            </a:r>
          </a:p>
          <a:p>
            <a:pPr lvl="2">
              <a:lnSpc>
                <a:spcPct val="90000"/>
              </a:lnSpc>
            </a:pPr>
            <a:endParaRPr lang="en-US" altLang="en-US" sz="700" dirty="0"/>
          </a:p>
        </p:txBody>
      </p:sp>
      <p:pic>
        <p:nvPicPr>
          <p:cNvPr id="21510" name="Picture 4" descr="BS00513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6600" y="1905000"/>
            <a:ext cx="3352800" cy="272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9305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AC13-668C-5808-619B-8CC2DBF19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9D824-F571-73BB-033D-0CE3093714A6}"/>
              </a:ext>
            </a:extLst>
          </p:cNvPr>
          <p:cNvSpPr>
            <a:spLocks noGrp="1"/>
          </p:cNvSpPr>
          <p:nvPr>
            <p:ph type="title"/>
          </p:nvPr>
        </p:nvSpPr>
        <p:spPr>
          <a:xfrm>
            <a:off x="759070" y="500062"/>
            <a:ext cx="10515600" cy="1325563"/>
          </a:xfrm>
        </p:spPr>
        <p:txBody>
          <a:bodyPr>
            <a:normAutofit/>
          </a:bodyPr>
          <a:lstStyle/>
          <a:p>
            <a:pPr algn="ctr"/>
            <a:r>
              <a:rPr lang="en-US" sz="24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Lamport signatures and HORS (Hash to Obtain Random Subset) </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9AFF299-327A-C8FF-DFF8-05A64EBBBBD6}"/>
              </a:ext>
            </a:extLst>
          </p:cNvPr>
          <p:cNvSpPr>
            <a:spLocks noGrp="1"/>
          </p:cNvSpPr>
          <p:nvPr>
            <p:ph idx="1"/>
          </p:nvPr>
        </p:nvSpPr>
        <p:spPr/>
        <p:txBody>
          <a:bodyPr/>
          <a:lstStyle/>
          <a:p>
            <a:endParaRPr lang="en-US" dirty="0">
              <a:hlinkClick r:id="rId2"/>
            </a:endParaRPr>
          </a:p>
          <a:p>
            <a:endParaRPr lang="en-US" dirty="0">
              <a:hlinkClick r:id="rId2"/>
            </a:endParaRPr>
          </a:p>
          <a:p>
            <a:r>
              <a:rPr lang="en-US" b="1" i="0" dirty="0">
                <a:solidFill>
                  <a:srgbClr val="0F0F0F"/>
                </a:solidFill>
                <a:effectLst/>
                <a:latin typeface="Roboto" panose="02000000000000000000" pitchFamily="2" charset="0"/>
              </a:rPr>
              <a:t>Strong Digital Signatures: The Lamport Advantage</a:t>
            </a:r>
            <a:endParaRPr lang="en-US" dirty="0">
              <a:hlinkClick r:id="rId2"/>
            </a:endParaRPr>
          </a:p>
          <a:p>
            <a:r>
              <a:rPr lang="en-US" dirty="0">
                <a:hlinkClick r:id="rId2"/>
              </a:rPr>
              <a:t>https://www.youtube.com/watch?v=be3DJEaOYfg</a:t>
            </a:r>
            <a:endParaRPr lang="en-US" dirty="0"/>
          </a:p>
          <a:p>
            <a:endParaRPr lang="en-US" dirty="0"/>
          </a:p>
        </p:txBody>
      </p:sp>
    </p:spTree>
    <p:extLst>
      <p:ext uri="{BB962C8B-B14F-4D97-AF65-F5344CB8AC3E}">
        <p14:creationId xmlns:p14="http://schemas.microsoft.com/office/powerpoint/2010/main" val="243657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22B76-7FE8-8027-009E-0DDC4588A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4645B-2FC3-A4EE-9AE2-B31607387AA0}"/>
              </a:ext>
            </a:extLst>
          </p:cNvPr>
          <p:cNvSpPr>
            <a:spLocks noGrp="1"/>
          </p:cNvSpPr>
          <p:nvPr>
            <p:ph type="title"/>
          </p:nvPr>
        </p:nvSpPr>
        <p:spPr/>
        <p:txBody>
          <a:bodyPr>
            <a:normAutofit/>
          </a:bodyPr>
          <a:lstStyle/>
          <a:p>
            <a:pPr algn="ctr"/>
            <a:r>
              <a:rPr lang="en-US" sz="24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Lamport signatures and HORS (Hash to Obtain Random Subset) </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70BC73B5-C476-EB60-CEC3-DD2FBD1505DD}"/>
              </a:ext>
            </a:extLst>
          </p:cNvPr>
          <p:cNvSpPr>
            <a:spLocks noGrp="1"/>
          </p:cNvSpPr>
          <p:nvPr>
            <p:ph idx="1"/>
          </p:nvPr>
        </p:nvSpPr>
        <p:spPr>
          <a:xfrm>
            <a:off x="838200" y="1360714"/>
            <a:ext cx="10341429" cy="5132161"/>
          </a:xfrm>
        </p:spPr>
        <p:txBody>
          <a:bodyPr>
            <a:normAutofit fontScale="32500" lnSpcReduction="20000"/>
          </a:bodyPr>
          <a:lstStyle/>
          <a:p>
            <a:pPr algn="l" fontAlgn="ctr">
              <a:lnSpc>
                <a:spcPct val="120000"/>
              </a:lnSpc>
              <a:spcAft>
                <a:spcPts val="1500"/>
              </a:spcAft>
              <a:buNone/>
            </a:pPr>
            <a:r>
              <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Lamport signatures and HORS (Hash to Obtain Random Subset) are hash-based, one-time, digital signature schemes, particularly relevant in the context of post-quantum cryptography, offering security against potential attacks from quantum computers. Lamport Signatures:</a:t>
            </a:r>
          </a:p>
          <a:p>
            <a:pPr algn="l">
              <a:lnSpc>
                <a:spcPct val="120000"/>
              </a:lnSpc>
              <a:spcBef>
                <a:spcPts val="750"/>
              </a:spcBef>
              <a:spcAft>
                <a:spcPts val="600"/>
              </a:spcAft>
              <a:buFont typeface="Arial" panose="020B0604020202020204" pitchFamily="34" charset="0"/>
              <a:buChar char="•"/>
            </a:pPr>
            <a:r>
              <a:rPr lang="en-US" sz="62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Concept:</a:t>
            </a:r>
            <a:endPar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fontAlgn="ctr">
              <a:lnSpc>
                <a:spcPct val="120000"/>
              </a:lnSpc>
              <a:spcBef>
                <a:spcPts val="750"/>
              </a:spcBef>
              <a:spcAft>
                <a:spcPts val="600"/>
              </a:spcAft>
              <a:buFont typeface="Arial" panose="020B0604020202020204" pitchFamily="34" charset="0"/>
              <a:buChar char="•"/>
            </a:pPr>
            <a:r>
              <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Lamport signatures utilize a cryptographic hash function to create a one-time signature scheme. </a:t>
            </a:r>
          </a:p>
          <a:p>
            <a:pPr algn="l">
              <a:lnSpc>
                <a:spcPct val="120000"/>
              </a:lnSpc>
              <a:spcBef>
                <a:spcPts val="750"/>
              </a:spcBef>
              <a:spcAft>
                <a:spcPts val="600"/>
              </a:spcAft>
              <a:buFont typeface="Arial" panose="020B0604020202020204" pitchFamily="34" charset="0"/>
              <a:buChar char="•"/>
            </a:pPr>
            <a:r>
              <a:rPr lang="en-US" sz="62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Key Generation:</a:t>
            </a:r>
            <a:endPar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fontAlgn="ctr">
              <a:lnSpc>
                <a:spcPct val="120000"/>
              </a:lnSpc>
              <a:spcBef>
                <a:spcPts val="750"/>
              </a:spcBef>
              <a:spcAft>
                <a:spcPts val="600"/>
              </a:spcAft>
              <a:buFont typeface="Arial" panose="020B0604020202020204" pitchFamily="34" charset="0"/>
              <a:buChar char="•"/>
            </a:pPr>
            <a:r>
              <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The signer generates a set of random values (private key) and computes the hash of each (public key). </a:t>
            </a:r>
          </a:p>
          <a:p>
            <a:pPr algn="l">
              <a:lnSpc>
                <a:spcPct val="120000"/>
              </a:lnSpc>
              <a:spcBef>
                <a:spcPts val="750"/>
              </a:spcBef>
              <a:spcAft>
                <a:spcPts val="600"/>
              </a:spcAft>
              <a:buFont typeface="Arial" panose="020B0604020202020204" pitchFamily="34" charset="0"/>
              <a:buChar char="•"/>
            </a:pPr>
            <a:r>
              <a:rPr lang="en-US" sz="62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Signing:</a:t>
            </a:r>
            <a:endPar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fontAlgn="ctr">
              <a:lnSpc>
                <a:spcPct val="120000"/>
              </a:lnSpc>
              <a:spcBef>
                <a:spcPts val="750"/>
              </a:spcBef>
              <a:spcAft>
                <a:spcPts val="600"/>
              </a:spcAft>
              <a:buFont typeface="Arial" panose="020B0604020202020204" pitchFamily="34" charset="0"/>
              <a:buChar char="•"/>
            </a:pPr>
            <a:r>
              <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To sign a message, the signer hashes the message and then selects the appropriate values from the private key based on the bits of the message hash. </a:t>
            </a:r>
          </a:p>
          <a:p>
            <a:endParaRPr lang="en-US" dirty="0"/>
          </a:p>
        </p:txBody>
      </p:sp>
    </p:spTree>
    <p:extLst>
      <p:ext uri="{BB962C8B-B14F-4D97-AF65-F5344CB8AC3E}">
        <p14:creationId xmlns:p14="http://schemas.microsoft.com/office/powerpoint/2010/main" val="1007322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82312-A043-445D-DB75-F71490FD3E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82AF1-BC57-C197-8D00-37824F93B40D}"/>
              </a:ext>
            </a:extLst>
          </p:cNvPr>
          <p:cNvSpPr>
            <a:spLocks noGrp="1"/>
          </p:cNvSpPr>
          <p:nvPr>
            <p:ph type="title"/>
          </p:nvPr>
        </p:nvSpPr>
        <p:spPr/>
        <p:txBody>
          <a:bodyPr>
            <a:normAutofit/>
          </a:bodyPr>
          <a:lstStyle/>
          <a:p>
            <a:pPr algn="ctr"/>
            <a:r>
              <a:rPr lang="en-US" sz="24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Lamport signatures and HORS (Hash to Obtain Random Subset) </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0A510C00-892E-4F88-70DD-253A7CC23C05}"/>
              </a:ext>
            </a:extLst>
          </p:cNvPr>
          <p:cNvSpPr>
            <a:spLocks noGrp="1"/>
          </p:cNvSpPr>
          <p:nvPr>
            <p:ph idx="1"/>
          </p:nvPr>
        </p:nvSpPr>
        <p:spPr>
          <a:xfrm>
            <a:off x="838200" y="1360714"/>
            <a:ext cx="10341429" cy="5132161"/>
          </a:xfrm>
        </p:spPr>
        <p:txBody>
          <a:bodyPr>
            <a:normAutofit fontScale="32500" lnSpcReduction="20000"/>
          </a:bodyPr>
          <a:lstStyle/>
          <a:p>
            <a:pPr algn="l">
              <a:lnSpc>
                <a:spcPct val="120000"/>
              </a:lnSpc>
              <a:spcBef>
                <a:spcPts val="750"/>
              </a:spcBef>
              <a:spcAft>
                <a:spcPts val="600"/>
              </a:spcAft>
              <a:buFont typeface="Arial" panose="020B0604020202020204" pitchFamily="34" charset="0"/>
              <a:buChar char="•"/>
            </a:pPr>
            <a:r>
              <a:rPr lang="en-US" sz="62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Verification:</a:t>
            </a:r>
            <a:endPar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fontAlgn="ctr">
              <a:lnSpc>
                <a:spcPct val="120000"/>
              </a:lnSpc>
              <a:spcBef>
                <a:spcPts val="750"/>
              </a:spcBef>
              <a:spcAft>
                <a:spcPts val="600"/>
              </a:spcAft>
              <a:buFont typeface="Arial" panose="020B0604020202020204" pitchFamily="34" charset="0"/>
              <a:buChar char="•"/>
            </a:pPr>
            <a:r>
              <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The verifier hashes the message and compares the resulting hash to the public key values used in the signature. </a:t>
            </a:r>
          </a:p>
          <a:p>
            <a:pPr algn="l">
              <a:lnSpc>
                <a:spcPct val="120000"/>
              </a:lnSpc>
              <a:spcBef>
                <a:spcPts val="750"/>
              </a:spcBef>
              <a:spcAft>
                <a:spcPts val="600"/>
              </a:spcAft>
              <a:buFont typeface="Arial" panose="020B0604020202020204" pitchFamily="34" charset="0"/>
              <a:buChar char="•"/>
            </a:pPr>
            <a:r>
              <a:rPr lang="en-US" sz="62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One-Time Nature:</a:t>
            </a:r>
            <a:endPar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fontAlgn="ctr">
              <a:lnSpc>
                <a:spcPct val="120000"/>
              </a:lnSpc>
              <a:spcBef>
                <a:spcPts val="750"/>
              </a:spcBef>
              <a:spcAft>
                <a:spcPts val="600"/>
              </a:spcAft>
              <a:buFont typeface="Arial" panose="020B0604020202020204" pitchFamily="34" charset="0"/>
              <a:buChar char="•"/>
            </a:pPr>
            <a:r>
              <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Each Lamport key can only be used to sign a single message. </a:t>
            </a:r>
          </a:p>
          <a:p>
            <a:pPr algn="l">
              <a:lnSpc>
                <a:spcPct val="120000"/>
              </a:lnSpc>
              <a:spcBef>
                <a:spcPts val="750"/>
              </a:spcBef>
              <a:spcAft>
                <a:spcPts val="600"/>
              </a:spcAft>
              <a:buFont typeface="Arial" panose="020B0604020202020204" pitchFamily="34" charset="0"/>
              <a:buChar char="•"/>
            </a:pPr>
            <a:r>
              <a:rPr lang="en-US" sz="62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Quantum Resistance:</a:t>
            </a:r>
            <a:endPar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fontAlgn="ctr">
              <a:lnSpc>
                <a:spcPct val="120000"/>
              </a:lnSpc>
              <a:spcBef>
                <a:spcPts val="750"/>
              </a:spcBef>
              <a:spcAft>
                <a:spcPts val="600"/>
              </a:spcAft>
              <a:buFont typeface="Arial" panose="020B0604020202020204" pitchFamily="34" charset="0"/>
              <a:buChar char="•"/>
            </a:pPr>
            <a:r>
              <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Lamport signatures are believed to be secure against quantum attacks, especially with large hash functions. </a:t>
            </a:r>
          </a:p>
          <a:p>
            <a:pPr algn="l">
              <a:lnSpc>
                <a:spcPct val="120000"/>
              </a:lnSpc>
              <a:spcBef>
                <a:spcPts val="750"/>
              </a:spcBef>
              <a:spcAft>
                <a:spcPts val="1500"/>
              </a:spcAft>
              <a:buFont typeface="Arial" panose="020B0604020202020204" pitchFamily="34" charset="0"/>
              <a:buChar char="•"/>
            </a:pPr>
            <a:r>
              <a:rPr lang="en-US" sz="62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Hash Trees:</a:t>
            </a:r>
            <a:endPar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a:lnSpc>
                <a:spcPct val="120000"/>
              </a:lnSpc>
              <a:spcBef>
                <a:spcPts val="750"/>
              </a:spcBef>
              <a:spcAft>
                <a:spcPts val="1500"/>
              </a:spcAft>
              <a:buFont typeface="Arial" panose="020B0604020202020204" pitchFamily="34" charset="0"/>
              <a:buChar char="•"/>
            </a:pPr>
            <a:r>
              <a:rPr lang="en-US" sz="62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To overcome the one-time limitation, Lamport signatures can be combined with hash trees, allowing a single key to be used for multiple messages. </a:t>
            </a:r>
          </a:p>
          <a:p>
            <a:endParaRPr lang="en-US" dirty="0"/>
          </a:p>
        </p:txBody>
      </p:sp>
    </p:spTree>
    <p:extLst>
      <p:ext uri="{BB962C8B-B14F-4D97-AF65-F5344CB8AC3E}">
        <p14:creationId xmlns:p14="http://schemas.microsoft.com/office/powerpoint/2010/main" val="2931525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E2650-04F0-066D-18E0-8D7ABAD767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065B6-CC31-9A32-DA22-A18C6E50F90B}"/>
              </a:ext>
            </a:extLst>
          </p:cNvPr>
          <p:cNvSpPr>
            <a:spLocks noGrp="1"/>
          </p:cNvSpPr>
          <p:nvPr>
            <p:ph type="title"/>
          </p:nvPr>
        </p:nvSpPr>
        <p:spPr/>
        <p:txBody>
          <a:bodyPr>
            <a:normAutofit/>
          </a:bodyPr>
          <a:lstStyle/>
          <a:p>
            <a:pPr algn="ctr"/>
            <a:r>
              <a:rPr lang="en-US" sz="24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Lamport signatures and HORS (Hash to Obtain Random Subset) </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65AABAF7-A779-C980-1A91-0A9CAAA3F9B4}"/>
              </a:ext>
            </a:extLst>
          </p:cNvPr>
          <p:cNvSpPr>
            <a:spLocks noGrp="1"/>
          </p:cNvSpPr>
          <p:nvPr>
            <p:ph idx="1"/>
          </p:nvPr>
        </p:nvSpPr>
        <p:spPr>
          <a:xfrm>
            <a:off x="838200" y="1360714"/>
            <a:ext cx="10341429" cy="5132161"/>
          </a:xfrm>
        </p:spPr>
        <p:txBody>
          <a:bodyPr>
            <a:normAutofit/>
          </a:bodyPr>
          <a:lstStyle/>
          <a:p>
            <a:pPr algn="l">
              <a:spcBef>
                <a:spcPts val="1500"/>
              </a:spcBef>
              <a:spcAft>
                <a:spcPts val="750"/>
              </a:spcAft>
              <a:buNone/>
            </a:pPr>
            <a:endParaRPr lang="en-US" sz="20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a:spcBef>
                <a:spcPts val="1500"/>
              </a:spcBef>
              <a:spcAft>
                <a:spcPts val="750"/>
              </a:spcAft>
              <a:buNone/>
            </a:pPr>
            <a:r>
              <a:rPr lang="en-US" sz="20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HORS (Hash to Obtain Random Subset):</a:t>
            </a:r>
          </a:p>
          <a:p>
            <a:pPr algn="l">
              <a:spcBef>
                <a:spcPts val="750"/>
              </a:spcBef>
              <a:spcAft>
                <a:spcPts val="600"/>
              </a:spcAft>
              <a:buFont typeface="Arial" panose="020B0604020202020204" pitchFamily="34" charset="0"/>
              <a:buChar char="•"/>
            </a:pPr>
            <a:r>
              <a:rPr lang="en-US" sz="20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Concept:</a:t>
            </a:r>
            <a:endParaRPr lang="en-US" sz="20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a:spcBef>
                <a:spcPts val="750"/>
              </a:spcBef>
              <a:spcAft>
                <a:spcPts val="600"/>
              </a:spcAft>
              <a:buFont typeface="Arial" panose="020B0604020202020204" pitchFamily="34" charset="0"/>
              <a:buChar char="•"/>
            </a:pPr>
            <a:r>
              <a:rPr lang="en-US" sz="20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HORS is a few-time signature scheme, meaning it allows signing multiple messages with the same key.</a:t>
            </a:r>
          </a:p>
          <a:p>
            <a:pPr algn="l">
              <a:spcBef>
                <a:spcPts val="750"/>
              </a:spcBef>
              <a:spcAft>
                <a:spcPts val="600"/>
              </a:spcAft>
              <a:buFont typeface="Arial" panose="020B0604020202020204" pitchFamily="34" charset="0"/>
              <a:buChar char="•"/>
            </a:pPr>
            <a:r>
              <a:rPr lang="en-US" sz="20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Key Generation:</a:t>
            </a:r>
            <a:endParaRPr lang="en-US" sz="20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a:spcBef>
                <a:spcPts val="750"/>
              </a:spcBef>
              <a:spcAft>
                <a:spcPts val="600"/>
              </a:spcAft>
              <a:buFont typeface="Arial" panose="020B0604020202020204" pitchFamily="34" charset="0"/>
              <a:buChar char="•"/>
            </a:pPr>
            <a:r>
              <a:rPr lang="en-US" sz="20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The signer generates a set of random values (private key) and computes the hash of each (public key).</a:t>
            </a:r>
          </a:p>
          <a:p>
            <a:pPr algn="l">
              <a:spcBef>
                <a:spcPts val="750"/>
              </a:spcBef>
              <a:spcAft>
                <a:spcPts val="600"/>
              </a:spcAft>
              <a:buFont typeface="Arial" panose="020B0604020202020204" pitchFamily="34" charset="0"/>
              <a:buChar char="•"/>
            </a:pPr>
            <a:r>
              <a:rPr lang="en-US" sz="20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Signing:</a:t>
            </a:r>
            <a:endParaRPr lang="en-US" sz="20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a:spcBef>
                <a:spcPts val="750"/>
              </a:spcBef>
              <a:spcAft>
                <a:spcPts val="600"/>
              </a:spcAft>
              <a:buFont typeface="Arial" panose="020B0604020202020204" pitchFamily="34" charset="0"/>
              <a:buChar char="•"/>
            </a:pPr>
            <a:r>
              <a:rPr lang="en-US" sz="20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To sign a message, the signer hashes the message, and then uses the hash to select the appropriate values from the private key.</a:t>
            </a:r>
          </a:p>
          <a:p>
            <a:endParaRPr lang="en-US" dirty="0"/>
          </a:p>
        </p:txBody>
      </p:sp>
    </p:spTree>
    <p:extLst>
      <p:ext uri="{BB962C8B-B14F-4D97-AF65-F5344CB8AC3E}">
        <p14:creationId xmlns:p14="http://schemas.microsoft.com/office/powerpoint/2010/main" val="2993060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2EA6D-1E36-ABA7-EB86-2F7E0DED4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721A6-A86F-46D8-2BFF-E07E4747079E}"/>
              </a:ext>
            </a:extLst>
          </p:cNvPr>
          <p:cNvSpPr>
            <a:spLocks noGrp="1"/>
          </p:cNvSpPr>
          <p:nvPr>
            <p:ph type="title"/>
          </p:nvPr>
        </p:nvSpPr>
        <p:spPr/>
        <p:txBody>
          <a:bodyPr>
            <a:normAutofit/>
          </a:bodyPr>
          <a:lstStyle/>
          <a:p>
            <a:pPr algn="ctr"/>
            <a:r>
              <a:rPr lang="en-US" sz="24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Lamport signatures and HORS (Hash to Obtain Random Subset) </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43F656A1-A491-8BD6-2C57-C98EC828A5D1}"/>
              </a:ext>
            </a:extLst>
          </p:cNvPr>
          <p:cNvSpPr>
            <a:spLocks noGrp="1"/>
          </p:cNvSpPr>
          <p:nvPr>
            <p:ph idx="1"/>
          </p:nvPr>
        </p:nvSpPr>
        <p:spPr>
          <a:xfrm>
            <a:off x="838200" y="1360714"/>
            <a:ext cx="10341429" cy="5132161"/>
          </a:xfrm>
        </p:spPr>
        <p:txBody>
          <a:bodyPr>
            <a:normAutofit fontScale="85000" lnSpcReduction="10000"/>
          </a:bodyPr>
          <a:lstStyle/>
          <a:p>
            <a:pPr algn="l">
              <a:spcBef>
                <a:spcPts val="750"/>
              </a:spcBef>
              <a:spcAft>
                <a:spcPts val="600"/>
              </a:spcAft>
              <a:buFont typeface="Arial" panose="020B0604020202020204" pitchFamily="34" charset="0"/>
              <a:buChar char="•"/>
            </a:pPr>
            <a:endParaRPr lang="en-US" b="1" i="0" dirty="0">
              <a:solidFill>
                <a:srgbClr val="001D35"/>
              </a:solidFill>
              <a:effectLst/>
              <a:latin typeface="Google Sans"/>
            </a:endParaRPr>
          </a:p>
          <a:p>
            <a:pPr algn="l">
              <a:spcBef>
                <a:spcPts val="750"/>
              </a:spcBef>
              <a:spcAft>
                <a:spcPts val="600"/>
              </a:spcAft>
              <a:buFont typeface="Arial" panose="020B0604020202020204" pitchFamily="34" charset="0"/>
              <a:buChar char="•"/>
            </a:pPr>
            <a:r>
              <a:rPr lang="en-US" sz="26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Verification:</a:t>
            </a:r>
            <a:endParaRPr lang="en-US" sz="26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a:spcBef>
                <a:spcPts val="750"/>
              </a:spcBef>
              <a:spcAft>
                <a:spcPts val="600"/>
              </a:spcAft>
              <a:buFont typeface="Arial" panose="020B0604020202020204" pitchFamily="34" charset="0"/>
              <a:buChar char="•"/>
            </a:pPr>
            <a:r>
              <a:rPr lang="en-US" sz="26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The verifier hashes the message and compares the resulting hash to the public key values used in the signature.</a:t>
            </a:r>
          </a:p>
          <a:p>
            <a:pPr algn="l">
              <a:spcBef>
                <a:spcPts val="750"/>
              </a:spcBef>
              <a:spcAft>
                <a:spcPts val="600"/>
              </a:spcAft>
              <a:buFont typeface="Arial" panose="020B0604020202020204" pitchFamily="34" charset="0"/>
              <a:buChar char="•"/>
            </a:pPr>
            <a:r>
              <a:rPr lang="en-US" sz="26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Few-Time Nature:</a:t>
            </a:r>
            <a:endParaRPr lang="en-US" sz="26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a:spcBef>
                <a:spcPts val="750"/>
              </a:spcBef>
              <a:spcAft>
                <a:spcPts val="600"/>
              </a:spcAft>
              <a:buFont typeface="Arial" panose="020B0604020202020204" pitchFamily="34" charset="0"/>
              <a:buChar char="•"/>
            </a:pPr>
            <a:r>
              <a:rPr lang="en-US" sz="26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HORS allows signing multiple messages with the same key, unlike Lamport's one-time scheme.</a:t>
            </a:r>
          </a:p>
          <a:p>
            <a:pPr algn="l">
              <a:spcBef>
                <a:spcPts val="750"/>
              </a:spcBef>
              <a:spcAft>
                <a:spcPts val="600"/>
              </a:spcAft>
              <a:buFont typeface="Arial" panose="020B0604020202020204" pitchFamily="34" charset="0"/>
              <a:buChar char="•"/>
            </a:pPr>
            <a:r>
              <a:rPr lang="en-US" sz="26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Quantum Resistance:</a:t>
            </a:r>
            <a:endParaRPr lang="en-US" sz="26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a:spcBef>
                <a:spcPts val="750"/>
              </a:spcBef>
              <a:spcAft>
                <a:spcPts val="600"/>
              </a:spcAft>
              <a:buFont typeface="Arial" panose="020B0604020202020204" pitchFamily="34" charset="0"/>
              <a:buChar char="•"/>
            </a:pPr>
            <a:r>
              <a:rPr lang="en-US" sz="26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Like Lamport signatures, HORS is designed to be secure against quantum attacks.</a:t>
            </a:r>
          </a:p>
          <a:p>
            <a:pPr algn="l">
              <a:spcBef>
                <a:spcPts val="750"/>
              </a:spcBef>
              <a:spcAft>
                <a:spcPts val="1500"/>
              </a:spcAft>
              <a:buFont typeface="Arial" panose="020B0604020202020204" pitchFamily="34" charset="0"/>
              <a:buChar char="•"/>
            </a:pPr>
            <a:r>
              <a:rPr lang="en-US" sz="2600" b="1"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Trade-offs:</a:t>
            </a:r>
            <a:endParaRPr lang="en-US" sz="26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endParaRPr>
          </a:p>
          <a:p>
            <a:pPr algn="l">
              <a:spcBef>
                <a:spcPts val="750"/>
              </a:spcBef>
              <a:spcAft>
                <a:spcPts val="1500"/>
              </a:spcAft>
              <a:buFont typeface="Arial" panose="020B0604020202020204" pitchFamily="34" charset="0"/>
              <a:buChar char="•"/>
            </a:pPr>
            <a:r>
              <a:rPr lang="en-US" sz="2600" b="0" i="0" dirty="0">
                <a:solidFill>
                  <a:srgbClr val="001D35"/>
                </a:solidFill>
                <a:effectLst/>
                <a:latin typeface="Calibri" panose="020F0502020204030204" pitchFamily="34" charset="0"/>
                <a:ea typeface="Calibri" panose="020F0502020204030204" pitchFamily="34" charset="0"/>
                <a:cs typeface="Calibri" panose="020F0502020204030204" pitchFamily="34" charset="0"/>
              </a:rPr>
              <a:t>HORS signatures offer a trade-off between signing capacity and key/signature size. </a:t>
            </a:r>
          </a:p>
          <a:p>
            <a:endParaRPr lang="en-US" dirty="0"/>
          </a:p>
        </p:txBody>
      </p:sp>
    </p:spTree>
    <p:extLst>
      <p:ext uri="{BB962C8B-B14F-4D97-AF65-F5344CB8AC3E}">
        <p14:creationId xmlns:p14="http://schemas.microsoft.com/office/powerpoint/2010/main" val="1588342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6390-C9FD-C3C0-B92D-7D7BEAD790C4}"/>
              </a:ext>
            </a:extLst>
          </p:cNvPr>
          <p:cNvSpPr>
            <a:spLocks noGrp="1"/>
          </p:cNvSpPr>
          <p:nvPr>
            <p:ph type="ctrTitle"/>
          </p:nvPr>
        </p:nvSpPr>
        <p:spPr>
          <a:xfrm>
            <a:off x="1428466" y="585551"/>
            <a:ext cx="9144000" cy="710986"/>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Blockchain</a:t>
            </a:r>
          </a:p>
        </p:txBody>
      </p:sp>
      <p:sp>
        <p:nvSpPr>
          <p:cNvPr id="3" name="Subtitle 2">
            <a:extLst>
              <a:ext uri="{FF2B5EF4-FFF2-40B4-BE49-F238E27FC236}">
                <a16:creationId xmlns:a16="http://schemas.microsoft.com/office/drawing/2014/main" id="{1D6BF89E-4070-134E-5595-B675DF6F5795}"/>
              </a:ext>
            </a:extLst>
          </p:cNvPr>
          <p:cNvSpPr>
            <a:spLocks noGrp="1"/>
          </p:cNvSpPr>
          <p:nvPr>
            <p:ph type="subTitle" idx="1"/>
          </p:nvPr>
        </p:nvSpPr>
        <p:spPr>
          <a:xfrm>
            <a:off x="1428466" y="1560307"/>
            <a:ext cx="9311535" cy="4946002"/>
          </a:xfrm>
        </p:spPr>
        <p:txBody>
          <a:bodyPr>
            <a:normAutofit/>
          </a:bodyPr>
          <a:lstStyle/>
          <a:p>
            <a:pPr algn="l"/>
            <a:r>
              <a:rPr lang="en-US" sz="2800" dirty="0">
                <a:latin typeface="Calibri" panose="020F0502020204030204" pitchFamily="34" charset="0"/>
                <a:cs typeface="Calibri" panose="020F0502020204030204" pitchFamily="34" charset="0"/>
              </a:rPr>
              <a:t>Blockchain is nothing but a distributed database system. </a:t>
            </a:r>
          </a:p>
          <a:p>
            <a:pPr algn="l"/>
            <a:r>
              <a:rPr lang="en-US" sz="2800" dirty="0">
                <a:latin typeface="Calibri" panose="020F0502020204030204" pitchFamily="34" charset="0"/>
                <a:cs typeface="Calibri" panose="020F0502020204030204" pitchFamily="34" charset="0"/>
              </a:rPr>
              <a:t>Every device is a node, full or fully validated node or partial node.</a:t>
            </a:r>
          </a:p>
          <a:p>
            <a:pPr algn="l"/>
            <a:r>
              <a:rPr lang="en-US" sz="2800" dirty="0">
                <a:latin typeface="Calibri" panose="020F0502020204030204" pitchFamily="34" charset="0"/>
                <a:cs typeface="Calibri" panose="020F0502020204030204" pitchFamily="34" charset="0"/>
              </a:rPr>
              <a:t>Current size of blockchain is 729 GB. Ledger grows 1 GB every few days.</a:t>
            </a:r>
          </a:p>
          <a:p>
            <a:pPr algn="l"/>
            <a:r>
              <a:rPr lang="en-US" sz="2800" dirty="0">
                <a:latin typeface="Calibri" panose="020F0502020204030204" pitchFamily="34" charset="0"/>
                <a:cs typeface="Calibri" panose="020F0502020204030204" pitchFamily="34" charset="0"/>
              </a:rPr>
              <a:t>Bitcoin is a public blockchain. </a:t>
            </a:r>
          </a:p>
          <a:p>
            <a:pPr algn="l"/>
            <a:r>
              <a:rPr lang="en-US" sz="2800" dirty="0">
                <a:latin typeface="Calibri" panose="020F0502020204030204" pitchFamily="34" charset="0"/>
                <a:cs typeface="Calibri" panose="020F0502020204030204" pitchFamily="34" charset="0"/>
              </a:rPr>
              <a:t>There are also private blockchain (available only to the organization, company, school etc.)</a:t>
            </a:r>
          </a:p>
          <a:p>
            <a:pPr algn="l"/>
            <a:r>
              <a:rPr lang="en-US" sz="2800" dirty="0">
                <a:latin typeface="Calibri" panose="020F0502020204030204" pitchFamily="34" charset="0"/>
                <a:cs typeface="Calibri" panose="020F0502020204030204" pitchFamily="34" charset="0"/>
              </a:rPr>
              <a:t>And Federated blockchain (available within a group of companies that you do business with)</a:t>
            </a:r>
          </a:p>
          <a:p>
            <a:pPr algn="l"/>
            <a:endParaRPr lang="en-US" dirty="0"/>
          </a:p>
        </p:txBody>
      </p:sp>
    </p:spTree>
    <p:extLst>
      <p:ext uri="{BB962C8B-B14F-4D97-AF65-F5344CB8AC3E}">
        <p14:creationId xmlns:p14="http://schemas.microsoft.com/office/powerpoint/2010/main" val="2120248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6390-C9FD-C3C0-B92D-7D7BEAD790C4}"/>
              </a:ext>
            </a:extLst>
          </p:cNvPr>
          <p:cNvSpPr>
            <a:spLocks noGrp="1"/>
          </p:cNvSpPr>
          <p:nvPr>
            <p:ph type="ctrTitle"/>
          </p:nvPr>
        </p:nvSpPr>
        <p:spPr>
          <a:xfrm>
            <a:off x="1428466" y="585551"/>
            <a:ext cx="9144000" cy="710986"/>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Blockchain – Technology behind Bitcoin</a:t>
            </a:r>
          </a:p>
        </p:txBody>
      </p:sp>
      <p:sp>
        <p:nvSpPr>
          <p:cNvPr id="3" name="Subtitle 2">
            <a:extLst>
              <a:ext uri="{FF2B5EF4-FFF2-40B4-BE49-F238E27FC236}">
                <a16:creationId xmlns:a16="http://schemas.microsoft.com/office/drawing/2014/main" id="{1D6BF89E-4070-134E-5595-B675DF6F5795}"/>
              </a:ext>
            </a:extLst>
          </p:cNvPr>
          <p:cNvSpPr>
            <a:spLocks noGrp="1"/>
          </p:cNvSpPr>
          <p:nvPr>
            <p:ph type="subTitle" idx="1"/>
          </p:nvPr>
        </p:nvSpPr>
        <p:spPr>
          <a:xfrm>
            <a:off x="841612" y="1412819"/>
            <a:ext cx="4817659" cy="1518505"/>
          </a:xfrm>
        </p:spPr>
        <p:txBody>
          <a:bodyPr>
            <a:normAutofit fontScale="92500" lnSpcReduction="20000"/>
          </a:bodyPr>
          <a:lstStyle/>
          <a:p>
            <a:pPr algn="l"/>
            <a:r>
              <a:rPr lang="en-US" dirty="0">
                <a:latin typeface="Calibri" panose="020F0502020204030204" pitchFamily="34" charset="0"/>
                <a:ea typeface="Calibri" panose="020F0502020204030204" pitchFamily="34" charset="0"/>
                <a:cs typeface="Calibri" panose="020F0502020204030204" pitchFamily="34" charset="0"/>
              </a:rPr>
              <a:t>You can store personal information.</a:t>
            </a:r>
          </a:p>
          <a:p>
            <a:pPr algn="l"/>
            <a:r>
              <a:rPr lang="en-US" dirty="0">
                <a:latin typeface="Calibri" panose="020F0502020204030204" pitchFamily="34" charset="0"/>
                <a:ea typeface="Calibri" panose="020F0502020204030204" pitchFamily="34" charset="0"/>
                <a:cs typeface="Calibri" panose="020F0502020204030204" pitchFamily="34" charset="0"/>
              </a:rPr>
              <a:t>You can store Facebook data.</a:t>
            </a:r>
          </a:p>
          <a:p>
            <a:pPr algn="l"/>
            <a:r>
              <a:rPr lang="en-US" dirty="0">
                <a:latin typeface="Calibri" panose="020F0502020204030204" pitchFamily="34" charset="0"/>
                <a:ea typeface="Calibri" panose="020F0502020204030204" pitchFamily="34" charset="0"/>
                <a:cs typeface="Calibri" panose="020F0502020204030204" pitchFamily="34" charset="0"/>
              </a:rPr>
              <a:t>You can store bitcoin transactions.</a:t>
            </a:r>
          </a:p>
          <a:p>
            <a:pPr algn="l"/>
            <a:r>
              <a:rPr lang="en-US" dirty="0">
                <a:latin typeface="Calibri" panose="020F0502020204030204" pitchFamily="34" charset="0"/>
                <a:ea typeface="Calibri" panose="020F0502020204030204" pitchFamily="34" charset="0"/>
                <a:cs typeface="Calibri" panose="020F0502020204030204" pitchFamily="34" charset="0"/>
              </a:rPr>
              <a:t>You can store health information.</a:t>
            </a:r>
          </a:p>
        </p:txBody>
      </p:sp>
      <p:sp>
        <p:nvSpPr>
          <p:cNvPr id="6" name="TextBox 5">
            <a:extLst>
              <a:ext uri="{FF2B5EF4-FFF2-40B4-BE49-F238E27FC236}">
                <a16:creationId xmlns:a16="http://schemas.microsoft.com/office/drawing/2014/main" id="{43F51713-226A-3F72-F067-C31DF441B85A}"/>
              </a:ext>
            </a:extLst>
          </p:cNvPr>
          <p:cNvSpPr txBox="1"/>
          <p:nvPr/>
        </p:nvSpPr>
        <p:spPr>
          <a:xfrm>
            <a:off x="275229" y="4599449"/>
            <a:ext cx="10007868" cy="646331"/>
          </a:xfrm>
          <a:prstGeom prst="rect">
            <a:avLst/>
          </a:prstGeom>
          <a:noFill/>
        </p:spPr>
        <p:txBody>
          <a:bodyPr wrap="none" rtlCol="0">
            <a:spAutoFit/>
          </a:bodyPr>
          <a:lstStyle/>
          <a:p>
            <a:r>
              <a:rPr lang="en-US" dirty="0"/>
              <a:t>Blockchain uses hashing algorithm to generate Hash key; there are different hashing algorithms </a:t>
            </a:r>
          </a:p>
          <a:p>
            <a:r>
              <a:rPr lang="en-US" dirty="0"/>
              <a:t>like MD5,SHA-256,SHA-512 are available.</a:t>
            </a:r>
          </a:p>
        </p:txBody>
      </p:sp>
      <p:sp>
        <p:nvSpPr>
          <p:cNvPr id="7" name="TextBox 6">
            <a:extLst>
              <a:ext uri="{FF2B5EF4-FFF2-40B4-BE49-F238E27FC236}">
                <a16:creationId xmlns:a16="http://schemas.microsoft.com/office/drawing/2014/main" id="{8D68431B-4A80-AE92-305C-02F4BABB6AC6}"/>
              </a:ext>
            </a:extLst>
          </p:cNvPr>
          <p:cNvSpPr txBox="1"/>
          <p:nvPr/>
        </p:nvSpPr>
        <p:spPr>
          <a:xfrm>
            <a:off x="275229" y="5255244"/>
            <a:ext cx="11259903" cy="923330"/>
          </a:xfrm>
          <a:prstGeom prst="rect">
            <a:avLst/>
          </a:prstGeom>
          <a:noFill/>
        </p:spPr>
        <p:txBody>
          <a:bodyPr wrap="square" rtlCol="0">
            <a:spAutoFit/>
          </a:bodyPr>
          <a:lstStyle/>
          <a:p>
            <a:r>
              <a:rPr lang="en-US" dirty="0"/>
              <a:t>You can apply this algorithm on a specific input - once you apply the operation it will give you a key,</a:t>
            </a:r>
          </a:p>
          <a:p>
            <a:r>
              <a:rPr lang="en-US" dirty="0"/>
              <a:t>irrespective of the size of your data. For every data you will get an unique key. If you change a little bit of your data your hash key will change. If the key is different that means data has been tampered.</a:t>
            </a:r>
          </a:p>
        </p:txBody>
      </p:sp>
      <p:grpSp>
        <p:nvGrpSpPr>
          <p:cNvPr id="20" name="Group 19">
            <a:extLst>
              <a:ext uri="{FF2B5EF4-FFF2-40B4-BE49-F238E27FC236}">
                <a16:creationId xmlns:a16="http://schemas.microsoft.com/office/drawing/2014/main" id="{160A1B95-3CE0-2B6C-6884-5CDC89983D4E}"/>
              </a:ext>
            </a:extLst>
          </p:cNvPr>
          <p:cNvGrpSpPr/>
          <p:nvPr/>
        </p:nvGrpSpPr>
        <p:grpSpPr>
          <a:xfrm>
            <a:off x="1053152" y="3087339"/>
            <a:ext cx="3635735" cy="1305869"/>
            <a:chOff x="1103194" y="3469061"/>
            <a:chExt cx="3635735" cy="1305869"/>
          </a:xfrm>
        </p:grpSpPr>
        <p:sp>
          <p:nvSpPr>
            <p:cNvPr id="4" name="Rectangle 3">
              <a:extLst>
                <a:ext uri="{FF2B5EF4-FFF2-40B4-BE49-F238E27FC236}">
                  <a16:creationId xmlns:a16="http://schemas.microsoft.com/office/drawing/2014/main" id="{B6DBC6D4-4C46-DF4B-0EA9-079610EE51A4}"/>
                </a:ext>
              </a:extLst>
            </p:cNvPr>
            <p:cNvSpPr/>
            <p:nvPr/>
          </p:nvSpPr>
          <p:spPr>
            <a:xfrm>
              <a:off x="3734938" y="3513290"/>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FCCAA93-8A91-3406-A689-CC8DEB1D6976}"/>
                </a:ext>
              </a:extLst>
            </p:cNvPr>
            <p:cNvSpPr txBox="1"/>
            <p:nvPr/>
          </p:nvSpPr>
          <p:spPr>
            <a:xfrm>
              <a:off x="3734938" y="3476832"/>
              <a:ext cx="350292" cy="369332"/>
            </a:xfrm>
            <a:prstGeom prst="rect">
              <a:avLst/>
            </a:prstGeom>
            <a:noFill/>
          </p:spPr>
          <p:txBody>
            <a:bodyPr wrap="square" rtlCol="0">
              <a:spAutoFit/>
            </a:bodyPr>
            <a:lstStyle/>
            <a:p>
              <a:r>
                <a:rPr lang="en-US" dirty="0"/>
                <a:t>A</a:t>
              </a:r>
            </a:p>
          </p:txBody>
        </p:sp>
        <p:sp>
          <p:nvSpPr>
            <p:cNvPr id="10" name="Rectangle 9">
              <a:extLst>
                <a:ext uri="{FF2B5EF4-FFF2-40B4-BE49-F238E27FC236}">
                  <a16:creationId xmlns:a16="http://schemas.microsoft.com/office/drawing/2014/main" id="{D6D73394-A768-69C2-2993-288FD91676E0}"/>
                </a:ext>
              </a:extLst>
            </p:cNvPr>
            <p:cNvSpPr/>
            <p:nvPr/>
          </p:nvSpPr>
          <p:spPr>
            <a:xfrm>
              <a:off x="2398594" y="3505519"/>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7A6E9FD-A79C-458D-6528-D242FC7A4C77}"/>
                </a:ext>
              </a:extLst>
            </p:cNvPr>
            <p:cNvSpPr txBox="1"/>
            <p:nvPr/>
          </p:nvSpPr>
          <p:spPr>
            <a:xfrm>
              <a:off x="2398594" y="3469061"/>
              <a:ext cx="350292" cy="369332"/>
            </a:xfrm>
            <a:prstGeom prst="rect">
              <a:avLst/>
            </a:prstGeom>
            <a:noFill/>
          </p:spPr>
          <p:txBody>
            <a:bodyPr wrap="square" rtlCol="0">
              <a:spAutoFit/>
            </a:bodyPr>
            <a:lstStyle/>
            <a:p>
              <a:r>
                <a:rPr lang="en-US" dirty="0"/>
                <a:t>B</a:t>
              </a:r>
            </a:p>
          </p:txBody>
        </p:sp>
        <p:sp>
          <p:nvSpPr>
            <p:cNvPr id="13" name="Rectangle 12">
              <a:extLst>
                <a:ext uri="{FF2B5EF4-FFF2-40B4-BE49-F238E27FC236}">
                  <a16:creationId xmlns:a16="http://schemas.microsoft.com/office/drawing/2014/main" id="{1D86A556-B5F1-ECD3-D5C7-1776B56AFB73}"/>
                </a:ext>
              </a:extLst>
            </p:cNvPr>
            <p:cNvSpPr/>
            <p:nvPr/>
          </p:nvSpPr>
          <p:spPr>
            <a:xfrm>
              <a:off x="1103194" y="3513290"/>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28EE0664-255F-034E-FB79-01A019082B07}"/>
                </a:ext>
              </a:extLst>
            </p:cNvPr>
            <p:cNvSpPr txBox="1"/>
            <p:nvPr/>
          </p:nvSpPr>
          <p:spPr>
            <a:xfrm>
              <a:off x="1103194" y="3476832"/>
              <a:ext cx="914400" cy="646331"/>
            </a:xfrm>
            <a:prstGeom prst="rect">
              <a:avLst/>
            </a:prstGeom>
            <a:noFill/>
          </p:spPr>
          <p:txBody>
            <a:bodyPr wrap="square" rtlCol="0">
              <a:spAutoFit/>
            </a:bodyPr>
            <a:lstStyle/>
            <a:p>
              <a:r>
                <a:rPr lang="en-US" dirty="0"/>
                <a:t>A</a:t>
              </a:r>
            </a:p>
            <a:p>
              <a:r>
                <a:rPr lang="en-US" dirty="0"/>
                <a:t>Data</a:t>
              </a:r>
            </a:p>
          </p:txBody>
        </p:sp>
        <p:sp>
          <p:nvSpPr>
            <p:cNvPr id="15" name="TextBox 14">
              <a:extLst>
                <a:ext uri="{FF2B5EF4-FFF2-40B4-BE49-F238E27FC236}">
                  <a16:creationId xmlns:a16="http://schemas.microsoft.com/office/drawing/2014/main" id="{82BD1269-D32C-9592-CB68-F9A9B69B2D70}"/>
                </a:ext>
              </a:extLst>
            </p:cNvPr>
            <p:cNvSpPr txBox="1"/>
            <p:nvPr/>
          </p:nvSpPr>
          <p:spPr>
            <a:xfrm>
              <a:off x="1103194" y="4399161"/>
              <a:ext cx="968821" cy="369332"/>
            </a:xfrm>
            <a:prstGeom prst="rect">
              <a:avLst/>
            </a:prstGeom>
            <a:noFill/>
          </p:spPr>
          <p:txBody>
            <a:bodyPr wrap="square" rtlCol="0">
              <a:spAutoFit/>
            </a:bodyPr>
            <a:lstStyle/>
            <a:p>
              <a:r>
                <a:rPr lang="en-US" sz="1000" dirty="0"/>
                <a:t>Hash key </a:t>
              </a:r>
              <a:r>
                <a:rPr lang="en-US" dirty="0"/>
                <a:t>K1</a:t>
              </a:r>
            </a:p>
          </p:txBody>
        </p:sp>
        <p:sp>
          <p:nvSpPr>
            <p:cNvPr id="16" name="TextBox 15">
              <a:extLst>
                <a:ext uri="{FF2B5EF4-FFF2-40B4-BE49-F238E27FC236}">
                  <a16:creationId xmlns:a16="http://schemas.microsoft.com/office/drawing/2014/main" id="{1D86D2BF-5BD0-5ED8-E8A4-15E3A6034B48}"/>
                </a:ext>
              </a:extLst>
            </p:cNvPr>
            <p:cNvSpPr txBox="1"/>
            <p:nvPr/>
          </p:nvSpPr>
          <p:spPr>
            <a:xfrm>
              <a:off x="2344173" y="3759267"/>
              <a:ext cx="968821" cy="646331"/>
            </a:xfrm>
            <a:prstGeom prst="rect">
              <a:avLst/>
            </a:prstGeom>
            <a:noFill/>
          </p:spPr>
          <p:txBody>
            <a:bodyPr wrap="square" rtlCol="0">
              <a:spAutoFit/>
            </a:bodyPr>
            <a:lstStyle/>
            <a:p>
              <a:pPr algn="ctr"/>
              <a:r>
                <a:rPr lang="en-US" dirty="0"/>
                <a:t>Data</a:t>
              </a:r>
            </a:p>
            <a:p>
              <a:r>
                <a:rPr lang="en-US" sz="1000" dirty="0"/>
                <a:t>         </a:t>
              </a:r>
              <a:r>
                <a:rPr lang="en-US" dirty="0"/>
                <a:t>K1</a:t>
              </a:r>
            </a:p>
          </p:txBody>
        </p:sp>
        <p:sp>
          <p:nvSpPr>
            <p:cNvPr id="17" name="TextBox 16">
              <a:extLst>
                <a:ext uri="{FF2B5EF4-FFF2-40B4-BE49-F238E27FC236}">
                  <a16:creationId xmlns:a16="http://schemas.microsoft.com/office/drawing/2014/main" id="{06A85075-D069-B800-B18C-7D812D0567C0}"/>
                </a:ext>
              </a:extLst>
            </p:cNvPr>
            <p:cNvSpPr txBox="1"/>
            <p:nvPr/>
          </p:nvSpPr>
          <p:spPr>
            <a:xfrm>
              <a:off x="3683758" y="3745341"/>
              <a:ext cx="968821" cy="646331"/>
            </a:xfrm>
            <a:prstGeom prst="rect">
              <a:avLst/>
            </a:prstGeom>
            <a:noFill/>
          </p:spPr>
          <p:txBody>
            <a:bodyPr wrap="square" rtlCol="0">
              <a:spAutoFit/>
            </a:bodyPr>
            <a:lstStyle/>
            <a:p>
              <a:pPr algn="ctr"/>
              <a:r>
                <a:rPr lang="en-US" dirty="0"/>
                <a:t>Data</a:t>
              </a:r>
            </a:p>
            <a:p>
              <a:r>
                <a:rPr lang="en-US" dirty="0"/>
                <a:t>     K2  </a:t>
              </a:r>
            </a:p>
          </p:txBody>
        </p:sp>
        <p:sp>
          <p:nvSpPr>
            <p:cNvPr id="18" name="TextBox 17">
              <a:extLst>
                <a:ext uri="{FF2B5EF4-FFF2-40B4-BE49-F238E27FC236}">
                  <a16:creationId xmlns:a16="http://schemas.microsoft.com/office/drawing/2014/main" id="{88E72EFB-1BD4-3CA5-94A3-735F4203AD0A}"/>
                </a:ext>
              </a:extLst>
            </p:cNvPr>
            <p:cNvSpPr txBox="1"/>
            <p:nvPr/>
          </p:nvSpPr>
          <p:spPr>
            <a:xfrm>
              <a:off x="2386168" y="4405598"/>
              <a:ext cx="968821" cy="369332"/>
            </a:xfrm>
            <a:prstGeom prst="rect">
              <a:avLst/>
            </a:prstGeom>
            <a:noFill/>
          </p:spPr>
          <p:txBody>
            <a:bodyPr wrap="square" rtlCol="0">
              <a:spAutoFit/>
            </a:bodyPr>
            <a:lstStyle/>
            <a:p>
              <a:r>
                <a:rPr lang="en-US" sz="1000" dirty="0"/>
                <a:t>Hash key </a:t>
              </a:r>
              <a:r>
                <a:rPr lang="en-US" dirty="0"/>
                <a:t>K2</a:t>
              </a:r>
            </a:p>
          </p:txBody>
        </p:sp>
        <p:sp>
          <p:nvSpPr>
            <p:cNvPr id="19" name="TextBox 18">
              <a:extLst>
                <a:ext uri="{FF2B5EF4-FFF2-40B4-BE49-F238E27FC236}">
                  <a16:creationId xmlns:a16="http://schemas.microsoft.com/office/drawing/2014/main" id="{3E22F485-712C-CE62-89FB-A823AC38E9A2}"/>
                </a:ext>
              </a:extLst>
            </p:cNvPr>
            <p:cNvSpPr txBox="1"/>
            <p:nvPr/>
          </p:nvSpPr>
          <p:spPr>
            <a:xfrm>
              <a:off x="3770108" y="4397708"/>
              <a:ext cx="968821" cy="369332"/>
            </a:xfrm>
            <a:prstGeom prst="rect">
              <a:avLst/>
            </a:prstGeom>
            <a:noFill/>
          </p:spPr>
          <p:txBody>
            <a:bodyPr wrap="square" rtlCol="0">
              <a:spAutoFit/>
            </a:bodyPr>
            <a:lstStyle/>
            <a:p>
              <a:r>
                <a:rPr lang="en-US" sz="1000" dirty="0"/>
                <a:t>Hash key </a:t>
              </a:r>
              <a:r>
                <a:rPr lang="en-US" dirty="0"/>
                <a:t>K3</a:t>
              </a:r>
            </a:p>
          </p:txBody>
        </p:sp>
      </p:grpSp>
    </p:spTree>
    <p:extLst>
      <p:ext uri="{BB962C8B-B14F-4D97-AF65-F5344CB8AC3E}">
        <p14:creationId xmlns:p14="http://schemas.microsoft.com/office/powerpoint/2010/main" val="2493125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6390-C9FD-C3C0-B92D-7D7BEAD790C4}"/>
              </a:ext>
            </a:extLst>
          </p:cNvPr>
          <p:cNvSpPr>
            <a:spLocks noGrp="1"/>
          </p:cNvSpPr>
          <p:nvPr>
            <p:ph type="ctrTitle"/>
          </p:nvPr>
        </p:nvSpPr>
        <p:spPr>
          <a:xfrm>
            <a:off x="1053152" y="264447"/>
            <a:ext cx="9144000" cy="710986"/>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Merkle Tree</a:t>
            </a:r>
          </a:p>
        </p:txBody>
      </p:sp>
      <p:sp>
        <p:nvSpPr>
          <p:cNvPr id="3" name="Subtitle 2">
            <a:extLst>
              <a:ext uri="{FF2B5EF4-FFF2-40B4-BE49-F238E27FC236}">
                <a16:creationId xmlns:a16="http://schemas.microsoft.com/office/drawing/2014/main" id="{1D6BF89E-4070-134E-5595-B675DF6F5795}"/>
              </a:ext>
            </a:extLst>
          </p:cNvPr>
          <p:cNvSpPr>
            <a:spLocks noGrp="1"/>
          </p:cNvSpPr>
          <p:nvPr>
            <p:ph type="subTitle" idx="1"/>
          </p:nvPr>
        </p:nvSpPr>
        <p:spPr>
          <a:xfrm>
            <a:off x="841612" y="1412819"/>
            <a:ext cx="5536442" cy="1518505"/>
          </a:xfrm>
        </p:spPr>
        <p:txBody>
          <a:bodyPr>
            <a:normAutofit fontScale="92500" lnSpcReduction="10000"/>
          </a:bodyPr>
          <a:lstStyle/>
          <a:p>
            <a:pPr algn="l"/>
            <a:r>
              <a:rPr lang="en-US" dirty="0">
                <a:latin typeface="Calibri" panose="020F0502020204030204" pitchFamily="34" charset="0"/>
                <a:ea typeface="Calibri" panose="020F0502020204030204" pitchFamily="34" charset="0"/>
                <a:cs typeface="Calibri" panose="020F0502020204030204" pitchFamily="34" charset="0"/>
              </a:rPr>
              <a:t>Block chain uses Merkel Tree</a:t>
            </a:r>
          </a:p>
          <a:p>
            <a:pPr algn="l"/>
            <a:r>
              <a:rPr lang="en-US" dirty="0">
                <a:latin typeface="Calibri" panose="020F0502020204030204" pitchFamily="34" charset="0"/>
                <a:ea typeface="Calibri" panose="020F0502020204030204" pitchFamily="34" charset="0"/>
                <a:cs typeface="Calibri" panose="020F0502020204030204" pitchFamily="34" charset="0"/>
              </a:rPr>
              <a:t>Blocks are connected using Hash Value</a:t>
            </a:r>
          </a:p>
          <a:p>
            <a:pPr algn="l"/>
            <a:r>
              <a:rPr lang="en-US" dirty="0">
                <a:latin typeface="Calibri" panose="020F0502020204030204" pitchFamily="34" charset="0"/>
                <a:ea typeface="Calibri" panose="020F0502020204030204" pitchFamily="34" charset="0"/>
                <a:cs typeface="Calibri" panose="020F0502020204030204" pitchFamily="34" charset="0"/>
              </a:rPr>
              <a:t>Every block will have one or multiple transactions</a:t>
            </a:r>
          </a:p>
          <a:p>
            <a:pPr algn="l"/>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20" name="Group 19">
            <a:extLst>
              <a:ext uri="{FF2B5EF4-FFF2-40B4-BE49-F238E27FC236}">
                <a16:creationId xmlns:a16="http://schemas.microsoft.com/office/drawing/2014/main" id="{160A1B95-3CE0-2B6C-6884-5CDC89983D4E}"/>
              </a:ext>
            </a:extLst>
          </p:cNvPr>
          <p:cNvGrpSpPr/>
          <p:nvPr/>
        </p:nvGrpSpPr>
        <p:grpSpPr>
          <a:xfrm>
            <a:off x="1053152" y="3087339"/>
            <a:ext cx="3635735" cy="1305869"/>
            <a:chOff x="1103194" y="3469061"/>
            <a:chExt cx="3635735" cy="1305869"/>
          </a:xfrm>
        </p:grpSpPr>
        <p:sp>
          <p:nvSpPr>
            <p:cNvPr id="4" name="Rectangle 3">
              <a:extLst>
                <a:ext uri="{FF2B5EF4-FFF2-40B4-BE49-F238E27FC236}">
                  <a16:creationId xmlns:a16="http://schemas.microsoft.com/office/drawing/2014/main" id="{B6DBC6D4-4C46-DF4B-0EA9-079610EE51A4}"/>
                </a:ext>
              </a:extLst>
            </p:cNvPr>
            <p:cNvSpPr/>
            <p:nvPr/>
          </p:nvSpPr>
          <p:spPr>
            <a:xfrm>
              <a:off x="3734938" y="3513290"/>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FCCAA93-8A91-3406-A689-CC8DEB1D6976}"/>
                </a:ext>
              </a:extLst>
            </p:cNvPr>
            <p:cNvSpPr txBox="1"/>
            <p:nvPr/>
          </p:nvSpPr>
          <p:spPr>
            <a:xfrm>
              <a:off x="3734938" y="3476832"/>
              <a:ext cx="350292" cy="369332"/>
            </a:xfrm>
            <a:prstGeom prst="rect">
              <a:avLst/>
            </a:prstGeom>
            <a:noFill/>
          </p:spPr>
          <p:txBody>
            <a:bodyPr wrap="square" rtlCol="0">
              <a:spAutoFit/>
            </a:bodyPr>
            <a:lstStyle/>
            <a:p>
              <a:r>
                <a:rPr lang="en-US" dirty="0"/>
                <a:t>A</a:t>
              </a:r>
            </a:p>
          </p:txBody>
        </p:sp>
        <p:sp>
          <p:nvSpPr>
            <p:cNvPr id="10" name="Rectangle 9">
              <a:extLst>
                <a:ext uri="{FF2B5EF4-FFF2-40B4-BE49-F238E27FC236}">
                  <a16:creationId xmlns:a16="http://schemas.microsoft.com/office/drawing/2014/main" id="{D6D73394-A768-69C2-2993-288FD91676E0}"/>
                </a:ext>
              </a:extLst>
            </p:cNvPr>
            <p:cNvSpPr/>
            <p:nvPr/>
          </p:nvSpPr>
          <p:spPr>
            <a:xfrm>
              <a:off x="2398594" y="3505519"/>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7A6E9FD-A79C-458D-6528-D242FC7A4C77}"/>
                </a:ext>
              </a:extLst>
            </p:cNvPr>
            <p:cNvSpPr txBox="1"/>
            <p:nvPr/>
          </p:nvSpPr>
          <p:spPr>
            <a:xfrm>
              <a:off x="2398594" y="3469061"/>
              <a:ext cx="350292" cy="369332"/>
            </a:xfrm>
            <a:prstGeom prst="rect">
              <a:avLst/>
            </a:prstGeom>
            <a:noFill/>
          </p:spPr>
          <p:txBody>
            <a:bodyPr wrap="square" rtlCol="0">
              <a:spAutoFit/>
            </a:bodyPr>
            <a:lstStyle/>
            <a:p>
              <a:r>
                <a:rPr lang="en-US" dirty="0"/>
                <a:t>B</a:t>
              </a:r>
            </a:p>
          </p:txBody>
        </p:sp>
        <p:sp>
          <p:nvSpPr>
            <p:cNvPr id="13" name="Rectangle 12">
              <a:extLst>
                <a:ext uri="{FF2B5EF4-FFF2-40B4-BE49-F238E27FC236}">
                  <a16:creationId xmlns:a16="http://schemas.microsoft.com/office/drawing/2014/main" id="{1D86A556-B5F1-ECD3-D5C7-1776B56AFB73}"/>
                </a:ext>
              </a:extLst>
            </p:cNvPr>
            <p:cNvSpPr/>
            <p:nvPr/>
          </p:nvSpPr>
          <p:spPr>
            <a:xfrm>
              <a:off x="1103194" y="3513290"/>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28EE0664-255F-034E-FB79-01A019082B07}"/>
                </a:ext>
              </a:extLst>
            </p:cNvPr>
            <p:cNvSpPr txBox="1"/>
            <p:nvPr/>
          </p:nvSpPr>
          <p:spPr>
            <a:xfrm>
              <a:off x="1103194" y="3476832"/>
              <a:ext cx="914400" cy="646331"/>
            </a:xfrm>
            <a:prstGeom prst="rect">
              <a:avLst/>
            </a:prstGeom>
            <a:noFill/>
          </p:spPr>
          <p:txBody>
            <a:bodyPr wrap="square" rtlCol="0">
              <a:spAutoFit/>
            </a:bodyPr>
            <a:lstStyle/>
            <a:p>
              <a:r>
                <a:rPr lang="en-US" dirty="0"/>
                <a:t>A</a:t>
              </a:r>
            </a:p>
            <a:p>
              <a:r>
                <a:rPr lang="en-US" dirty="0"/>
                <a:t>Data</a:t>
              </a:r>
            </a:p>
          </p:txBody>
        </p:sp>
        <p:sp>
          <p:nvSpPr>
            <p:cNvPr id="15" name="TextBox 14">
              <a:extLst>
                <a:ext uri="{FF2B5EF4-FFF2-40B4-BE49-F238E27FC236}">
                  <a16:creationId xmlns:a16="http://schemas.microsoft.com/office/drawing/2014/main" id="{82BD1269-D32C-9592-CB68-F9A9B69B2D70}"/>
                </a:ext>
              </a:extLst>
            </p:cNvPr>
            <p:cNvSpPr txBox="1"/>
            <p:nvPr/>
          </p:nvSpPr>
          <p:spPr>
            <a:xfrm>
              <a:off x="1103194" y="4399161"/>
              <a:ext cx="968821" cy="369332"/>
            </a:xfrm>
            <a:prstGeom prst="rect">
              <a:avLst/>
            </a:prstGeom>
            <a:noFill/>
          </p:spPr>
          <p:txBody>
            <a:bodyPr wrap="square" rtlCol="0">
              <a:spAutoFit/>
            </a:bodyPr>
            <a:lstStyle/>
            <a:p>
              <a:r>
                <a:rPr lang="en-US" sz="1000" dirty="0"/>
                <a:t>Hash key </a:t>
              </a:r>
              <a:r>
                <a:rPr lang="en-US" dirty="0"/>
                <a:t>K1</a:t>
              </a:r>
            </a:p>
          </p:txBody>
        </p:sp>
        <p:sp>
          <p:nvSpPr>
            <p:cNvPr id="16" name="TextBox 15">
              <a:extLst>
                <a:ext uri="{FF2B5EF4-FFF2-40B4-BE49-F238E27FC236}">
                  <a16:creationId xmlns:a16="http://schemas.microsoft.com/office/drawing/2014/main" id="{1D86D2BF-5BD0-5ED8-E8A4-15E3A6034B48}"/>
                </a:ext>
              </a:extLst>
            </p:cNvPr>
            <p:cNvSpPr txBox="1"/>
            <p:nvPr/>
          </p:nvSpPr>
          <p:spPr>
            <a:xfrm>
              <a:off x="2344173" y="3759267"/>
              <a:ext cx="968821" cy="646331"/>
            </a:xfrm>
            <a:prstGeom prst="rect">
              <a:avLst/>
            </a:prstGeom>
            <a:noFill/>
          </p:spPr>
          <p:txBody>
            <a:bodyPr wrap="square" rtlCol="0">
              <a:spAutoFit/>
            </a:bodyPr>
            <a:lstStyle/>
            <a:p>
              <a:pPr algn="ctr"/>
              <a:r>
                <a:rPr lang="en-US" dirty="0"/>
                <a:t>Data</a:t>
              </a:r>
            </a:p>
            <a:p>
              <a:r>
                <a:rPr lang="en-US" sz="1000" dirty="0"/>
                <a:t>         </a:t>
              </a:r>
              <a:r>
                <a:rPr lang="en-US" dirty="0"/>
                <a:t>K1</a:t>
              </a:r>
            </a:p>
          </p:txBody>
        </p:sp>
        <p:sp>
          <p:nvSpPr>
            <p:cNvPr id="17" name="TextBox 16">
              <a:extLst>
                <a:ext uri="{FF2B5EF4-FFF2-40B4-BE49-F238E27FC236}">
                  <a16:creationId xmlns:a16="http://schemas.microsoft.com/office/drawing/2014/main" id="{06A85075-D069-B800-B18C-7D812D0567C0}"/>
                </a:ext>
              </a:extLst>
            </p:cNvPr>
            <p:cNvSpPr txBox="1"/>
            <p:nvPr/>
          </p:nvSpPr>
          <p:spPr>
            <a:xfrm>
              <a:off x="3683758" y="3745341"/>
              <a:ext cx="968821" cy="646331"/>
            </a:xfrm>
            <a:prstGeom prst="rect">
              <a:avLst/>
            </a:prstGeom>
            <a:noFill/>
          </p:spPr>
          <p:txBody>
            <a:bodyPr wrap="square" rtlCol="0">
              <a:spAutoFit/>
            </a:bodyPr>
            <a:lstStyle/>
            <a:p>
              <a:pPr algn="ctr"/>
              <a:r>
                <a:rPr lang="en-US" dirty="0"/>
                <a:t>Data</a:t>
              </a:r>
            </a:p>
            <a:p>
              <a:r>
                <a:rPr lang="en-US" dirty="0"/>
                <a:t>     K2  </a:t>
              </a:r>
            </a:p>
          </p:txBody>
        </p:sp>
        <p:sp>
          <p:nvSpPr>
            <p:cNvPr id="18" name="TextBox 17">
              <a:extLst>
                <a:ext uri="{FF2B5EF4-FFF2-40B4-BE49-F238E27FC236}">
                  <a16:creationId xmlns:a16="http://schemas.microsoft.com/office/drawing/2014/main" id="{88E72EFB-1BD4-3CA5-94A3-735F4203AD0A}"/>
                </a:ext>
              </a:extLst>
            </p:cNvPr>
            <p:cNvSpPr txBox="1"/>
            <p:nvPr/>
          </p:nvSpPr>
          <p:spPr>
            <a:xfrm>
              <a:off x="2386168" y="4405598"/>
              <a:ext cx="968821" cy="369332"/>
            </a:xfrm>
            <a:prstGeom prst="rect">
              <a:avLst/>
            </a:prstGeom>
            <a:noFill/>
          </p:spPr>
          <p:txBody>
            <a:bodyPr wrap="square" rtlCol="0">
              <a:spAutoFit/>
            </a:bodyPr>
            <a:lstStyle/>
            <a:p>
              <a:r>
                <a:rPr lang="en-US" sz="1000" dirty="0"/>
                <a:t>Hash key </a:t>
              </a:r>
              <a:r>
                <a:rPr lang="en-US" dirty="0"/>
                <a:t>K2</a:t>
              </a:r>
            </a:p>
          </p:txBody>
        </p:sp>
        <p:sp>
          <p:nvSpPr>
            <p:cNvPr id="19" name="TextBox 18">
              <a:extLst>
                <a:ext uri="{FF2B5EF4-FFF2-40B4-BE49-F238E27FC236}">
                  <a16:creationId xmlns:a16="http://schemas.microsoft.com/office/drawing/2014/main" id="{3E22F485-712C-CE62-89FB-A823AC38E9A2}"/>
                </a:ext>
              </a:extLst>
            </p:cNvPr>
            <p:cNvSpPr txBox="1"/>
            <p:nvPr/>
          </p:nvSpPr>
          <p:spPr>
            <a:xfrm>
              <a:off x="3770108" y="4397708"/>
              <a:ext cx="968821" cy="369332"/>
            </a:xfrm>
            <a:prstGeom prst="rect">
              <a:avLst/>
            </a:prstGeom>
            <a:noFill/>
          </p:spPr>
          <p:txBody>
            <a:bodyPr wrap="square" rtlCol="0">
              <a:spAutoFit/>
            </a:bodyPr>
            <a:lstStyle/>
            <a:p>
              <a:r>
                <a:rPr lang="en-US" sz="1000" dirty="0"/>
                <a:t>Hash key </a:t>
              </a:r>
              <a:r>
                <a:rPr lang="en-US" dirty="0"/>
                <a:t>K3</a:t>
              </a:r>
            </a:p>
          </p:txBody>
        </p:sp>
      </p:grpSp>
      <p:sp>
        <p:nvSpPr>
          <p:cNvPr id="21" name="TextBox 20">
            <a:extLst>
              <a:ext uri="{FF2B5EF4-FFF2-40B4-BE49-F238E27FC236}">
                <a16:creationId xmlns:a16="http://schemas.microsoft.com/office/drawing/2014/main" id="{F4A07B49-30E9-333B-7415-26804F4BBFB8}"/>
              </a:ext>
            </a:extLst>
          </p:cNvPr>
          <p:cNvSpPr txBox="1"/>
          <p:nvPr/>
        </p:nvSpPr>
        <p:spPr>
          <a:xfrm>
            <a:off x="5301762" y="2682897"/>
            <a:ext cx="6039175" cy="646331"/>
          </a:xfrm>
          <a:prstGeom prst="rect">
            <a:avLst/>
          </a:prstGeom>
          <a:noFill/>
        </p:spPr>
        <p:txBody>
          <a:bodyPr wrap="square">
            <a:spAutoFit/>
          </a:bodyPr>
          <a:lstStyle/>
          <a:p>
            <a:r>
              <a:rPr lang="en-US" b="1" i="0" dirty="0">
                <a:solidFill>
                  <a:srgbClr val="0F0F0F"/>
                </a:solidFill>
                <a:effectLst/>
                <a:latin typeface="Roboto" panose="02000000000000000000" pitchFamily="2" charset="0"/>
              </a:rPr>
              <a:t>What is a Merkle Tree?</a:t>
            </a:r>
          </a:p>
          <a:p>
            <a:r>
              <a:rPr lang="en-US" dirty="0"/>
              <a:t>https://www.youtube.com/watch?v=3AcQyTs_Es4</a:t>
            </a:r>
          </a:p>
        </p:txBody>
      </p:sp>
    </p:spTree>
    <p:extLst>
      <p:ext uri="{BB962C8B-B14F-4D97-AF65-F5344CB8AC3E}">
        <p14:creationId xmlns:p14="http://schemas.microsoft.com/office/powerpoint/2010/main" val="19058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66CD0-828B-562E-2E5D-813DC4F80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4344A-8B54-D52E-69CB-00B3DB748F7C}"/>
              </a:ext>
            </a:extLst>
          </p:cNvPr>
          <p:cNvSpPr>
            <a:spLocks noGrp="1"/>
          </p:cNvSpPr>
          <p:nvPr>
            <p:ph type="ctrTitle"/>
          </p:nvPr>
        </p:nvSpPr>
        <p:spPr>
          <a:xfrm>
            <a:off x="1234721" y="273771"/>
            <a:ext cx="9144000" cy="710986"/>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Merkle Tree</a:t>
            </a:r>
          </a:p>
        </p:txBody>
      </p:sp>
      <p:sp>
        <p:nvSpPr>
          <p:cNvPr id="3" name="Subtitle 2">
            <a:extLst>
              <a:ext uri="{FF2B5EF4-FFF2-40B4-BE49-F238E27FC236}">
                <a16:creationId xmlns:a16="http://schemas.microsoft.com/office/drawing/2014/main" id="{E9753CD7-A79C-A6CB-9D81-855332E8E568}"/>
              </a:ext>
            </a:extLst>
          </p:cNvPr>
          <p:cNvSpPr>
            <a:spLocks noGrp="1"/>
          </p:cNvSpPr>
          <p:nvPr>
            <p:ph type="subTitle" idx="1"/>
          </p:nvPr>
        </p:nvSpPr>
        <p:spPr>
          <a:xfrm>
            <a:off x="354842" y="1165322"/>
            <a:ext cx="10658100" cy="1518505"/>
          </a:xfrm>
        </p:spPr>
        <p:txBody>
          <a:bodyPr>
            <a:normAutofit lnSpcReduction="10000"/>
          </a:bodyPr>
          <a:lstStyle/>
          <a:p>
            <a:pPr algn="l"/>
            <a:r>
              <a:rPr lang="en-US" dirty="0">
                <a:latin typeface="Calibri" panose="020F0502020204030204" pitchFamily="34" charset="0"/>
                <a:ea typeface="Calibri" panose="020F0502020204030204" pitchFamily="34" charset="0"/>
                <a:cs typeface="Calibri" panose="020F0502020204030204" pitchFamily="34" charset="0"/>
              </a:rPr>
              <a:t>Should we combine the whole block and find one hash or find hash value of each transaction.</a:t>
            </a:r>
          </a:p>
          <a:p>
            <a:pPr algn="l"/>
            <a:r>
              <a:rPr lang="en-US" dirty="0">
                <a:latin typeface="Calibri" panose="020F0502020204030204" pitchFamily="34" charset="0"/>
                <a:ea typeface="Calibri" panose="020F0502020204030204" pitchFamily="34" charset="0"/>
                <a:cs typeface="Calibri" panose="020F0502020204030204" pitchFamily="34" charset="0"/>
              </a:rPr>
              <a:t>Every block will have multiple hashes which will cause problem. So in order to get one hash of all the data in the block we can implement Merkle tree.</a:t>
            </a:r>
          </a:p>
          <a:p>
            <a:pPr algn="l"/>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7554314-CB18-2887-3A14-F04BBEA3872C}"/>
              </a:ext>
            </a:extLst>
          </p:cNvPr>
          <p:cNvSpPr txBox="1"/>
          <p:nvPr/>
        </p:nvSpPr>
        <p:spPr>
          <a:xfrm>
            <a:off x="846551" y="4692297"/>
            <a:ext cx="9264603" cy="646331"/>
          </a:xfrm>
          <a:prstGeom prst="rect">
            <a:avLst/>
          </a:prstGeom>
          <a:noFill/>
        </p:spPr>
        <p:txBody>
          <a:bodyPr wrap="square" rtlCol="0">
            <a:spAutoFit/>
          </a:bodyPr>
          <a:lstStyle/>
          <a:p>
            <a:r>
              <a:rPr lang="en-US" dirty="0"/>
              <a:t>A tree will have root, branches and leaves. Say each block has 10 transactions. </a:t>
            </a:r>
          </a:p>
          <a:p>
            <a:r>
              <a:rPr lang="en-US" dirty="0"/>
              <a:t>We create the hash of 10 transactions. </a:t>
            </a:r>
          </a:p>
        </p:txBody>
      </p:sp>
      <p:grpSp>
        <p:nvGrpSpPr>
          <p:cNvPr id="9" name="Group 8">
            <a:extLst>
              <a:ext uri="{FF2B5EF4-FFF2-40B4-BE49-F238E27FC236}">
                <a16:creationId xmlns:a16="http://schemas.microsoft.com/office/drawing/2014/main" id="{3AFED3EE-82F0-27EE-3866-8401155CE057}"/>
              </a:ext>
            </a:extLst>
          </p:cNvPr>
          <p:cNvGrpSpPr/>
          <p:nvPr/>
        </p:nvGrpSpPr>
        <p:grpSpPr>
          <a:xfrm>
            <a:off x="1053152" y="3087339"/>
            <a:ext cx="5777668" cy="1305869"/>
            <a:chOff x="1053152" y="3087339"/>
            <a:chExt cx="5777668" cy="1305869"/>
          </a:xfrm>
        </p:grpSpPr>
        <p:sp>
          <p:nvSpPr>
            <p:cNvPr id="4" name="Rectangle 3">
              <a:extLst>
                <a:ext uri="{FF2B5EF4-FFF2-40B4-BE49-F238E27FC236}">
                  <a16:creationId xmlns:a16="http://schemas.microsoft.com/office/drawing/2014/main" id="{561A8472-4018-1FF6-48B8-3B30A0772BA7}"/>
                </a:ext>
              </a:extLst>
            </p:cNvPr>
            <p:cNvSpPr/>
            <p:nvPr/>
          </p:nvSpPr>
          <p:spPr>
            <a:xfrm>
              <a:off x="3684896" y="3131568"/>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AD128B8-52EB-649D-7F39-FDD9D6BCFEC7}"/>
                </a:ext>
              </a:extLst>
            </p:cNvPr>
            <p:cNvSpPr txBox="1"/>
            <p:nvPr/>
          </p:nvSpPr>
          <p:spPr>
            <a:xfrm>
              <a:off x="3684896" y="3095110"/>
              <a:ext cx="350292" cy="369332"/>
            </a:xfrm>
            <a:prstGeom prst="rect">
              <a:avLst/>
            </a:prstGeom>
            <a:noFill/>
          </p:spPr>
          <p:txBody>
            <a:bodyPr wrap="square" rtlCol="0">
              <a:spAutoFit/>
            </a:bodyPr>
            <a:lstStyle/>
            <a:p>
              <a:r>
                <a:rPr lang="en-US" dirty="0"/>
                <a:t>A</a:t>
              </a:r>
            </a:p>
          </p:txBody>
        </p:sp>
        <p:sp>
          <p:nvSpPr>
            <p:cNvPr id="10" name="Rectangle 9">
              <a:extLst>
                <a:ext uri="{FF2B5EF4-FFF2-40B4-BE49-F238E27FC236}">
                  <a16:creationId xmlns:a16="http://schemas.microsoft.com/office/drawing/2014/main" id="{BBD1F9D6-9316-4333-B065-C759ADBCBFB4}"/>
                </a:ext>
              </a:extLst>
            </p:cNvPr>
            <p:cNvSpPr/>
            <p:nvPr/>
          </p:nvSpPr>
          <p:spPr>
            <a:xfrm>
              <a:off x="2348552" y="3123797"/>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5C13EF6-5FE3-6D8C-1AAF-C3C10D24AFDF}"/>
                </a:ext>
              </a:extLst>
            </p:cNvPr>
            <p:cNvSpPr txBox="1"/>
            <p:nvPr/>
          </p:nvSpPr>
          <p:spPr>
            <a:xfrm>
              <a:off x="2348552" y="3087339"/>
              <a:ext cx="350292" cy="369332"/>
            </a:xfrm>
            <a:prstGeom prst="rect">
              <a:avLst/>
            </a:prstGeom>
            <a:noFill/>
          </p:spPr>
          <p:txBody>
            <a:bodyPr wrap="square" rtlCol="0">
              <a:spAutoFit/>
            </a:bodyPr>
            <a:lstStyle/>
            <a:p>
              <a:r>
                <a:rPr lang="en-US" dirty="0"/>
                <a:t>B</a:t>
              </a:r>
            </a:p>
          </p:txBody>
        </p:sp>
        <p:sp>
          <p:nvSpPr>
            <p:cNvPr id="13" name="Rectangle 12">
              <a:extLst>
                <a:ext uri="{FF2B5EF4-FFF2-40B4-BE49-F238E27FC236}">
                  <a16:creationId xmlns:a16="http://schemas.microsoft.com/office/drawing/2014/main" id="{05F1E5F1-B1EB-334B-0DD7-A36E5B4228D3}"/>
                </a:ext>
              </a:extLst>
            </p:cNvPr>
            <p:cNvSpPr/>
            <p:nvPr/>
          </p:nvSpPr>
          <p:spPr>
            <a:xfrm>
              <a:off x="1053152" y="3131568"/>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657A800F-4EC1-F6EF-87C0-AD0EC9D8398D}"/>
                </a:ext>
              </a:extLst>
            </p:cNvPr>
            <p:cNvSpPr txBox="1"/>
            <p:nvPr/>
          </p:nvSpPr>
          <p:spPr>
            <a:xfrm>
              <a:off x="1053152" y="3095110"/>
              <a:ext cx="914400" cy="646331"/>
            </a:xfrm>
            <a:prstGeom prst="rect">
              <a:avLst/>
            </a:prstGeom>
            <a:noFill/>
          </p:spPr>
          <p:txBody>
            <a:bodyPr wrap="square" rtlCol="0">
              <a:spAutoFit/>
            </a:bodyPr>
            <a:lstStyle/>
            <a:p>
              <a:r>
                <a:rPr lang="en-US" dirty="0"/>
                <a:t>A</a:t>
              </a:r>
            </a:p>
            <a:p>
              <a:r>
                <a:rPr lang="en-US" dirty="0"/>
                <a:t>Data</a:t>
              </a:r>
            </a:p>
          </p:txBody>
        </p:sp>
        <p:sp>
          <p:nvSpPr>
            <p:cNvPr id="15" name="TextBox 14">
              <a:extLst>
                <a:ext uri="{FF2B5EF4-FFF2-40B4-BE49-F238E27FC236}">
                  <a16:creationId xmlns:a16="http://schemas.microsoft.com/office/drawing/2014/main" id="{71D849CE-A47B-C3B7-9CBB-8955CD354851}"/>
                </a:ext>
              </a:extLst>
            </p:cNvPr>
            <p:cNvSpPr txBox="1"/>
            <p:nvPr/>
          </p:nvSpPr>
          <p:spPr>
            <a:xfrm>
              <a:off x="1053152" y="4017439"/>
              <a:ext cx="968821" cy="369332"/>
            </a:xfrm>
            <a:prstGeom prst="rect">
              <a:avLst/>
            </a:prstGeom>
            <a:noFill/>
          </p:spPr>
          <p:txBody>
            <a:bodyPr wrap="square" rtlCol="0">
              <a:spAutoFit/>
            </a:bodyPr>
            <a:lstStyle/>
            <a:p>
              <a:r>
                <a:rPr lang="en-US" sz="1000" dirty="0"/>
                <a:t>Hash key </a:t>
              </a:r>
              <a:r>
                <a:rPr lang="en-US" dirty="0"/>
                <a:t>K1</a:t>
              </a:r>
            </a:p>
          </p:txBody>
        </p:sp>
        <p:sp>
          <p:nvSpPr>
            <p:cNvPr id="16" name="TextBox 15">
              <a:extLst>
                <a:ext uri="{FF2B5EF4-FFF2-40B4-BE49-F238E27FC236}">
                  <a16:creationId xmlns:a16="http://schemas.microsoft.com/office/drawing/2014/main" id="{986C8D9D-CD12-47B4-C7FE-563A6C04E671}"/>
                </a:ext>
              </a:extLst>
            </p:cNvPr>
            <p:cNvSpPr txBox="1"/>
            <p:nvPr/>
          </p:nvSpPr>
          <p:spPr>
            <a:xfrm>
              <a:off x="2294131" y="3377545"/>
              <a:ext cx="968821" cy="646331"/>
            </a:xfrm>
            <a:prstGeom prst="rect">
              <a:avLst/>
            </a:prstGeom>
            <a:noFill/>
          </p:spPr>
          <p:txBody>
            <a:bodyPr wrap="square" rtlCol="0">
              <a:spAutoFit/>
            </a:bodyPr>
            <a:lstStyle/>
            <a:p>
              <a:pPr algn="ctr"/>
              <a:r>
                <a:rPr lang="en-US" dirty="0"/>
                <a:t>Data</a:t>
              </a:r>
            </a:p>
            <a:p>
              <a:r>
                <a:rPr lang="en-US" sz="1000" dirty="0"/>
                <a:t>         </a:t>
              </a:r>
              <a:r>
                <a:rPr lang="en-US" dirty="0"/>
                <a:t>K1</a:t>
              </a:r>
            </a:p>
          </p:txBody>
        </p:sp>
        <p:sp>
          <p:nvSpPr>
            <p:cNvPr id="17" name="TextBox 16">
              <a:extLst>
                <a:ext uri="{FF2B5EF4-FFF2-40B4-BE49-F238E27FC236}">
                  <a16:creationId xmlns:a16="http://schemas.microsoft.com/office/drawing/2014/main" id="{D65F59B7-4C6C-4D43-21A2-BEF160D170B0}"/>
                </a:ext>
              </a:extLst>
            </p:cNvPr>
            <p:cNvSpPr txBox="1"/>
            <p:nvPr/>
          </p:nvSpPr>
          <p:spPr>
            <a:xfrm>
              <a:off x="3633716" y="3363619"/>
              <a:ext cx="968821" cy="646331"/>
            </a:xfrm>
            <a:prstGeom prst="rect">
              <a:avLst/>
            </a:prstGeom>
            <a:noFill/>
          </p:spPr>
          <p:txBody>
            <a:bodyPr wrap="square" rtlCol="0">
              <a:spAutoFit/>
            </a:bodyPr>
            <a:lstStyle/>
            <a:p>
              <a:pPr algn="ctr"/>
              <a:r>
                <a:rPr lang="en-US" dirty="0"/>
                <a:t>Data</a:t>
              </a:r>
            </a:p>
            <a:p>
              <a:r>
                <a:rPr lang="en-US" dirty="0"/>
                <a:t>     K2  </a:t>
              </a:r>
            </a:p>
          </p:txBody>
        </p:sp>
        <p:sp>
          <p:nvSpPr>
            <p:cNvPr id="18" name="TextBox 17">
              <a:extLst>
                <a:ext uri="{FF2B5EF4-FFF2-40B4-BE49-F238E27FC236}">
                  <a16:creationId xmlns:a16="http://schemas.microsoft.com/office/drawing/2014/main" id="{E71BF408-D0F9-21C9-5370-6C8FE0381155}"/>
                </a:ext>
              </a:extLst>
            </p:cNvPr>
            <p:cNvSpPr txBox="1"/>
            <p:nvPr/>
          </p:nvSpPr>
          <p:spPr>
            <a:xfrm>
              <a:off x="2336126" y="4023876"/>
              <a:ext cx="968821" cy="369332"/>
            </a:xfrm>
            <a:prstGeom prst="rect">
              <a:avLst/>
            </a:prstGeom>
            <a:noFill/>
          </p:spPr>
          <p:txBody>
            <a:bodyPr wrap="square" rtlCol="0">
              <a:spAutoFit/>
            </a:bodyPr>
            <a:lstStyle/>
            <a:p>
              <a:r>
                <a:rPr lang="en-US" sz="1000" dirty="0"/>
                <a:t>Hash key </a:t>
              </a:r>
              <a:r>
                <a:rPr lang="en-US" dirty="0"/>
                <a:t>K2</a:t>
              </a:r>
            </a:p>
          </p:txBody>
        </p:sp>
        <p:sp>
          <p:nvSpPr>
            <p:cNvPr id="19" name="TextBox 18">
              <a:extLst>
                <a:ext uri="{FF2B5EF4-FFF2-40B4-BE49-F238E27FC236}">
                  <a16:creationId xmlns:a16="http://schemas.microsoft.com/office/drawing/2014/main" id="{4311C198-F4B1-F4F0-284C-E74FEB12C9A8}"/>
                </a:ext>
              </a:extLst>
            </p:cNvPr>
            <p:cNvSpPr txBox="1"/>
            <p:nvPr/>
          </p:nvSpPr>
          <p:spPr>
            <a:xfrm>
              <a:off x="3720066" y="4015986"/>
              <a:ext cx="968821" cy="369332"/>
            </a:xfrm>
            <a:prstGeom prst="rect">
              <a:avLst/>
            </a:prstGeom>
            <a:noFill/>
          </p:spPr>
          <p:txBody>
            <a:bodyPr wrap="square" rtlCol="0">
              <a:spAutoFit/>
            </a:bodyPr>
            <a:lstStyle/>
            <a:p>
              <a:r>
                <a:rPr lang="en-US" sz="1000" dirty="0"/>
                <a:t>Hash key </a:t>
              </a:r>
              <a:r>
                <a:rPr lang="en-US" dirty="0"/>
                <a:t>K3</a:t>
              </a:r>
            </a:p>
          </p:txBody>
        </p:sp>
        <p:sp>
          <p:nvSpPr>
            <p:cNvPr id="8" name="TextBox 7">
              <a:extLst>
                <a:ext uri="{FF2B5EF4-FFF2-40B4-BE49-F238E27FC236}">
                  <a16:creationId xmlns:a16="http://schemas.microsoft.com/office/drawing/2014/main" id="{6F64CCF3-2400-FA50-1817-FDD2FA670CEE}"/>
                </a:ext>
              </a:extLst>
            </p:cNvPr>
            <p:cNvSpPr txBox="1"/>
            <p:nvPr/>
          </p:nvSpPr>
          <p:spPr>
            <a:xfrm>
              <a:off x="4688887" y="3337926"/>
              <a:ext cx="2141933" cy="369332"/>
            </a:xfrm>
            <a:prstGeom prst="rect">
              <a:avLst/>
            </a:prstGeom>
            <a:noFill/>
          </p:spPr>
          <p:txBody>
            <a:bodyPr wrap="none" rtlCol="0">
              <a:spAutoFit/>
            </a:bodyPr>
            <a:lstStyle/>
            <a:p>
              <a:r>
                <a:rPr lang="en-US" dirty="0"/>
                <a:t>………………………….</a:t>
              </a:r>
            </a:p>
          </p:txBody>
        </p:sp>
      </p:grpSp>
    </p:spTree>
    <p:extLst>
      <p:ext uri="{BB962C8B-B14F-4D97-AF65-F5344CB8AC3E}">
        <p14:creationId xmlns:p14="http://schemas.microsoft.com/office/powerpoint/2010/main" val="4110077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4700BBA-2925-FA11-2FDB-08965EE080DA}"/>
              </a:ext>
            </a:extLst>
          </p:cNvPr>
          <p:cNvSpPr txBox="1">
            <a:spLocks noGrp="1"/>
          </p:cNvSpPr>
          <p:nvPr>
            <p:ph idx="1"/>
          </p:nvPr>
        </p:nvSpPr>
        <p:spPr>
          <a:xfrm>
            <a:off x="595458" y="1776059"/>
            <a:ext cx="10442944" cy="2675604"/>
          </a:xfrm>
          <a:prstGeom prst="rect">
            <a:avLst/>
          </a:prstGeom>
          <a:noFill/>
        </p:spPr>
        <p:txBody>
          <a:bodyPr wrap="square" rtlCol="0">
            <a:spAutoFit/>
          </a:bodyPr>
          <a:lstStyle/>
          <a:p>
            <a:r>
              <a:rPr lang="en-US" dirty="0"/>
              <a:t>Combine the hash of 1&amp; 2 (by concatenation or substring ) get hash key 12, so on and so forth. We create the hash of 10 transactions. </a:t>
            </a:r>
          </a:p>
          <a:p>
            <a:r>
              <a:rPr lang="en-US" dirty="0"/>
              <a:t>We get the hash of 1&amp; 2 hash of 3&amp; 4…….. </a:t>
            </a:r>
          </a:p>
          <a:p>
            <a:r>
              <a:rPr lang="en-US" dirty="0"/>
              <a:t>Merkle tree is a binary tree with even transactions. If you have odd transactions, you repeat the transaction.</a:t>
            </a:r>
          </a:p>
        </p:txBody>
      </p:sp>
      <p:sp>
        <p:nvSpPr>
          <p:cNvPr id="3" name="Title 1">
            <a:extLst>
              <a:ext uri="{FF2B5EF4-FFF2-40B4-BE49-F238E27FC236}">
                <a16:creationId xmlns:a16="http://schemas.microsoft.com/office/drawing/2014/main" id="{CA5D83DF-ECAE-AE67-02AE-ABDB5E464CAB}"/>
              </a:ext>
            </a:extLst>
          </p:cNvPr>
          <p:cNvSpPr>
            <a:spLocks noGrp="1"/>
          </p:cNvSpPr>
          <p:nvPr>
            <p:ph type="title"/>
          </p:nvPr>
        </p:nvSpPr>
        <p:spPr>
          <a:xfrm>
            <a:off x="838200" y="365125"/>
            <a:ext cx="10369163" cy="577105"/>
          </a:xfrm>
        </p:spPr>
        <p:txBody>
          <a:bodyPr>
            <a:normAutofit/>
          </a:bodyPr>
          <a:lstStyle/>
          <a:p>
            <a:pPr algn="ctr"/>
            <a:r>
              <a:rPr lang="en-US" sz="2800" dirty="0">
                <a:latin typeface="Calibri" panose="020F0502020204030204" pitchFamily="34" charset="0"/>
                <a:ea typeface="Calibri" panose="020F0502020204030204" pitchFamily="34" charset="0"/>
                <a:cs typeface="Calibri" panose="020F0502020204030204" pitchFamily="34" charset="0"/>
              </a:rPr>
              <a:t>Merkle Tree</a:t>
            </a:r>
          </a:p>
        </p:txBody>
      </p:sp>
    </p:spTree>
    <p:extLst>
      <p:ext uri="{BB962C8B-B14F-4D97-AF65-F5344CB8AC3E}">
        <p14:creationId xmlns:p14="http://schemas.microsoft.com/office/powerpoint/2010/main" val="3645010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616AB-ED51-A5D0-0CF6-521F8E68F8E6}"/>
            </a:ext>
          </a:extLst>
        </p:cNvPr>
        <p:cNvGrpSpPr/>
        <p:nvPr/>
      </p:nvGrpSpPr>
      <p:grpSpPr>
        <a:xfrm>
          <a:off x="0" y="0"/>
          <a:ext cx="0" cy="0"/>
          <a:chOff x="0" y="0"/>
          <a:chExt cx="0" cy="0"/>
        </a:xfrm>
      </p:grpSpPr>
      <p:grpSp>
        <p:nvGrpSpPr>
          <p:cNvPr id="225" name="Group 224">
            <a:extLst>
              <a:ext uri="{FF2B5EF4-FFF2-40B4-BE49-F238E27FC236}">
                <a16:creationId xmlns:a16="http://schemas.microsoft.com/office/drawing/2014/main" id="{AB1988DC-2672-089A-B63D-FB1A8CFFF486}"/>
              </a:ext>
            </a:extLst>
          </p:cNvPr>
          <p:cNvGrpSpPr/>
          <p:nvPr/>
        </p:nvGrpSpPr>
        <p:grpSpPr>
          <a:xfrm>
            <a:off x="588015" y="983346"/>
            <a:ext cx="11232727" cy="4891307"/>
            <a:chOff x="593331" y="1120665"/>
            <a:chExt cx="11232727" cy="4891307"/>
          </a:xfrm>
        </p:grpSpPr>
        <p:grpSp>
          <p:nvGrpSpPr>
            <p:cNvPr id="56" name="Group 55">
              <a:extLst>
                <a:ext uri="{FF2B5EF4-FFF2-40B4-BE49-F238E27FC236}">
                  <a16:creationId xmlns:a16="http://schemas.microsoft.com/office/drawing/2014/main" id="{F1E2082B-702C-0396-3AD6-49496D54D403}"/>
                </a:ext>
              </a:extLst>
            </p:cNvPr>
            <p:cNvGrpSpPr/>
            <p:nvPr/>
          </p:nvGrpSpPr>
          <p:grpSpPr>
            <a:xfrm>
              <a:off x="593331" y="4682521"/>
              <a:ext cx="1078003" cy="1329451"/>
              <a:chOff x="1162630" y="2132327"/>
              <a:chExt cx="1078003" cy="1329451"/>
            </a:xfrm>
          </p:grpSpPr>
          <p:sp>
            <p:nvSpPr>
              <p:cNvPr id="13" name="Rectangle 12">
                <a:extLst>
                  <a:ext uri="{FF2B5EF4-FFF2-40B4-BE49-F238E27FC236}">
                    <a16:creationId xmlns:a16="http://schemas.microsoft.com/office/drawing/2014/main" id="{940472D8-172E-0EBC-CD00-5B7B11A8324E}"/>
                  </a:ext>
                </a:extLst>
              </p:cNvPr>
              <p:cNvSpPr/>
              <p:nvPr/>
            </p:nvSpPr>
            <p:spPr>
              <a:xfrm>
                <a:off x="1189841" y="2132327"/>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E480B249-E93F-E304-083F-00F1EAB733DD}"/>
                  </a:ext>
                </a:extLst>
              </p:cNvPr>
              <p:cNvSpPr txBox="1"/>
              <p:nvPr/>
            </p:nvSpPr>
            <p:spPr>
              <a:xfrm>
                <a:off x="1326233" y="2207728"/>
                <a:ext cx="914400" cy="923330"/>
              </a:xfrm>
              <a:prstGeom prst="rect">
                <a:avLst/>
              </a:prstGeom>
              <a:noFill/>
            </p:spPr>
            <p:txBody>
              <a:bodyPr wrap="square" rtlCol="0">
                <a:spAutoFit/>
              </a:bodyPr>
              <a:lstStyle/>
              <a:p>
                <a:r>
                  <a:rPr lang="en-US" dirty="0"/>
                  <a:t>A</a:t>
                </a:r>
              </a:p>
              <a:p>
                <a:r>
                  <a:rPr lang="en-US" dirty="0"/>
                  <a:t>Data</a:t>
                </a:r>
              </a:p>
              <a:p>
                <a:r>
                  <a:rPr lang="en-US" dirty="0"/>
                  <a:t>K0</a:t>
                </a:r>
              </a:p>
            </p:txBody>
          </p:sp>
          <p:sp>
            <p:nvSpPr>
              <p:cNvPr id="15" name="TextBox 14">
                <a:extLst>
                  <a:ext uri="{FF2B5EF4-FFF2-40B4-BE49-F238E27FC236}">
                    <a16:creationId xmlns:a16="http://schemas.microsoft.com/office/drawing/2014/main" id="{255EE3D7-9530-E7A4-35CC-4DE0CEFF1ACB}"/>
                  </a:ext>
                </a:extLst>
              </p:cNvPr>
              <p:cNvSpPr txBox="1"/>
              <p:nvPr/>
            </p:nvSpPr>
            <p:spPr>
              <a:xfrm>
                <a:off x="1162630" y="3092446"/>
                <a:ext cx="968821" cy="369332"/>
              </a:xfrm>
              <a:prstGeom prst="rect">
                <a:avLst/>
              </a:prstGeom>
              <a:noFill/>
            </p:spPr>
            <p:txBody>
              <a:bodyPr wrap="square" rtlCol="0">
                <a:spAutoFit/>
              </a:bodyPr>
              <a:lstStyle/>
              <a:p>
                <a:r>
                  <a:rPr lang="en-US" sz="1000" dirty="0"/>
                  <a:t>Hash key </a:t>
                </a:r>
                <a:r>
                  <a:rPr lang="en-US" dirty="0"/>
                  <a:t>K1</a:t>
                </a:r>
              </a:p>
            </p:txBody>
          </p:sp>
        </p:grpSp>
        <p:sp>
          <p:nvSpPr>
            <p:cNvPr id="16" name="TextBox 15">
              <a:extLst>
                <a:ext uri="{FF2B5EF4-FFF2-40B4-BE49-F238E27FC236}">
                  <a16:creationId xmlns:a16="http://schemas.microsoft.com/office/drawing/2014/main" id="{D5E005FB-7044-1646-456C-A0B7714AC2ED}"/>
                </a:ext>
              </a:extLst>
            </p:cNvPr>
            <p:cNvSpPr txBox="1"/>
            <p:nvPr/>
          </p:nvSpPr>
          <p:spPr>
            <a:xfrm>
              <a:off x="1594768" y="4871296"/>
              <a:ext cx="968821" cy="646331"/>
            </a:xfrm>
            <a:prstGeom prst="rect">
              <a:avLst/>
            </a:prstGeom>
            <a:noFill/>
          </p:spPr>
          <p:txBody>
            <a:bodyPr wrap="square" rtlCol="0">
              <a:spAutoFit/>
            </a:bodyPr>
            <a:lstStyle/>
            <a:p>
              <a:pPr algn="ctr"/>
              <a:r>
                <a:rPr lang="en-US" dirty="0"/>
                <a:t>Data</a:t>
              </a:r>
            </a:p>
            <a:p>
              <a:r>
                <a:rPr lang="en-US" sz="1000" dirty="0"/>
                <a:t>         </a:t>
              </a:r>
              <a:r>
                <a:rPr lang="en-US" dirty="0"/>
                <a:t>K1</a:t>
              </a:r>
            </a:p>
          </p:txBody>
        </p:sp>
        <p:grpSp>
          <p:nvGrpSpPr>
            <p:cNvPr id="58" name="Group 57">
              <a:extLst>
                <a:ext uri="{FF2B5EF4-FFF2-40B4-BE49-F238E27FC236}">
                  <a16:creationId xmlns:a16="http://schemas.microsoft.com/office/drawing/2014/main" id="{E94A57C9-87FF-04C1-2BDD-932F483A0DBF}"/>
                </a:ext>
              </a:extLst>
            </p:cNvPr>
            <p:cNvGrpSpPr/>
            <p:nvPr/>
          </p:nvGrpSpPr>
          <p:grpSpPr>
            <a:xfrm>
              <a:off x="1624337" y="4644450"/>
              <a:ext cx="968821" cy="1305869"/>
              <a:chOff x="2472815" y="2088098"/>
              <a:chExt cx="968821" cy="1305869"/>
            </a:xfrm>
          </p:grpSpPr>
          <p:sp>
            <p:nvSpPr>
              <p:cNvPr id="10" name="Rectangle 9">
                <a:extLst>
                  <a:ext uri="{FF2B5EF4-FFF2-40B4-BE49-F238E27FC236}">
                    <a16:creationId xmlns:a16="http://schemas.microsoft.com/office/drawing/2014/main" id="{146C31F1-97B2-C7FD-3574-07B4AC07AD6C}"/>
                  </a:ext>
                </a:extLst>
              </p:cNvPr>
              <p:cNvSpPr/>
              <p:nvPr/>
            </p:nvSpPr>
            <p:spPr>
              <a:xfrm>
                <a:off x="2485241" y="2124556"/>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D9450389-F912-3B75-D4A5-4DD78A92E713}"/>
                  </a:ext>
                </a:extLst>
              </p:cNvPr>
              <p:cNvSpPr txBox="1"/>
              <p:nvPr/>
            </p:nvSpPr>
            <p:spPr>
              <a:xfrm>
                <a:off x="2485241" y="2088098"/>
                <a:ext cx="350292" cy="369332"/>
              </a:xfrm>
              <a:prstGeom prst="rect">
                <a:avLst/>
              </a:prstGeom>
              <a:noFill/>
            </p:spPr>
            <p:txBody>
              <a:bodyPr wrap="square" rtlCol="0">
                <a:spAutoFit/>
              </a:bodyPr>
              <a:lstStyle/>
              <a:p>
                <a:r>
                  <a:rPr lang="en-US" dirty="0"/>
                  <a:t>B</a:t>
                </a:r>
              </a:p>
            </p:txBody>
          </p:sp>
          <p:sp>
            <p:nvSpPr>
              <p:cNvPr id="18" name="TextBox 17">
                <a:extLst>
                  <a:ext uri="{FF2B5EF4-FFF2-40B4-BE49-F238E27FC236}">
                    <a16:creationId xmlns:a16="http://schemas.microsoft.com/office/drawing/2014/main" id="{60EE858B-94F0-2762-5484-D076194ABAF5}"/>
                  </a:ext>
                </a:extLst>
              </p:cNvPr>
              <p:cNvSpPr txBox="1"/>
              <p:nvPr/>
            </p:nvSpPr>
            <p:spPr>
              <a:xfrm>
                <a:off x="2472815" y="3024635"/>
                <a:ext cx="968821" cy="369332"/>
              </a:xfrm>
              <a:prstGeom prst="rect">
                <a:avLst/>
              </a:prstGeom>
              <a:noFill/>
            </p:spPr>
            <p:txBody>
              <a:bodyPr wrap="square" rtlCol="0">
                <a:spAutoFit/>
              </a:bodyPr>
              <a:lstStyle/>
              <a:p>
                <a:r>
                  <a:rPr lang="en-US" sz="1000" dirty="0"/>
                  <a:t>Hash key </a:t>
                </a:r>
                <a:r>
                  <a:rPr lang="en-US" dirty="0"/>
                  <a:t>K2</a:t>
                </a:r>
              </a:p>
            </p:txBody>
          </p:sp>
        </p:grpSp>
        <p:grpSp>
          <p:nvGrpSpPr>
            <p:cNvPr id="20" name="Group 19">
              <a:extLst>
                <a:ext uri="{FF2B5EF4-FFF2-40B4-BE49-F238E27FC236}">
                  <a16:creationId xmlns:a16="http://schemas.microsoft.com/office/drawing/2014/main" id="{1101EB94-2C5B-F8E0-727C-0B10AB4E5C17}"/>
                </a:ext>
              </a:extLst>
            </p:cNvPr>
            <p:cNvGrpSpPr/>
            <p:nvPr/>
          </p:nvGrpSpPr>
          <p:grpSpPr>
            <a:xfrm>
              <a:off x="2579622" y="4628365"/>
              <a:ext cx="1055171" cy="1290208"/>
              <a:chOff x="3770405" y="2095869"/>
              <a:chExt cx="1055171" cy="1290208"/>
            </a:xfrm>
          </p:grpSpPr>
          <p:sp>
            <p:nvSpPr>
              <p:cNvPr id="4" name="Rectangle 3">
                <a:extLst>
                  <a:ext uri="{FF2B5EF4-FFF2-40B4-BE49-F238E27FC236}">
                    <a16:creationId xmlns:a16="http://schemas.microsoft.com/office/drawing/2014/main" id="{B1C98816-936C-9676-3D9C-03E5AABAB4B1}"/>
                  </a:ext>
                </a:extLst>
              </p:cNvPr>
              <p:cNvSpPr/>
              <p:nvPr/>
            </p:nvSpPr>
            <p:spPr>
              <a:xfrm>
                <a:off x="3821585" y="2132327"/>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755AFD8-1F11-A278-5A17-8237E16922A7}"/>
                  </a:ext>
                </a:extLst>
              </p:cNvPr>
              <p:cNvSpPr txBox="1"/>
              <p:nvPr/>
            </p:nvSpPr>
            <p:spPr>
              <a:xfrm>
                <a:off x="3821585" y="2095869"/>
                <a:ext cx="350292" cy="369332"/>
              </a:xfrm>
              <a:prstGeom prst="rect">
                <a:avLst/>
              </a:prstGeom>
              <a:noFill/>
            </p:spPr>
            <p:txBody>
              <a:bodyPr wrap="square" rtlCol="0">
                <a:spAutoFit/>
              </a:bodyPr>
              <a:lstStyle/>
              <a:p>
                <a:r>
                  <a:rPr lang="en-US" dirty="0"/>
                  <a:t>A</a:t>
                </a:r>
              </a:p>
            </p:txBody>
          </p:sp>
          <p:sp>
            <p:nvSpPr>
              <p:cNvPr id="17" name="TextBox 16">
                <a:extLst>
                  <a:ext uri="{FF2B5EF4-FFF2-40B4-BE49-F238E27FC236}">
                    <a16:creationId xmlns:a16="http://schemas.microsoft.com/office/drawing/2014/main" id="{B4F38890-446F-ABE4-A8AD-BAACDA2A8FE5}"/>
                  </a:ext>
                </a:extLst>
              </p:cNvPr>
              <p:cNvSpPr txBox="1"/>
              <p:nvPr/>
            </p:nvSpPr>
            <p:spPr>
              <a:xfrm>
                <a:off x="3770405" y="2364378"/>
                <a:ext cx="968821" cy="646331"/>
              </a:xfrm>
              <a:prstGeom prst="rect">
                <a:avLst/>
              </a:prstGeom>
              <a:noFill/>
            </p:spPr>
            <p:txBody>
              <a:bodyPr wrap="square" rtlCol="0">
                <a:spAutoFit/>
              </a:bodyPr>
              <a:lstStyle/>
              <a:p>
                <a:pPr algn="ctr"/>
                <a:r>
                  <a:rPr lang="en-US" dirty="0"/>
                  <a:t>Data</a:t>
                </a:r>
              </a:p>
              <a:p>
                <a:r>
                  <a:rPr lang="en-US" dirty="0"/>
                  <a:t>     K2  </a:t>
                </a:r>
              </a:p>
            </p:txBody>
          </p:sp>
          <p:sp>
            <p:nvSpPr>
              <p:cNvPr id="19" name="TextBox 18">
                <a:extLst>
                  <a:ext uri="{FF2B5EF4-FFF2-40B4-BE49-F238E27FC236}">
                    <a16:creationId xmlns:a16="http://schemas.microsoft.com/office/drawing/2014/main" id="{FD27565E-C63D-F4BB-B674-B7C2AF7326AF}"/>
                  </a:ext>
                </a:extLst>
              </p:cNvPr>
              <p:cNvSpPr txBox="1"/>
              <p:nvPr/>
            </p:nvSpPr>
            <p:spPr>
              <a:xfrm>
                <a:off x="3856755" y="3016745"/>
                <a:ext cx="968821" cy="369332"/>
              </a:xfrm>
              <a:prstGeom prst="rect">
                <a:avLst/>
              </a:prstGeom>
              <a:noFill/>
            </p:spPr>
            <p:txBody>
              <a:bodyPr wrap="square" rtlCol="0">
                <a:spAutoFit/>
              </a:bodyPr>
              <a:lstStyle/>
              <a:p>
                <a:r>
                  <a:rPr lang="en-US" sz="1000" dirty="0"/>
                  <a:t>Hash key </a:t>
                </a:r>
                <a:r>
                  <a:rPr lang="en-US" dirty="0"/>
                  <a:t>K3</a:t>
                </a:r>
              </a:p>
            </p:txBody>
          </p:sp>
        </p:grpSp>
        <p:grpSp>
          <p:nvGrpSpPr>
            <p:cNvPr id="21" name="Group 20">
              <a:extLst>
                <a:ext uri="{FF2B5EF4-FFF2-40B4-BE49-F238E27FC236}">
                  <a16:creationId xmlns:a16="http://schemas.microsoft.com/office/drawing/2014/main" id="{9AB7617F-E357-AF63-58D0-C6CCBEDE53F0}"/>
                </a:ext>
              </a:extLst>
            </p:cNvPr>
            <p:cNvGrpSpPr/>
            <p:nvPr/>
          </p:nvGrpSpPr>
          <p:grpSpPr>
            <a:xfrm>
              <a:off x="4597130" y="4629454"/>
              <a:ext cx="1055171" cy="1290208"/>
              <a:chOff x="3770405" y="2095869"/>
              <a:chExt cx="1055171" cy="1290208"/>
            </a:xfrm>
          </p:grpSpPr>
          <p:sp>
            <p:nvSpPr>
              <p:cNvPr id="22" name="Rectangle 21">
                <a:extLst>
                  <a:ext uri="{FF2B5EF4-FFF2-40B4-BE49-F238E27FC236}">
                    <a16:creationId xmlns:a16="http://schemas.microsoft.com/office/drawing/2014/main" id="{CCC5F050-0BA8-1309-B2E8-2551A9357B21}"/>
                  </a:ext>
                </a:extLst>
              </p:cNvPr>
              <p:cNvSpPr/>
              <p:nvPr/>
            </p:nvSpPr>
            <p:spPr>
              <a:xfrm>
                <a:off x="3821585" y="2132327"/>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5226A79-2F36-625E-0E03-C5A177C60691}"/>
                  </a:ext>
                </a:extLst>
              </p:cNvPr>
              <p:cNvSpPr txBox="1"/>
              <p:nvPr/>
            </p:nvSpPr>
            <p:spPr>
              <a:xfrm>
                <a:off x="3821585" y="2095869"/>
                <a:ext cx="350292" cy="369332"/>
              </a:xfrm>
              <a:prstGeom prst="rect">
                <a:avLst/>
              </a:prstGeom>
              <a:noFill/>
            </p:spPr>
            <p:txBody>
              <a:bodyPr wrap="square" rtlCol="0">
                <a:spAutoFit/>
              </a:bodyPr>
              <a:lstStyle/>
              <a:p>
                <a:r>
                  <a:rPr lang="en-US" dirty="0"/>
                  <a:t>A</a:t>
                </a:r>
              </a:p>
            </p:txBody>
          </p:sp>
          <p:sp>
            <p:nvSpPr>
              <p:cNvPr id="24" name="TextBox 23">
                <a:extLst>
                  <a:ext uri="{FF2B5EF4-FFF2-40B4-BE49-F238E27FC236}">
                    <a16:creationId xmlns:a16="http://schemas.microsoft.com/office/drawing/2014/main" id="{FD06C130-BFAB-CBD4-DB20-3EE707184C28}"/>
                  </a:ext>
                </a:extLst>
              </p:cNvPr>
              <p:cNvSpPr txBox="1"/>
              <p:nvPr/>
            </p:nvSpPr>
            <p:spPr>
              <a:xfrm>
                <a:off x="3770405" y="2364378"/>
                <a:ext cx="968821" cy="646331"/>
              </a:xfrm>
              <a:prstGeom prst="rect">
                <a:avLst/>
              </a:prstGeom>
              <a:noFill/>
            </p:spPr>
            <p:txBody>
              <a:bodyPr wrap="square" rtlCol="0">
                <a:spAutoFit/>
              </a:bodyPr>
              <a:lstStyle/>
              <a:p>
                <a:pPr algn="ctr"/>
                <a:r>
                  <a:rPr lang="en-US" dirty="0"/>
                  <a:t>Data</a:t>
                </a:r>
              </a:p>
              <a:p>
                <a:r>
                  <a:rPr lang="en-US" dirty="0"/>
                  <a:t>     K4  </a:t>
                </a:r>
              </a:p>
            </p:txBody>
          </p:sp>
          <p:sp>
            <p:nvSpPr>
              <p:cNvPr id="25" name="TextBox 24">
                <a:extLst>
                  <a:ext uri="{FF2B5EF4-FFF2-40B4-BE49-F238E27FC236}">
                    <a16:creationId xmlns:a16="http://schemas.microsoft.com/office/drawing/2014/main" id="{A08096CB-DA9D-6E49-6DFF-9122B8F20D55}"/>
                  </a:ext>
                </a:extLst>
              </p:cNvPr>
              <p:cNvSpPr txBox="1"/>
              <p:nvPr/>
            </p:nvSpPr>
            <p:spPr>
              <a:xfrm>
                <a:off x="3856755" y="3016745"/>
                <a:ext cx="968821" cy="369332"/>
              </a:xfrm>
              <a:prstGeom prst="rect">
                <a:avLst/>
              </a:prstGeom>
              <a:noFill/>
            </p:spPr>
            <p:txBody>
              <a:bodyPr wrap="square" rtlCol="0">
                <a:spAutoFit/>
              </a:bodyPr>
              <a:lstStyle/>
              <a:p>
                <a:r>
                  <a:rPr lang="en-US" sz="1000" dirty="0"/>
                  <a:t>Hash key </a:t>
                </a:r>
                <a:r>
                  <a:rPr lang="en-US" dirty="0"/>
                  <a:t>K5</a:t>
                </a:r>
              </a:p>
            </p:txBody>
          </p:sp>
        </p:grpSp>
        <p:sp>
          <p:nvSpPr>
            <p:cNvPr id="27" name="Rectangle 26">
              <a:extLst>
                <a:ext uri="{FF2B5EF4-FFF2-40B4-BE49-F238E27FC236}">
                  <a16:creationId xmlns:a16="http://schemas.microsoft.com/office/drawing/2014/main" id="{829F54D8-20DE-D82A-96FA-ACCA283E3D01}"/>
                </a:ext>
              </a:extLst>
            </p:cNvPr>
            <p:cNvSpPr/>
            <p:nvPr/>
          </p:nvSpPr>
          <p:spPr>
            <a:xfrm>
              <a:off x="9687668" y="4652303"/>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217E332A-7DA8-BACD-376B-37DD7BAAEF4F}"/>
                </a:ext>
              </a:extLst>
            </p:cNvPr>
            <p:cNvSpPr txBox="1"/>
            <p:nvPr/>
          </p:nvSpPr>
          <p:spPr>
            <a:xfrm>
              <a:off x="9687668" y="4615845"/>
              <a:ext cx="350292" cy="369332"/>
            </a:xfrm>
            <a:prstGeom prst="rect">
              <a:avLst/>
            </a:prstGeom>
            <a:noFill/>
          </p:spPr>
          <p:txBody>
            <a:bodyPr wrap="square" rtlCol="0">
              <a:spAutoFit/>
            </a:bodyPr>
            <a:lstStyle/>
            <a:p>
              <a:r>
                <a:rPr lang="en-US" dirty="0"/>
                <a:t>A</a:t>
              </a:r>
            </a:p>
          </p:txBody>
        </p:sp>
        <p:sp>
          <p:nvSpPr>
            <p:cNvPr id="29" name="TextBox 28">
              <a:extLst>
                <a:ext uri="{FF2B5EF4-FFF2-40B4-BE49-F238E27FC236}">
                  <a16:creationId xmlns:a16="http://schemas.microsoft.com/office/drawing/2014/main" id="{49B036E2-42F6-08A3-1F7E-9C40AACDC271}"/>
                </a:ext>
              </a:extLst>
            </p:cNvPr>
            <p:cNvSpPr txBox="1"/>
            <p:nvPr/>
          </p:nvSpPr>
          <p:spPr>
            <a:xfrm>
              <a:off x="9636488" y="4884354"/>
              <a:ext cx="968821" cy="646331"/>
            </a:xfrm>
            <a:prstGeom prst="rect">
              <a:avLst/>
            </a:prstGeom>
            <a:noFill/>
          </p:spPr>
          <p:txBody>
            <a:bodyPr wrap="square" rtlCol="0">
              <a:spAutoFit/>
            </a:bodyPr>
            <a:lstStyle/>
            <a:p>
              <a:pPr algn="ctr"/>
              <a:r>
                <a:rPr lang="en-US" dirty="0"/>
                <a:t>Data</a:t>
              </a:r>
            </a:p>
            <a:p>
              <a:r>
                <a:rPr lang="en-US" dirty="0"/>
                <a:t>     K9  </a:t>
              </a:r>
            </a:p>
          </p:txBody>
        </p:sp>
        <p:sp>
          <p:nvSpPr>
            <p:cNvPr id="30" name="TextBox 29">
              <a:extLst>
                <a:ext uri="{FF2B5EF4-FFF2-40B4-BE49-F238E27FC236}">
                  <a16:creationId xmlns:a16="http://schemas.microsoft.com/office/drawing/2014/main" id="{335FAF53-1135-A32B-1D76-44A1B8E6CC8B}"/>
                </a:ext>
              </a:extLst>
            </p:cNvPr>
            <p:cNvSpPr txBox="1"/>
            <p:nvPr/>
          </p:nvSpPr>
          <p:spPr>
            <a:xfrm>
              <a:off x="9722838" y="5536721"/>
              <a:ext cx="1400457" cy="369332"/>
            </a:xfrm>
            <a:prstGeom prst="rect">
              <a:avLst/>
            </a:prstGeom>
            <a:noFill/>
          </p:spPr>
          <p:txBody>
            <a:bodyPr wrap="square" rtlCol="0">
              <a:spAutoFit/>
            </a:bodyPr>
            <a:lstStyle/>
            <a:p>
              <a:r>
                <a:rPr lang="en-US" sz="1000" dirty="0"/>
                <a:t>Hash key </a:t>
              </a:r>
              <a:r>
                <a:rPr lang="en-US" dirty="0"/>
                <a:t>K10</a:t>
              </a:r>
            </a:p>
          </p:txBody>
        </p:sp>
        <p:sp>
          <p:nvSpPr>
            <p:cNvPr id="32" name="Rectangle 31">
              <a:extLst>
                <a:ext uri="{FF2B5EF4-FFF2-40B4-BE49-F238E27FC236}">
                  <a16:creationId xmlns:a16="http://schemas.microsoft.com/office/drawing/2014/main" id="{1F510E82-C6F2-219B-B068-EF9D19DE5B25}"/>
                </a:ext>
              </a:extLst>
            </p:cNvPr>
            <p:cNvSpPr/>
            <p:nvPr/>
          </p:nvSpPr>
          <p:spPr>
            <a:xfrm>
              <a:off x="3634793" y="4669111"/>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5BCF3C67-7145-A3CE-329A-6B1A1CDF5065}"/>
                </a:ext>
              </a:extLst>
            </p:cNvPr>
            <p:cNvSpPr txBox="1"/>
            <p:nvPr/>
          </p:nvSpPr>
          <p:spPr>
            <a:xfrm>
              <a:off x="3634793" y="4632653"/>
              <a:ext cx="350292" cy="369332"/>
            </a:xfrm>
            <a:prstGeom prst="rect">
              <a:avLst/>
            </a:prstGeom>
            <a:noFill/>
          </p:spPr>
          <p:txBody>
            <a:bodyPr wrap="square" rtlCol="0">
              <a:spAutoFit/>
            </a:bodyPr>
            <a:lstStyle/>
            <a:p>
              <a:r>
                <a:rPr lang="en-US" dirty="0"/>
                <a:t>A</a:t>
              </a:r>
            </a:p>
          </p:txBody>
        </p:sp>
        <p:sp>
          <p:nvSpPr>
            <p:cNvPr id="34" name="TextBox 33">
              <a:extLst>
                <a:ext uri="{FF2B5EF4-FFF2-40B4-BE49-F238E27FC236}">
                  <a16:creationId xmlns:a16="http://schemas.microsoft.com/office/drawing/2014/main" id="{94030159-DA85-64DC-24C7-0D69521BF469}"/>
                </a:ext>
              </a:extLst>
            </p:cNvPr>
            <p:cNvSpPr txBox="1"/>
            <p:nvPr/>
          </p:nvSpPr>
          <p:spPr>
            <a:xfrm>
              <a:off x="3583613" y="4901162"/>
              <a:ext cx="968821" cy="646331"/>
            </a:xfrm>
            <a:prstGeom prst="rect">
              <a:avLst/>
            </a:prstGeom>
            <a:noFill/>
          </p:spPr>
          <p:txBody>
            <a:bodyPr wrap="square" rtlCol="0">
              <a:spAutoFit/>
            </a:bodyPr>
            <a:lstStyle/>
            <a:p>
              <a:pPr algn="ctr"/>
              <a:r>
                <a:rPr lang="en-US" dirty="0"/>
                <a:t>Data</a:t>
              </a:r>
            </a:p>
            <a:p>
              <a:r>
                <a:rPr lang="en-US" dirty="0"/>
                <a:t>     K3  </a:t>
              </a:r>
            </a:p>
          </p:txBody>
        </p:sp>
        <p:sp>
          <p:nvSpPr>
            <p:cNvPr id="35" name="TextBox 34">
              <a:extLst>
                <a:ext uri="{FF2B5EF4-FFF2-40B4-BE49-F238E27FC236}">
                  <a16:creationId xmlns:a16="http://schemas.microsoft.com/office/drawing/2014/main" id="{AE145EDB-E163-AE5F-5648-E196C8FDD0E8}"/>
                </a:ext>
              </a:extLst>
            </p:cNvPr>
            <p:cNvSpPr txBox="1"/>
            <p:nvPr/>
          </p:nvSpPr>
          <p:spPr>
            <a:xfrm>
              <a:off x="3669963" y="5553529"/>
              <a:ext cx="968821" cy="369332"/>
            </a:xfrm>
            <a:prstGeom prst="rect">
              <a:avLst/>
            </a:prstGeom>
            <a:noFill/>
          </p:spPr>
          <p:txBody>
            <a:bodyPr wrap="square" rtlCol="0">
              <a:spAutoFit/>
            </a:bodyPr>
            <a:lstStyle/>
            <a:p>
              <a:r>
                <a:rPr lang="en-US" sz="1000" dirty="0"/>
                <a:t>Hash key </a:t>
              </a:r>
              <a:r>
                <a:rPr lang="en-US" dirty="0"/>
                <a:t>K4</a:t>
              </a:r>
            </a:p>
          </p:txBody>
        </p:sp>
        <p:grpSp>
          <p:nvGrpSpPr>
            <p:cNvPr id="36" name="Group 35">
              <a:extLst>
                <a:ext uri="{FF2B5EF4-FFF2-40B4-BE49-F238E27FC236}">
                  <a16:creationId xmlns:a16="http://schemas.microsoft.com/office/drawing/2014/main" id="{BC025D58-FD43-F336-E45C-3FE8AEA5F860}"/>
                </a:ext>
              </a:extLst>
            </p:cNvPr>
            <p:cNvGrpSpPr/>
            <p:nvPr/>
          </p:nvGrpSpPr>
          <p:grpSpPr>
            <a:xfrm>
              <a:off x="5610921" y="4622235"/>
              <a:ext cx="1055171" cy="1290208"/>
              <a:chOff x="3770405" y="2095869"/>
              <a:chExt cx="1055171" cy="1290208"/>
            </a:xfrm>
          </p:grpSpPr>
          <p:sp>
            <p:nvSpPr>
              <p:cNvPr id="37" name="Rectangle 36">
                <a:extLst>
                  <a:ext uri="{FF2B5EF4-FFF2-40B4-BE49-F238E27FC236}">
                    <a16:creationId xmlns:a16="http://schemas.microsoft.com/office/drawing/2014/main" id="{EB8FD840-0572-3E9A-3862-6ABEC4C18337}"/>
                  </a:ext>
                </a:extLst>
              </p:cNvPr>
              <p:cNvSpPr/>
              <p:nvPr/>
            </p:nvSpPr>
            <p:spPr>
              <a:xfrm>
                <a:off x="3821585" y="2132327"/>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D5C4DC3B-2953-E65A-7380-DA004E09575D}"/>
                  </a:ext>
                </a:extLst>
              </p:cNvPr>
              <p:cNvSpPr txBox="1"/>
              <p:nvPr/>
            </p:nvSpPr>
            <p:spPr>
              <a:xfrm>
                <a:off x="3821585" y="2095869"/>
                <a:ext cx="350292" cy="369332"/>
              </a:xfrm>
              <a:prstGeom prst="rect">
                <a:avLst/>
              </a:prstGeom>
              <a:noFill/>
            </p:spPr>
            <p:txBody>
              <a:bodyPr wrap="square" rtlCol="0">
                <a:spAutoFit/>
              </a:bodyPr>
              <a:lstStyle/>
              <a:p>
                <a:r>
                  <a:rPr lang="en-US" dirty="0"/>
                  <a:t>A</a:t>
                </a:r>
              </a:p>
            </p:txBody>
          </p:sp>
          <p:sp>
            <p:nvSpPr>
              <p:cNvPr id="39" name="TextBox 38">
                <a:extLst>
                  <a:ext uri="{FF2B5EF4-FFF2-40B4-BE49-F238E27FC236}">
                    <a16:creationId xmlns:a16="http://schemas.microsoft.com/office/drawing/2014/main" id="{2918E3D9-3B71-F6F9-3E27-60A30C8C7BF0}"/>
                  </a:ext>
                </a:extLst>
              </p:cNvPr>
              <p:cNvSpPr txBox="1"/>
              <p:nvPr/>
            </p:nvSpPr>
            <p:spPr>
              <a:xfrm>
                <a:off x="3770405" y="2364378"/>
                <a:ext cx="968821" cy="646331"/>
              </a:xfrm>
              <a:prstGeom prst="rect">
                <a:avLst/>
              </a:prstGeom>
              <a:noFill/>
            </p:spPr>
            <p:txBody>
              <a:bodyPr wrap="square" rtlCol="0">
                <a:spAutoFit/>
              </a:bodyPr>
              <a:lstStyle/>
              <a:p>
                <a:pPr algn="ctr"/>
                <a:r>
                  <a:rPr lang="en-US" dirty="0"/>
                  <a:t>Data</a:t>
                </a:r>
              </a:p>
              <a:p>
                <a:r>
                  <a:rPr lang="en-US" dirty="0"/>
                  <a:t>     K5  </a:t>
                </a:r>
              </a:p>
            </p:txBody>
          </p:sp>
          <p:sp>
            <p:nvSpPr>
              <p:cNvPr id="40" name="TextBox 39">
                <a:extLst>
                  <a:ext uri="{FF2B5EF4-FFF2-40B4-BE49-F238E27FC236}">
                    <a16:creationId xmlns:a16="http://schemas.microsoft.com/office/drawing/2014/main" id="{AB1F14FC-A7D9-8550-5752-580010643515}"/>
                  </a:ext>
                </a:extLst>
              </p:cNvPr>
              <p:cNvSpPr txBox="1"/>
              <p:nvPr/>
            </p:nvSpPr>
            <p:spPr>
              <a:xfrm>
                <a:off x="3856755" y="3016745"/>
                <a:ext cx="968821" cy="369332"/>
              </a:xfrm>
              <a:prstGeom prst="rect">
                <a:avLst/>
              </a:prstGeom>
              <a:noFill/>
            </p:spPr>
            <p:txBody>
              <a:bodyPr wrap="square" rtlCol="0">
                <a:spAutoFit/>
              </a:bodyPr>
              <a:lstStyle/>
              <a:p>
                <a:r>
                  <a:rPr lang="en-US" sz="1000" dirty="0"/>
                  <a:t>Hash key </a:t>
                </a:r>
                <a:r>
                  <a:rPr lang="en-US" dirty="0"/>
                  <a:t>K6</a:t>
                </a:r>
              </a:p>
            </p:txBody>
          </p:sp>
        </p:grpSp>
        <p:grpSp>
          <p:nvGrpSpPr>
            <p:cNvPr id="41" name="Group 40">
              <a:extLst>
                <a:ext uri="{FF2B5EF4-FFF2-40B4-BE49-F238E27FC236}">
                  <a16:creationId xmlns:a16="http://schemas.microsoft.com/office/drawing/2014/main" id="{14689C99-5008-2AAA-B9D7-CF30F28248AD}"/>
                </a:ext>
              </a:extLst>
            </p:cNvPr>
            <p:cNvGrpSpPr/>
            <p:nvPr/>
          </p:nvGrpSpPr>
          <p:grpSpPr>
            <a:xfrm>
              <a:off x="6634238" y="4615845"/>
              <a:ext cx="1055171" cy="1290208"/>
              <a:chOff x="3770405" y="2095869"/>
              <a:chExt cx="1055171" cy="1290208"/>
            </a:xfrm>
          </p:grpSpPr>
          <p:sp>
            <p:nvSpPr>
              <p:cNvPr id="42" name="Rectangle 41">
                <a:extLst>
                  <a:ext uri="{FF2B5EF4-FFF2-40B4-BE49-F238E27FC236}">
                    <a16:creationId xmlns:a16="http://schemas.microsoft.com/office/drawing/2014/main" id="{322C5D26-7144-DE22-B8CB-7E72646C81BE}"/>
                  </a:ext>
                </a:extLst>
              </p:cNvPr>
              <p:cNvSpPr/>
              <p:nvPr/>
            </p:nvSpPr>
            <p:spPr>
              <a:xfrm>
                <a:off x="3821585" y="2132327"/>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EBCA6463-9705-14F3-61EA-E50478FA0167}"/>
                  </a:ext>
                </a:extLst>
              </p:cNvPr>
              <p:cNvSpPr txBox="1"/>
              <p:nvPr/>
            </p:nvSpPr>
            <p:spPr>
              <a:xfrm>
                <a:off x="3821585" y="2095869"/>
                <a:ext cx="350292" cy="369332"/>
              </a:xfrm>
              <a:prstGeom prst="rect">
                <a:avLst/>
              </a:prstGeom>
              <a:noFill/>
            </p:spPr>
            <p:txBody>
              <a:bodyPr wrap="square" rtlCol="0">
                <a:spAutoFit/>
              </a:bodyPr>
              <a:lstStyle/>
              <a:p>
                <a:r>
                  <a:rPr lang="en-US" dirty="0"/>
                  <a:t>A</a:t>
                </a:r>
              </a:p>
            </p:txBody>
          </p:sp>
          <p:sp>
            <p:nvSpPr>
              <p:cNvPr id="44" name="TextBox 43">
                <a:extLst>
                  <a:ext uri="{FF2B5EF4-FFF2-40B4-BE49-F238E27FC236}">
                    <a16:creationId xmlns:a16="http://schemas.microsoft.com/office/drawing/2014/main" id="{E339F6BF-D7C6-59CF-F919-F98894A3DEC4}"/>
                  </a:ext>
                </a:extLst>
              </p:cNvPr>
              <p:cNvSpPr txBox="1"/>
              <p:nvPr/>
            </p:nvSpPr>
            <p:spPr>
              <a:xfrm>
                <a:off x="3770405" y="2364378"/>
                <a:ext cx="968821" cy="646331"/>
              </a:xfrm>
              <a:prstGeom prst="rect">
                <a:avLst/>
              </a:prstGeom>
              <a:noFill/>
            </p:spPr>
            <p:txBody>
              <a:bodyPr wrap="square" rtlCol="0">
                <a:spAutoFit/>
              </a:bodyPr>
              <a:lstStyle/>
              <a:p>
                <a:pPr algn="ctr"/>
                <a:r>
                  <a:rPr lang="en-US" dirty="0"/>
                  <a:t>Data</a:t>
                </a:r>
              </a:p>
              <a:p>
                <a:r>
                  <a:rPr lang="en-US" dirty="0"/>
                  <a:t>     K6  </a:t>
                </a:r>
              </a:p>
            </p:txBody>
          </p:sp>
          <p:sp>
            <p:nvSpPr>
              <p:cNvPr id="45" name="TextBox 44">
                <a:extLst>
                  <a:ext uri="{FF2B5EF4-FFF2-40B4-BE49-F238E27FC236}">
                    <a16:creationId xmlns:a16="http://schemas.microsoft.com/office/drawing/2014/main" id="{0D404C1B-CAD9-712E-F577-55FAF544A5AC}"/>
                  </a:ext>
                </a:extLst>
              </p:cNvPr>
              <p:cNvSpPr txBox="1"/>
              <p:nvPr/>
            </p:nvSpPr>
            <p:spPr>
              <a:xfrm>
                <a:off x="3856755" y="3016745"/>
                <a:ext cx="968821" cy="369332"/>
              </a:xfrm>
              <a:prstGeom prst="rect">
                <a:avLst/>
              </a:prstGeom>
              <a:noFill/>
            </p:spPr>
            <p:txBody>
              <a:bodyPr wrap="square" rtlCol="0">
                <a:spAutoFit/>
              </a:bodyPr>
              <a:lstStyle/>
              <a:p>
                <a:r>
                  <a:rPr lang="en-US" sz="1000" dirty="0"/>
                  <a:t>Hash key </a:t>
                </a:r>
                <a:r>
                  <a:rPr lang="en-US" dirty="0"/>
                  <a:t>K7</a:t>
                </a:r>
              </a:p>
            </p:txBody>
          </p:sp>
        </p:grpSp>
        <p:grpSp>
          <p:nvGrpSpPr>
            <p:cNvPr id="46" name="Group 45">
              <a:extLst>
                <a:ext uri="{FF2B5EF4-FFF2-40B4-BE49-F238E27FC236}">
                  <a16:creationId xmlns:a16="http://schemas.microsoft.com/office/drawing/2014/main" id="{3AB03AAA-00A1-38C7-9508-69F6FA9533B6}"/>
                </a:ext>
              </a:extLst>
            </p:cNvPr>
            <p:cNvGrpSpPr/>
            <p:nvPr/>
          </p:nvGrpSpPr>
          <p:grpSpPr>
            <a:xfrm>
              <a:off x="7638229" y="4615886"/>
              <a:ext cx="1055171" cy="1290208"/>
              <a:chOff x="3770405" y="2095869"/>
              <a:chExt cx="1055171" cy="1290208"/>
            </a:xfrm>
          </p:grpSpPr>
          <p:sp>
            <p:nvSpPr>
              <p:cNvPr id="47" name="Rectangle 46">
                <a:extLst>
                  <a:ext uri="{FF2B5EF4-FFF2-40B4-BE49-F238E27FC236}">
                    <a16:creationId xmlns:a16="http://schemas.microsoft.com/office/drawing/2014/main" id="{4414CF40-28A4-4328-1F28-03119F5E5E2A}"/>
                  </a:ext>
                </a:extLst>
              </p:cNvPr>
              <p:cNvSpPr/>
              <p:nvPr/>
            </p:nvSpPr>
            <p:spPr>
              <a:xfrm>
                <a:off x="3821585" y="2132327"/>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21E0F60C-6760-6EDC-A8F7-17BDF11A8260}"/>
                  </a:ext>
                </a:extLst>
              </p:cNvPr>
              <p:cNvSpPr txBox="1"/>
              <p:nvPr/>
            </p:nvSpPr>
            <p:spPr>
              <a:xfrm>
                <a:off x="3821585" y="2095869"/>
                <a:ext cx="350292" cy="369332"/>
              </a:xfrm>
              <a:prstGeom prst="rect">
                <a:avLst/>
              </a:prstGeom>
              <a:noFill/>
            </p:spPr>
            <p:txBody>
              <a:bodyPr wrap="square" rtlCol="0">
                <a:spAutoFit/>
              </a:bodyPr>
              <a:lstStyle/>
              <a:p>
                <a:r>
                  <a:rPr lang="en-US" dirty="0"/>
                  <a:t>A</a:t>
                </a:r>
              </a:p>
            </p:txBody>
          </p:sp>
          <p:sp>
            <p:nvSpPr>
              <p:cNvPr id="49" name="TextBox 48">
                <a:extLst>
                  <a:ext uri="{FF2B5EF4-FFF2-40B4-BE49-F238E27FC236}">
                    <a16:creationId xmlns:a16="http://schemas.microsoft.com/office/drawing/2014/main" id="{65C5A33F-C012-B16F-CEC6-97C787E691AF}"/>
                  </a:ext>
                </a:extLst>
              </p:cNvPr>
              <p:cNvSpPr txBox="1"/>
              <p:nvPr/>
            </p:nvSpPr>
            <p:spPr>
              <a:xfrm>
                <a:off x="3770405" y="2364378"/>
                <a:ext cx="968821" cy="646331"/>
              </a:xfrm>
              <a:prstGeom prst="rect">
                <a:avLst/>
              </a:prstGeom>
              <a:noFill/>
            </p:spPr>
            <p:txBody>
              <a:bodyPr wrap="square" rtlCol="0">
                <a:spAutoFit/>
              </a:bodyPr>
              <a:lstStyle/>
              <a:p>
                <a:pPr algn="ctr"/>
                <a:r>
                  <a:rPr lang="en-US" dirty="0"/>
                  <a:t>Data</a:t>
                </a:r>
              </a:p>
              <a:p>
                <a:r>
                  <a:rPr lang="en-US" dirty="0"/>
                  <a:t>     K7  </a:t>
                </a:r>
              </a:p>
            </p:txBody>
          </p:sp>
          <p:sp>
            <p:nvSpPr>
              <p:cNvPr id="50" name="TextBox 49">
                <a:extLst>
                  <a:ext uri="{FF2B5EF4-FFF2-40B4-BE49-F238E27FC236}">
                    <a16:creationId xmlns:a16="http://schemas.microsoft.com/office/drawing/2014/main" id="{B4EF8D6F-E5C8-EE40-F482-B24523768D62}"/>
                  </a:ext>
                </a:extLst>
              </p:cNvPr>
              <p:cNvSpPr txBox="1"/>
              <p:nvPr/>
            </p:nvSpPr>
            <p:spPr>
              <a:xfrm>
                <a:off x="3856755" y="3016745"/>
                <a:ext cx="968821" cy="369332"/>
              </a:xfrm>
              <a:prstGeom prst="rect">
                <a:avLst/>
              </a:prstGeom>
              <a:noFill/>
            </p:spPr>
            <p:txBody>
              <a:bodyPr wrap="square" rtlCol="0">
                <a:spAutoFit/>
              </a:bodyPr>
              <a:lstStyle/>
              <a:p>
                <a:r>
                  <a:rPr lang="en-US" sz="1000" dirty="0"/>
                  <a:t>Hash key </a:t>
                </a:r>
                <a:r>
                  <a:rPr lang="en-US" dirty="0"/>
                  <a:t>K8</a:t>
                </a:r>
              </a:p>
            </p:txBody>
          </p:sp>
        </p:grpSp>
        <p:grpSp>
          <p:nvGrpSpPr>
            <p:cNvPr id="51" name="Group 50">
              <a:extLst>
                <a:ext uri="{FF2B5EF4-FFF2-40B4-BE49-F238E27FC236}">
                  <a16:creationId xmlns:a16="http://schemas.microsoft.com/office/drawing/2014/main" id="{9C200A48-A976-44D1-66AE-D6299AD9CDAC}"/>
                </a:ext>
              </a:extLst>
            </p:cNvPr>
            <p:cNvGrpSpPr/>
            <p:nvPr/>
          </p:nvGrpSpPr>
          <p:grpSpPr>
            <a:xfrm>
              <a:off x="8638979" y="4615845"/>
              <a:ext cx="1055171" cy="1290208"/>
              <a:chOff x="3770405" y="2095869"/>
              <a:chExt cx="1055171" cy="1290208"/>
            </a:xfrm>
          </p:grpSpPr>
          <p:sp>
            <p:nvSpPr>
              <p:cNvPr id="52" name="Rectangle 51">
                <a:extLst>
                  <a:ext uri="{FF2B5EF4-FFF2-40B4-BE49-F238E27FC236}">
                    <a16:creationId xmlns:a16="http://schemas.microsoft.com/office/drawing/2014/main" id="{6BA8E64D-3E0A-2757-6CFD-09D6DEDA55A8}"/>
                  </a:ext>
                </a:extLst>
              </p:cNvPr>
              <p:cNvSpPr/>
              <p:nvPr/>
            </p:nvSpPr>
            <p:spPr>
              <a:xfrm>
                <a:off x="3821585" y="2132327"/>
                <a:ext cx="914400"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CA90FBE3-EC1D-275E-A9A3-B63EA1F1BC12}"/>
                  </a:ext>
                </a:extLst>
              </p:cNvPr>
              <p:cNvSpPr txBox="1"/>
              <p:nvPr/>
            </p:nvSpPr>
            <p:spPr>
              <a:xfrm>
                <a:off x="3821585" y="2095869"/>
                <a:ext cx="350292" cy="369332"/>
              </a:xfrm>
              <a:prstGeom prst="rect">
                <a:avLst/>
              </a:prstGeom>
              <a:noFill/>
            </p:spPr>
            <p:txBody>
              <a:bodyPr wrap="square" rtlCol="0">
                <a:spAutoFit/>
              </a:bodyPr>
              <a:lstStyle/>
              <a:p>
                <a:r>
                  <a:rPr lang="en-US" dirty="0"/>
                  <a:t>A</a:t>
                </a:r>
              </a:p>
            </p:txBody>
          </p:sp>
          <p:sp>
            <p:nvSpPr>
              <p:cNvPr id="54" name="TextBox 53">
                <a:extLst>
                  <a:ext uri="{FF2B5EF4-FFF2-40B4-BE49-F238E27FC236}">
                    <a16:creationId xmlns:a16="http://schemas.microsoft.com/office/drawing/2014/main" id="{8642C252-D5C5-D841-4234-BE994D4B8578}"/>
                  </a:ext>
                </a:extLst>
              </p:cNvPr>
              <p:cNvSpPr txBox="1"/>
              <p:nvPr/>
            </p:nvSpPr>
            <p:spPr>
              <a:xfrm>
                <a:off x="3770405" y="2364378"/>
                <a:ext cx="968821" cy="646331"/>
              </a:xfrm>
              <a:prstGeom prst="rect">
                <a:avLst/>
              </a:prstGeom>
              <a:noFill/>
            </p:spPr>
            <p:txBody>
              <a:bodyPr wrap="square" rtlCol="0">
                <a:spAutoFit/>
              </a:bodyPr>
              <a:lstStyle/>
              <a:p>
                <a:pPr algn="ctr"/>
                <a:r>
                  <a:rPr lang="en-US" dirty="0"/>
                  <a:t>Data</a:t>
                </a:r>
              </a:p>
              <a:p>
                <a:r>
                  <a:rPr lang="en-US" dirty="0"/>
                  <a:t>     K8  </a:t>
                </a:r>
              </a:p>
            </p:txBody>
          </p:sp>
          <p:sp>
            <p:nvSpPr>
              <p:cNvPr id="55" name="TextBox 54">
                <a:extLst>
                  <a:ext uri="{FF2B5EF4-FFF2-40B4-BE49-F238E27FC236}">
                    <a16:creationId xmlns:a16="http://schemas.microsoft.com/office/drawing/2014/main" id="{A346932D-4A8C-6129-C446-7B6124A550F5}"/>
                  </a:ext>
                </a:extLst>
              </p:cNvPr>
              <p:cNvSpPr txBox="1"/>
              <p:nvPr/>
            </p:nvSpPr>
            <p:spPr>
              <a:xfrm>
                <a:off x="3856755" y="3016745"/>
                <a:ext cx="968821" cy="369332"/>
              </a:xfrm>
              <a:prstGeom prst="rect">
                <a:avLst/>
              </a:prstGeom>
              <a:noFill/>
            </p:spPr>
            <p:txBody>
              <a:bodyPr wrap="square" rtlCol="0">
                <a:spAutoFit/>
              </a:bodyPr>
              <a:lstStyle/>
              <a:p>
                <a:r>
                  <a:rPr lang="en-US" sz="1000" dirty="0"/>
                  <a:t>Hash key </a:t>
                </a:r>
                <a:r>
                  <a:rPr lang="en-US" dirty="0"/>
                  <a:t>K9</a:t>
                </a:r>
              </a:p>
            </p:txBody>
          </p:sp>
        </p:grpSp>
        <p:sp>
          <p:nvSpPr>
            <p:cNvPr id="94" name="TextBox 93">
              <a:extLst>
                <a:ext uri="{FF2B5EF4-FFF2-40B4-BE49-F238E27FC236}">
                  <a16:creationId xmlns:a16="http://schemas.microsoft.com/office/drawing/2014/main" id="{A5F8AAF1-927E-5845-8FA6-04C50B9DF943}"/>
                </a:ext>
              </a:extLst>
            </p:cNvPr>
            <p:cNvSpPr txBox="1"/>
            <p:nvPr/>
          </p:nvSpPr>
          <p:spPr>
            <a:xfrm>
              <a:off x="7407355" y="3827580"/>
              <a:ext cx="914400" cy="246221"/>
            </a:xfrm>
            <a:prstGeom prst="rect">
              <a:avLst/>
            </a:prstGeom>
            <a:noFill/>
          </p:spPr>
          <p:txBody>
            <a:bodyPr wrap="square" rtlCol="0">
              <a:spAutoFit/>
            </a:bodyPr>
            <a:lstStyle/>
            <a:p>
              <a:r>
                <a:rPr lang="en-US" sz="1000" dirty="0"/>
                <a:t>H - 78</a:t>
              </a:r>
              <a:endParaRPr lang="en-US" dirty="0"/>
            </a:p>
          </p:txBody>
        </p:sp>
        <p:sp>
          <p:nvSpPr>
            <p:cNvPr id="95" name="TextBox 94">
              <a:extLst>
                <a:ext uri="{FF2B5EF4-FFF2-40B4-BE49-F238E27FC236}">
                  <a16:creationId xmlns:a16="http://schemas.microsoft.com/office/drawing/2014/main" id="{B4A08C61-4E75-30BA-F061-6028394EECD4}"/>
                </a:ext>
              </a:extLst>
            </p:cNvPr>
            <p:cNvSpPr txBox="1"/>
            <p:nvPr/>
          </p:nvSpPr>
          <p:spPr>
            <a:xfrm>
              <a:off x="5360342" y="3844097"/>
              <a:ext cx="1095048" cy="246221"/>
            </a:xfrm>
            <a:prstGeom prst="rect">
              <a:avLst/>
            </a:prstGeom>
            <a:noFill/>
          </p:spPr>
          <p:txBody>
            <a:bodyPr wrap="square" rtlCol="0">
              <a:spAutoFit/>
            </a:bodyPr>
            <a:lstStyle/>
            <a:p>
              <a:r>
                <a:rPr lang="en-US" sz="1000" dirty="0"/>
                <a:t>H - 56</a:t>
              </a:r>
              <a:endParaRPr lang="en-US" dirty="0"/>
            </a:p>
          </p:txBody>
        </p:sp>
        <p:sp>
          <p:nvSpPr>
            <p:cNvPr id="96" name="TextBox 95">
              <a:extLst>
                <a:ext uri="{FF2B5EF4-FFF2-40B4-BE49-F238E27FC236}">
                  <a16:creationId xmlns:a16="http://schemas.microsoft.com/office/drawing/2014/main" id="{FF446991-1F78-BBF1-D6B2-F5DB1395C378}"/>
                </a:ext>
              </a:extLst>
            </p:cNvPr>
            <p:cNvSpPr txBox="1"/>
            <p:nvPr/>
          </p:nvSpPr>
          <p:spPr>
            <a:xfrm>
              <a:off x="3247890" y="3881907"/>
              <a:ext cx="642717" cy="246221"/>
            </a:xfrm>
            <a:prstGeom prst="rect">
              <a:avLst/>
            </a:prstGeom>
            <a:noFill/>
          </p:spPr>
          <p:txBody>
            <a:bodyPr wrap="square" rtlCol="0">
              <a:spAutoFit/>
            </a:bodyPr>
            <a:lstStyle/>
            <a:p>
              <a:r>
                <a:rPr lang="en-US" sz="1000" dirty="0"/>
                <a:t>H - 34</a:t>
              </a:r>
              <a:endParaRPr lang="en-US" dirty="0"/>
            </a:p>
          </p:txBody>
        </p:sp>
        <p:grpSp>
          <p:nvGrpSpPr>
            <p:cNvPr id="132" name="Group 131">
              <a:extLst>
                <a:ext uri="{FF2B5EF4-FFF2-40B4-BE49-F238E27FC236}">
                  <a16:creationId xmlns:a16="http://schemas.microsoft.com/office/drawing/2014/main" id="{DFB68FD6-B999-F263-0796-2AC5F6839F81}"/>
                </a:ext>
              </a:extLst>
            </p:cNvPr>
            <p:cNvGrpSpPr/>
            <p:nvPr/>
          </p:nvGrpSpPr>
          <p:grpSpPr>
            <a:xfrm>
              <a:off x="1015766" y="3877434"/>
              <a:ext cx="951812" cy="800489"/>
              <a:chOff x="1398671" y="2282949"/>
              <a:chExt cx="951812" cy="800489"/>
            </a:xfrm>
          </p:grpSpPr>
          <p:grpSp>
            <p:nvGrpSpPr>
              <p:cNvPr id="73" name="Group 72">
                <a:extLst>
                  <a:ext uri="{FF2B5EF4-FFF2-40B4-BE49-F238E27FC236}">
                    <a16:creationId xmlns:a16="http://schemas.microsoft.com/office/drawing/2014/main" id="{234C5A4C-A5B5-F924-B140-470A83EECA74}"/>
                  </a:ext>
                </a:extLst>
              </p:cNvPr>
              <p:cNvGrpSpPr/>
              <p:nvPr/>
            </p:nvGrpSpPr>
            <p:grpSpPr>
              <a:xfrm>
                <a:off x="1398671" y="2562522"/>
                <a:ext cx="951812" cy="520916"/>
                <a:chOff x="1553102" y="1015852"/>
                <a:chExt cx="1024679" cy="987557"/>
              </a:xfrm>
            </p:grpSpPr>
            <p:cxnSp>
              <p:nvCxnSpPr>
                <p:cNvPr id="66" name="Straight Connector 65">
                  <a:extLst>
                    <a:ext uri="{FF2B5EF4-FFF2-40B4-BE49-F238E27FC236}">
                      <a16:creationId xmlns:a16="http://schemas.microsoft.com/office/drawing/2014/main" id="{72830383-8136-9799-19D7-5A5D79377006}"/>
                    </a:ext>
                  </a:extLst>
                </p:cNvPr>
                <p:cNvCxnSpPr>
                  <a:cxnSpLocks/>
                </p:cNvCxnSpPr>
                <p:nvPr/>
              </p:nvCxnSpPr>
              <p:spPr>
                <a:xfrm>
                  <a:off x="1553102" y="1499729"/>
                  <a:ext cx="102467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5ED1F97A-CBD0-3435-48ED-E1FF9C0DC204}"/>
                    </a:ext>
                  </a:extLst>
                </p:cNvPr>
                <p:cNvCxnSpPr/>
                <p:nvPr/>
              </p:nvCxnSpPr>
              <p:spPr>
                <a:xfrm>
                  <a:off x="2577781" y="1499729"/>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D856F9B1-B0D4-CD02-9D88-919C9E636857}"/>
                    </a:ext>
                  </a:extLst>
                </p:cNvPr>
                <p:cNvCxnSpPr/>
                <p:nvPr/>
              </p:nvCxnSpPr>
              <p:spPr>
                <a:xfrm>
                  <a:off x="1553102" y="1499729"/>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92AF02E2-3652-3F6B-F91E-15AA60C232DD}"/>
                    </a:ext>
                  </a:extLst>
                </p:cNvPr>
                <p:cNvCxnSpPr/>
                <p:nvPr/>
              </p:nvCxnSpPr>
              <p:spPr>
                <a:xfrm>
                  <a:off x="2041554" y="1015852"/>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7" name="TextBox 96">
                <a:extLst>
                  <a:ext uri="{FF2B5EF4-FFF2-40B4-BE49-F238E27FC236}">
                    <a16:creationId xmlns:a16="http://schemas.microsoft.com/office/drawing/2014/main" id="{5A49BEF9-764C-6D53-0575-AC5A7572684C}"/>
                  </a:ext>
                </a:extLst>
              </p:cNvPr>
              <p:cNvSpPr txBox="1"/>
              <p:nvPr/>
            </p:nvSpPr>
            <p:spPr>
              <a:xfrm>
                <a:off x="1571500" y="2332888"/>
                <a:ext cx="755284" cy="246221"/>
              </a:xfrm>
              <a:prstGeom prst="rect">
                <a:avLst/>
              </a:prstGeom>
              <a:noFill/>
            </p:spPr>
            <p:txBody>
              <a:bodyPr wrap="square" rtlCol="0">
                <a:spAutoFit/>
              </a:bodyPr>
              <a:lstStyle/>
              <a:p>
                <a:r>
                  <a:rPr lang="en-US" sz="1000" dirty="0"/>
                  <a:t>H - 12</a:t>
                </a:r>
                <a:endParaRPr lang="en-US" dirty="0"/>
              </a:p>
            </p:txBody>
          </p:sp>
          <p:sp>
            <p:nvSpPr>
              <p:cNvPr id="99" name="Rectangle 98">
                <a:extLst>
                  <a:ext uri="{FF2B5EF4-FFF2-40B4-BE49-F238E27FC236}">
                    <a16:creationId xmlns:a16="http://schemas.microsoft.com/office/drawing/2014/main" id="{C2F3AD88-755F-02C8-EA81-F6109CF3E669}"/>
                  </a:ext>
                </a:extLst>
              </p:cNvPr>
              <p:cNvSpPr/>
              <p:nvPr/>
            </p:nvSpPr>
            <p:spPr>
              <a:xfrm>
                <a:off x="1546215" y="2282949"/>
                <a:ext cx="656723" cy="2833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4" name="Group 103">
              <a:extLst>
                <a:ext uri="{FF2B5EF4-FFF2-40B4-BE49-F238E27FC236}">
                  <a16:creationId xmlns:a16="http://schemas.microsoft.com/office/drawing/2014/main" id="{35DCBA45-D852-49AC-2B2A-70F0112E7BA6}"/>
                </a:ext>
              </a:extLst>
            </p:cNvPr>
            <p:cNvGrpSpPr/>
            <p:nvPr/>
          </p:nvGrpSpPr>
          <p:grpSpPr>
            <a:xfrm>
              <a:off x="9169086" y="4110942"/>
              <a:ext cx="951812" cy="537318"/>
              <a:chOff x="1553102" y="984757"/>
              <a:chExt cx="1024679" cy="1018652"/>
            </a:xfrm>
          </p:grpSpPr>
          <p:cxnSp>
            <p:nvCxnSpPr>
              <p:cNvPr id="105" name="Straight Connector 104">
                <a:extLst>
                  <a:ext uri="{FF2B5EF4-FFF2-40B4-BE49-F238E27FC236}">
                    <a16:creationId xmlns:a16="http://schemas.microsoft.com/office/drawing/2014/main" id="{FED689A5-CA4E-47E6-2290-BBD90ADF87CD}"/>
                  </a:ext>
                </a:extLst>
              </p:cNvPr>
              <p:cNvCxnSpPr>
                <a:cxnSpLocks/>
              </p:cNvCxnSpPr>
              <p:nvPr/>
            </p:nvCxnSpPr>
            <p:spPr>
              <a:xfrm>
                <a:off x="1553102" y="1499729"/>
                <a:ext cx="102467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C0478951-7A28-E5E9-F0D5-464770180FB0}"/>
                  </a:ext>
                </a:extLst>
              </p:cNvPr>
              <p:cNvCxnSpPr/>
              <p:nvPr/>
            </p:nvCxnSpPr>
            <p:spPr>
              <a:xfrm>
                <a:off x="2577781" y="1499729"/>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41657B3F-68D7-F98E-F9C7-B1102C459DA7}"/>
                  </a:ext>
                </a:extLst>
              </p:cNvPr>
              <p:cNvCxnSpPr/>
              <p:nvPr/>
            </p:nvCxnSpPr>
            <p:spPr>
              <a:xfrm>
                <a:off x="1553102" y="1499729"/>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89D977C3-43B8-93D0-2C0F-84991B941952}"/>
                  </a:ext>
                </a:extLst>
              </p:cNvPr>
              <p:cNvCxnSpPr/>
              <p:nvPr/>
            </p:nvCxnSpPr>
            <p:spPr>
              <a:xfrm>
                <a:off x="2048882" y="984757"/>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9" name="Group 108">
              <a:extLst>
                <a:ext uri="{FF2B5EF4-FFF2-40B4-BE49-F238E27FC236}">
                  <a16:creationId xmlns:a16="http://schemas.microsoft.com/office/drawing/2014/main" id="{E1D2C457-4658-CBAC-355B-2E4101EAC731}"/>
                </a:ext>
              </a:extLst>
            </p:cNvPr>
            <p:cNvGrpSpPr/>
            <p:nvPr/>
          </p:nvGrpSpPr>
          <p:grpSpPr>
            <a:xfrm>
              <a:off x="7177322" y="4099152"/>
              <a:ext cx="951812" cy="537318"/>
              <a:chOff x="1553102" y="984757"/>
              <a:chExt cx="1024679" cy="1018652"/>
            </a:xfrm>
          </p:grpSpPr>
          <p:cxnSp>
            <p:nvCxnSpPr>
              <p:cNvPr id="110" name="Straight Connector 109">
                <a:extLst>
                  <a:ext uri="{FF2B5EF4-FFF2-40B4-BE49-F238E27FC236}">
                    <a16:creationId xmlns:a16="http://schemas.microsoft.com/office/drawing/2014/main" id="{1D96D9F8-0E65-E254-ABB9-597E15145294}"/>
                  </a:ext>
                </a:extLst>
              </p:cNvPr>
              <p:cNvCxnSpPr>
                <a:cxnSpLocks/>
              </p:cNvCxnSpPr>
              <p:nvPr/>
            </p:nvCxnSpPr>
            <p:spPr>
              <a:xfrm>
                <a:off x="1553102" y="1499729"/>
                <a:ext cx="102467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24660FAE-7464-5DB9-58AE-321A3EA86451}"/>
                  </a:ext>
                </a:extLst>
              </p:cNvPr>
              <p:cNvCxnSpPr/>
              <p:nvPr/>
            </p:nvCxnSpPr>
            <p:spPr>
              <a:xfrm>
                <a:off x="2577781" y="1499729"/>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DE1C2F1F-B02A-7BD6-B4A1-C63520F988B0}"/>
                  </a:ext>
                </a:extLst>
              </p:cNvPr>
              <p:cNvCxnSpPr/>
              <p:nvPr/>
            </p:nvCxnSpPr>
            <p:spPr>
              <a:xfrm>
                <a:off x="1553102" y="1499729"/>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915A8213-D2FE-1316-084F-54742D2FDB8C}"/>
                  </a:ext>
                </a:extLst>
              </p:cNvPr>
              <p:cNvCxnSpPr/>
              <p:nvPr/>
            </p:nvCxnSpPr>
            <p:spPr>
              <a:xfrm>
                <a:off x="2048882" y="984757"/>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14" name="Group 113">
              <a:extLst>
                <a:ext uri="{FF2B5EF4-FFF2-40B4-BE49-F238E27FC236}">
                  <a16:creationId xmlns:a16="http://schemas.microsoft.com/office/drawing/2014/main" id="{3A8FF4D3-C402-0A5A-2BD4-437C7AF58FE6}"/>
                </a:ext>
              </a:extLst>
            </p:cNvPr>
            <p:cNvGrpSpPr/>
            <p:nvPr/>
          </p:nvGrpSpPr>
          <p:grpSpPr>
            <a:xfrm>
              <a:off x="5160605" y="4127505"/>
              <a:ext cx="951812" cy="537318"/>
              <a:chOff x="1553102" y="984757"/>
              <a:chExt cx="1024679" cy="1018652"/>
            </a:xfrm>
          </p:grpSpPr>
          <p:cxnSp>
            <p:nvCxnSpPr>
              <p:cNvPr id="115" name="Straight Connector 114">
                <a:extLst>
                  <a:ext uri="{FF2B5EF4-FFF2-40B4-BE49-F238E27FC236}">
                    <a16:creationId xmlns:a16="http://schemas.microsoft.com/office/drawing/2014/main" id="{1C709C94-3F56-0AF3-6FEB-89813883DD6F}"/>
                  </a:ext>
                </a:extLst>
              </p:cNvPr>
              <p:cNvCxnSpPr>
                <a:cxnSpLocks/>
              </p:cNvCxnSpPr>
              <p:nvPr/>
            </p:nvCxnSpPr>
            <p:spPr>
              <a:xfrm>
                <a:off x="1553102" y="1499729"/>
                <a:ext cx="102467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7578E134-A3F4-12C8-46D8-15A3DB0DF01B}"/>
                  </a:ext>
                </a:extLst>
              </p:cNvPr>
              <p:cNvCxnSpPr/>
              <p:nvPr/>
            </p:nvCxnSpPr>
            <p:spPr>
              <a:xfrm>
                <a:off x="2577781" y="1499729"/>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BC2DFB39-6423-F9C6-13A4-1EF646B7B91B}"/>
                  </a:ext>
                </a:extLst>
              </p:cNvPr>
              <p:cNvCxnSpPr/>
              <p:nvPr/>
            </p:nvCxnSpPr>
            <p:spPr>
              <a:xfrm>
                <a:off x="1553102" y="1499729"/>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F9CF9461-50C6-E4A0-583B-F5499CAB0222}"/>
                  </a:ext>
                </a:extLst>
              </p:cNvPr>
              <p:cNvCxnSpPr/>
              <p:nvPr/>
            </p:nvCxnSpPr>
            <p:spPr>
              <a:xfrm>
                <a:off x="2048882" y="984757"/>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19" name="Group 118">
              <a:extLst>
                <a:ext uri="{FF2B5EF4-FFF2-40B4-BE49-F238E27FC236}">
                  <a16:creationId xmlns:a16="http://schemas.microsoft.com/office/drawing/2014/main" id="{E627CC5A-988C-F3B1-E792-37A8ED2C097E}"/>
                </a:ext>
              </a:extLst>
            </p:cNvPr>
            <p:cNvGrpSpPr/>
            <p:nvPr/>
          </p:nvGrpSpPr>
          <p:grpSpPr>
            <a:xfrm>
              <a:off x="3109634" y="4171831"/>
              <a:ext cx="951812" cy="499652"/>
              <a:chOff x="1553102" y="1056165"/>
              <a:chExt cx="1024679" cy="947244"/>
            </a:xfrm>
          </p:grpSpPr>
          <p:cxnSp>
            <p:nvCxnSpPr>
              <p:cNvPr id="120" name="Straight Connector 119">
                <a:extLst>
                  <a:ext uri="{FF2B5EF4-FFF2-40B4-BE49-F238E27FC236}">
                    <a16:creationId xmlns:a16="http://schemas.microsoft.com/office/drawing/2014/main" id="{A8C8C2DE-6699-4193-9710-E93E07D28946}"/>
                  </a:ext>
                </a:extLst>
              </p:cNvPr>
              <p:cNvCxnSpPr>
                <a:cxnSpLocks/>
              </p:cNvCxnSpPr>
              <p:nvPr/>
            </p:nvCxnSpPr>
            <p:spPr>
              <a:xfrm>
                <a:off x="1553102" y="1499729"/>
                <a:ext cx="102467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4513F064-EF97-D44D-629A-3B6E4C0052C3}"/>
                  </a:ext>
                </a:extLst>
              </p:cNvPr>
              <p:cNvCxnSpPr/>
              <p:nvPr/>
            </p:nvCxnSpPr>
            <p:spPr>
              <a:xfrm>
                <a:off x="2577781" y="1499729"/>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10172721-9FCD-DA0F-420B-8CE4B7F1C035}"/>
                  </a:ext>
                </a:extLst>
              </p:cNvPr>
              <p:cNvCxnSpPr/>
              <p:nvPr/>
            </p:nvCxnSpPr>
            <p:spPr>
              <a:xfrm>
                <a:off x="1553102" y="1499729"/>
                <a:ext cx="0" cy="5036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F4AF2016-2D85-2E2D-91DD-612FE9EF5E98}"/>
                  </a:ext>
                </a:extLst>
              </p:cNvPr>
              <p:cNvCxnSpPr>
                <a:stCxn id="128" idx="2"/>
              </p:cNvCxnSpPr>
              <p:nvPr/>
            </p:nvCxnSpPr>
            <p:spPr>
              <a:xfrm>
                <a:off x="2040656" y="1056165"/>
                <a:ext cx="8226" cy="43227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27" name="TextBox 126">
              <a:extLst>
                <a:ext uri="{FF2B5EF4-FFF2-40B4-BE49-F238E27FC236}">
                  <a16:creationId xmlns:a16="http://schemas.microsoft.com/office/drawing/2014/main" id="{9736AEA6-B7EB-25F3-D499-089F830D0E82}"/>
                </a:ext>
              </a:extLst>
            </p:cNvPr>
            <p:cNvSpPr txBox="1"/>
            <p:nvPr/>
          </p:nvSpPr>
          <p:spPr>
            <a:xfrm>
              <a:off x="9368369" y="3893723"/>
              <a:ext cx="834288" cy="246221"/>
            </a:xfrm>
            <a:prstGeom prst="rect">
              <a:avLst/>
            </a:prstGeom>
            <a:noFill/>
          </p:spPr>
          <p:txBody>
            <a:bodyPr wrap="square" rtlCol="0">
              <a:spAutoFit/>
            </a:bodyPr>
            <a:lstStyle/>
            <a:p>
              <a:r>
                <a:rPr lang="en-US" sz="1000" dirty="0"/>
                <a:t>H - 910</a:t>
              </a:r>
              <a:endParaRPr lang="en-US" dirty="0"/>
            </a:p>
          </p:txBody>
        </p:sp>
        <p:sp>
          <p:nvSpPr>
            <p:cNvPr id="128" name="Rectangle 127">
              <a:extLst>
                <a:ext uri="{FF2B5EF4-FFF2-40B4-BE49-F238E27FC236}">
                  <a16:creationId xmlns:a16="http://schemas.microsoft.com/office/drawing/2014/main" id="{91BF7764-53AB-BE53-6937-1C5B364947BD}"/>
                </a:ext>
              </a:extLst>
            </p:cNvPr>
            <p:cNvSpPr/>
            <p:nvPr/>
          </p:nvSpPr>
          <p:spPr>
            <a:xfrm>
              <a:off x="3234427" y="3841494"/>
              <a:ext cx="656180" cy="3303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HH</a:t>
              </a:r>
            </a:p>
          </p:txBody>
        </p:sp>
        <p:sp>
          <p:nvSpPr>
            <p:cNvPr id="129" name="Rectangle 128">
              <a:extLst>
                <a:ext uri="{FF2B5EF4-FFF2-40B4-BE49-F238E27FC236}">
                  <a16:creationId xmlns:a16="http://schemas.microsoft.com/office/drawing/2014/main" id="{C4463B48-1CD5-002E-D115-C4F8E50EC38B}"/>
                </a:ext>
              </a:extLst>
            </p:cNvPr>
            <p:cNvSpPr/>
            <p:nvPr/>
          </p:nvSpPr>
          <p:spPr>
            <a:xfrm>
              <a:off x="9362292" y="3841787"/>
              <a:ext cx="656723" cy="2833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HH</a:t>
              </a:r>
            </a:p>
          </p:txBody>
        </p:sp>
        <p:sp>
          <p:nvSpPr>
            <p:cNvPr id="130" name="Rectangle 129">
              <a:extLst>
                <a:ext uri="{FF2B5EF4-FFF2-40B4-BE49-F238E27FC236}">
                  <a16:creationId xmlns:a16="http://schemas.microsoft.com/office/drawing/2014/main" id="{8C695676-217D-817F-0962-42B5CEABE574}"/>
                </a:ext>
              </a:extLst>
            </p:cNvPr>
            <p:cNvSpPr/>
            <p:nvPr/>
          </p:nvSpPr>
          <p:spPr>
            <a:xfrm>
              <a:off x="5312210" y="3834907"/>
              <a:ext cx="656723" cy="2833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HH</a:t>
              </a:r>
            </a:p>
          </p:txBody>
        </p:sp>
        <p:sp>
          <p:nvSpPr>
            <p:cNvPr id="131" name="Rectangle 130">
              <a:extLst>
                <a:ext uri="{FF2B5EF4-FFF2-40B4-BE49-F238E27FC236}">
                  <a16:creationId xmlns:a16="http://schemas.microsoft.com/office/drawing/2014/main" id="{63AA072E-6297-C2AE-57F7-E0E1ED689BDA}"/>
                </a:ext>
              </a:extLst>
            </p:cNvPr>
            <p:cNvSpPr/>
            <p:nvPr/>
          </p:nvSpPr>
          <p:spPr>
            <a:xfrm>
              <a:off x="7324866" y="3826523"/>
              <a:ext cx="656723" cy="2833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HH</a:t>
              </a:r>
            </a:p>
          </p:txBody>
        </p:sp>
        <p:grpSp>
          <p:nvGrpSpPr>
            <p:cNvPr id="156" name="Group 155">
              <a:extLst>
                <a:ext uri="{FF2B5EF4-FFF2-40B4-BE49-F238E27FC236}">
                  <a16:creationId xmlns:a16="http://schemas.microsoft.com/office/drawing/2014/main" id="{BCC899E6-1468-ED1C-BD70-5100B2BF92BD}"/>
                </a:ext>
              </a:extLst>
            </p:cNvPr>
            <p:cNvGrpSpPr/>
            <p:nvPr/>
          </p:nvGrpSpPr>
          <p:grpSpPr>
            <a:xfrm>
              <a:off x="1380308" y="3058605"/>
              <a:ext cx="2164894" cy="809391"/>
              <a:chOff x="1763213" y="1464120"/>
              <a:chExt cx="2164894" cy="809391"/>
            </a:xfrm>
          </p:grpSpPr>
          <p:cxnSp>
            <p:nvCxnSpPr>
              <p:cNvPr id="138" name="Straight Connector 137">
                <a:extLst>
                  <a:ext uri="{FF2B5EF4-FFF2-40B4-BE49-F238E27FC236}">
                    <a16:creationId xmlns:a16="http://schemas.microsoft.com/office/drawing/2014/main" id="{E12494AB-8FB9-7AB9-0CA3-9A38C3780D64}"/>
                  </a:ext>
                </a:extLst>
              </p:cNvPr>
              <p:cNvCxnSpPr>
                <a:cxnSpLocks/>
              </p:cNvCxnSpPr>
              <p:nvPr/>
            </p:nvCxnSpPr>
            <p:spPr>
              <a:xfrm>
                <a:off x="1763213" y="2013484"/>
                <a:ext cx="216489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530D5449-932B-4A1D-5BD3-E8644C0FE5AA}"/>
                  </a:ext>
                </a:extLst>
              </p:cNvPr>
              <p:cNvCxnSpPr>
                <a:cxnSpLocks/>
              </p:cNvCxnSpPr>
              <p:nvPr/>
            </p:nvCxnSpPr>
            <p:spPr>
              <a:xfrm>
                <a:off x="3917858" y="2007830"/>
                <a:ext cx="0" cy="239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E7155FD9-56FD-684B-53DC-FF78FA5D6341}"/>
                  </a:ext>
                </a:extLst>
              </p:cNvPr>
              <p:cNvCxnSpPr>
                <a:cxnSpLocks/>
              </p:cNvCxnSpPr>
              <p:nvPr/>
            </p:nvCxnSpPr>
            <p:spPr>
              <a:xfrm>
                <a:off x="1763213" y="2007830"/>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1" name="Straight Connector 140">
                <a:extLst>
                  <a:ext uri="{FF2B5EF4-FFF2-40B4-BE49-F238E27FC236}">
                    <a16:creationId xmlns:a16="http://schemas.microsoft.com/office/drawing/2014/main" id="{AEA50ADA-D950-85D8-16D4-8264A8E77E41}"/>
                  </a:ext>
                </a:extLst>
              </p:cNvPr>
              <p:cNvCxnSpPr>
                <a:cxnSpLocks/>
              </p:cNvCxnSpPr>
              <p:nvPr/>
            </p:nvCxnSpPr>
            <p:spPr>
              <a:xfrm>
                <a:off x="2790754" y="1756257"/>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6" name="TextBox 135">
                <a:extLst>
                  <a:ext uri="{FF2B5EF4-FFF2-40B4-BE49-F238E27FC236}">
                    <a16:creationId xmlns:a16="http://schemas.microsoft.com/office/drawing/2014/main" id="{4C5C7F6F-F055-D331-5F0D-879860B55C6E}"/>
                  </a:ext>
                </a:extLst>
              </p:cNvPr>
              <p:cNvSpPr txBox="1"/>
              <p:nvPr/>
            </p:nvSpPr>
            <p:spPr>
              <a:xfrm>
                <a:off x="2429653" y="1492919"/>
                <a:ext cx="882967" cy="246221"/>
              </a:xfrm>
              <a:prstGeom prst="rect">
                <a:avLst/>
              </a:prstGeom>
              <a:noFill/>
            </p:spPr>
            <p:txBody>
              <a:bodyPr wrap="square" rtlCol="0">
                <a:spAutoFit/>
              </a:bodyPr>
              <a:lstStyle/>
              <a:p>
                <a:r>
                  <a:rPr lang="en-US" sz="1000" dirty="0"/>
                  <a:t>H – 12 34</a:t>
                </a:r>
                <a:endParaRPr lang="en-US" dirty="0"/>
              </a:p>
            </p:txBody>
          </p:sp>
          <p:sp>
            <p:nvSpPr>
              <p:cNvPr id="137" name="Rectangle 136">
                <a:extLst>
                  <a:ext uri="{FF2B5EF4-FFF2-40B4-BE49-F238E27FC236}">
                    <a16:creationId xmlns:a16="http://schemas.microsoft.com/office/drawing/2014/main" id="{EDA4C97D-29D9-E637-CE7A-2F0D16B31A92}"/>
                  </a:ext>
                </a:extLst>
              </p:cNvPr>
              <p:cNvSpPr/>
              <p:nvPr/>
            </p:nvSpPr>
            <p:spPr>
              <a:xfrm>
                <a:off x="2444483" y="1464120"/>
                <a:ext cx="656723" cy="2833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7" name="Group 156">
              <a:extLst>
                <a:ext uri="{FF2B5EF4-FFF2-40B4-BE49-F238E27FC236}">
                  <a16:creationId xmlns:a16="http://schemas.microsoft.com/office/drawing/2014/main" id="{14B1DCEC-499E-E400-B602-A5A49D10EBE5}"/>
                </a:ext>
              </a:extLst>
            </p:cNvPr>
            <p:cNvGrpSpPr/>
            <p:nvPr/>
          </p:nvGrpSpPr>
          <p:grpSpPr>
            <a:xfrm>
              <a:off x="5596782" y="3031667"/>
              <a:ext cx="2164894" cy="809391"/>
              <a:chOff x="1763213" y="1464120"/>
              <a:chExt cx="2164894" cy="809391"/>
            </a:xfrm>
          </p:grpSpPr>
          <p:cxnSp>
            <p:nvCxnSpPr>
              <p:cNvPr id="158" name="Straight Connector 157">
                <a:extLst>
                  <a:ext uri="{FF2B5EF4-FFF2-40B4-BE49-F238E27FC236}">
                    <a16:creationId xmlns:a16="http://schemas.microsoft.com/office/drawing/2014/main" id="{984191DB-D9CA-E75E-A0F2-82017308EAF0}"/>
                  </a:ext>
                </a:extLst>
              </p:cNvPr>
              <p:cNvCxnSpPr>
                <a:cxnSpLocks/>
              </p:cNvCxnSpPr>
              <p:nvPr/>
            </p:nvCxnSpPr>
            <p:spPr>
              <a:xfrm>
                <a:off x="1763213" y="2013484"/>
                <a:ext cx="216489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E4725670-4537-D498-01C3-0BDDA8F3B7BC}"/>
                  </a:ext>
                </a:extLst>
              </p:cNvPr>
              <p:cNvCxnSpPr>
                <a:cxnSpLocks/>
              </p:cNvCxnSpPr>
              <p:nvPr/>
            </p:nvCxnSpPr>
            <p:spPr>
              <a:xfrm>
                <a:off x="3917858" y="2007830"/>
                <a:ext cx="0" cy="239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30AA040C-A08F-8FA6-853B-7E6090F91A71}"/>
                  </a:ext>
                </a:extLst>
              </p:cNvPr>
              <p:cNvCxnSpPr>
                <a:cxnSpLocks/>
              </p:cNvCxnSpPr>
              <p:nvPr/>
            </p:nvCxnSpPr>
            <p:spPr>
              <a:xfrm>
                <a:off x="1763213" y="2007830"/>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1855BA26-0C9A-95CC-8EA6-B7DCFDAEF48B}"/>
                  </a:ext>
                </a:extLst>
              </p:cNvPr>
              <p:cNvCxnSpPr>
                <a:cxnSpLocks/>
              </p:cNvCxnSpPr>
              <p:nvPr/>
            </p:nvCxnSpPr>
            <p:spPr>
              <a:xfrm>
                <a:off x="2790754" y="1756257"/>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C1CB5B83-0D13-FC9A-15B0-6FC693633458}"/>
                  </a:ext>
                </a:extLst>
              </p:cNvPr>
              <p:cNvSpPr txBox="1"/>
              <p:nvPr/>
            </p:nvSpPr>
            <p:spPr>
              <a:xfrm>
                <a:off x="2516938" y="1510036"/>
                <a:ext cx="755284" cy="246221"/>
              </a:xfrm>
              <a:prstGeom prst="rect">
                <a:avLst/>
              </a:prstGeom>
              <a:noFill/>
            </p:spPr>
            <p:txBody>
              <a:bodyPr wrap="square" rtlCol="0">
                <a:spAutoFit/>
              </a:bodyPr>
              <a:lstStyle/>
              <a:p>
                <a:r>
                  <a:rPr lang="en-US" sz="1000" dirty="0"/>
                  <a:t>H - 5678</a:t>
                </a:r>
                <a:endParaRPr lang="en-US" dirty="0"/>
              </a:p>
            </p:txBody>
          </p:sp>
          <p:sp>
            <p:nvSpPr>
              <p:cNvPr id="163" name="Rectangle 162">
                <a:extLst>
                  <a:ext uri="{FF2B5EF4-FFF2-40B4-BE49-F238E27FC236}">
                    <a16:creationId xmlns:a16="http://schemas.microsoft.com/office/drawing/2014/main" id="{9CC6CE74-F00F-74D0-47FA-4B9F0973067A}"/>
                  </a:ext>
                </a:extLst>
              </p:cNvPr>
              <p:cNvSpPr/>
              <p:nvPr/>
            </p:nvSpPr>
            <p:spPr>
              <a:xfrm>
                <a:off x="2444483" y="1464120"/>
                <a:ext cx="656723" cy="2833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4" name="Group 163">
              <a:extLst>
                <a:ext uri="{FF2B5EF4-FFF2-40B4-BE49-F238E27FC236}">
                  <a16:creationId xmlns:a16="http://schemas.microsoft.com/office/drawing/2014/main" id="{897F99A9-5359-C0CB-588F-43AD4F9DC5B7}"/>
                </a:ext>
              </a:extLst>
            </p:cNvPr>
            <p:cNvGrpSpPr/>
            <p:nvPr/>
          </p:nvGrpSpPr>
          <p:grpSpPr>
            <a:xfrm>
              <a:off x="9609619" y="3042040"/>
              <a:ext cx="2164894" cy="809391"/>
              <a:chOff x="1763213" y="1464120"/>
              <a:chExt cx="2164894" cy="809391"/>
            </a:xfrm>
          </p:grpSpPr>
          <p:cxnSp>
            <p:nvCxnSpPr>
              <p:cNvPr id="165" name="Straight Connector 164">
                <a:extLst>
                  <a:ext uri="{FF2B5EF4-FFF2-40B4-BE49-F238E27FC236}">
                    <a16:creationId xmlns:a16="http://schemas.microsoft.com/office/drawing/2014/main" id="{5A9684E9-D1D1-41C9-F875-8DA5DCC44DF8}"/>
                  </a:ext>
                </a:extLst>
              </p:cNvPr>
              <p:cNvCxnSpPr>
                <a:cxnSpLocks/>
              </p:cNvCxnSpPr>
              <p:nvPr/>
            </p:nvCxnSpPr>
            <p:spPr>
              <a:xfrm>
                <a:off x="1763213" y="2013484"/>
                <a:ext cx="216489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B58C395B-65EE-363F-C2DE-C70B683D5BC0}"/>
                  </a:ext>
                </a:extLst>
              </p:cNvPr>
              <p:cNvCxnSpPr>
                <a:cxnSpLocks/>
              </p:cNvCxnSpPr>
              <p:nvPr/>
            </p:nvCxnSpPr>
            <p:spPr>
              <a:xfrm>
                <a:off x="3917858" y="2007830"/>
                <a:ext cx="0" cy="239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77117905-AF18-A411-AF6C-CF165F31B552}"/>
                  </a:ext>
                </a:extLst>
              </p:cNvPr>
              <p:cNvCxnSpPr>
                <a:cxnSpLocks/>
              </p:cNvCxnSpPr>
              <p:nvPr/>
            </p:nvCxnSpPr>
            <p:spPr>
              <a:xfrm>
                <a:off x="1763213" y="2007830"/>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Straight Connector 167">
                <a:extLst>
                  <a:ext uri="{FF2B5EF4-FFF2-40B4-BE49-F238E27FC236}">
                    <a16:creationId xmlns:a16="http://schemas.microsoft.com/office/drawing/2014/main" id="{949D69CD-55BD-FA9A-6829-D7121D9FCDAF}"/>
                  </a:ext>
                </a:extLst>
              </p:cNvPr>
              <p:cNvCxnSpPr>
                <a:cxnSpLocks/>
              </p:cNvCxnSpPr>
              <p:nvPr/>
            </p:nvCxnSpPr>
            <p:spPr>
              <a:xfrm>
                <a:off x="2790754" y="1756257"/>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69" name="TextBox 168">
                <a:extLst>
                  <a:ext uri="{FF2B5EF4-FFF2-40B4-BE49-F238E27FC236}">
                    <a16:creationId xmlns:a16="http://schemas.microsoft.com/office/drawing/2014/main" id="{883A4047-70E0-4690-5F5E-8D9843CEF571}"/>
                  </a:ext>
                </a:extLst>
              </p:cNvPr>
              <p:cNvSpPr txBox="1"/>
              <p:nvPr/>
            </p:nvSpPr>
            <p:spPr>
              <a:xfrm>
                <a:off x="2405909" y="1465553"/>
                <a:ext cx="1178140" cy="246221"/>
              </a:xfrm>
              <a:prstGeom prst="rect">
                <a:avLst/>
              </a:prstGeom>
              <a:noFill/>
            </p:spPr>
            <p:txBody>
              <a:bodyPr wrap="square" rtlCol="0">
                <a:spAutoFit/>
              </a:bodyPr>
              <a:lstStyle/>
              <a:p>
                <a:r>
                  <a:rPr lang="en-US" sz="1000" dirty="0"/>
                  <a:t>H - 910910</a:t>
                </a:r>
                <a:endParaRPr lang="en-US" dirty="0"/>
              </a:p>
            </p:txBody>
          </p:sp>
          <p:sp>
            <p:nvSpPr>
              <p:cNvPr id="170" name="Rectangle 169">
                <a:extLst>
                  <a:ext uri="{FF2B5EF4-FFF2-40B4-BE49-F238E27FC236}">
                    <a16:creationId xmlns:a16="http://schemas.microsoft.com/office/drawing/2014/main" id="{70A7586F-0F6B-96B2-658B-067F37A94CB5}"/>
                  </a:ext>
                </a:extLst>
              </p:cNvPr>
              <p:cNvSpPr/>
              <p:nvPr/>
            </p:nvSpPr>
            <p:spPr>
              <a:xfrm>
                <a:off x="2444483" y="1464120"/>
                <a:ext cx="656723" cy="2833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2" name="Rectangle 171">
              <a:extLst>
                <a:ext uri="{FF2B5EF4-FFF2-40B4-BE49-F238E27FC236}">
                  <a16:creationId xmlns:a16="http://schemas.microsoft.com/office/drawing/2014/main" id="{8BD28F8A-A09F-6D47-B9A0-D1DB1BC2BD55}"/>
                </a:ext>
              </a:extLst>
            </p:cNvPr>
            <p:cNvSpPr/>
            <p:nvPr/>
          </p:nvSpPr>
          <p:spPr>
            <a:xfrm>
              <a:off x="11117790" y="3809008"/>
              <a:ext cx="656723" cy="2833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HH</a:t>
              </a:r>
            </a:p>
          </p:txBody>
        </p:sp>
        <p:sp>
          <p:nvSpPr>
            <p:cNvPr id="173" name="TextBox 172">
              <a:extLst>
                <a:ext uri="{FF2B5EF4-FFF2-40B4-BE49-F238E27FC236}">
                  <a16:creationId xmlns:a16="http://schemas.microsoft.com/office/drawing/2014/main" id="{9CB564F5-CD01-1334-8EED-ACB564865244}"/>
                </a:ext>
              </a:extLst>
            </p:cNvPr>
            <p:cNvSpPr txBox="1"/>
            <p:nvPr/>
          </p:nvSpPr>
          <p:spPr>
            <a:xfrm>
              <a:off x="11169335" y="3831309"/>
              <a:ext cx="656723" cy="246221"/>
            </a:xfrm>
            <a:prstGeom prst="rect">
              <a:avLst/>
            </a:prstGeom>
            <a:noFill/>
          </p:spPr>
          <p:txBody>
            <a:bodyPr wrap="square" rtlCol="0">
              <a:spAutoFit/>
            </a:bodyPr>
            <a:lstStyle/>
            <a:p>
              <a:r>
                <a:rPr lang="en-US" sz="1000" dirty="0"/>
                <a:t>H - 910</a:t>
              </a:r>
              <a:endParaRPr lang="en-US" dirty="0"/>
            </a:p>
          </p:txBody>
        </p:sp>
        <p:cxnSp>
          <p:nvCxnSpPr>
            <p:cNvPr id="182" name="Straight Connector 181">
              <a:extLst>
                <a:ext uri="{FF2B5EF4-FFF2-40B4-BE49-F238E27FC236}">
                  <a16:creationId xmlns:a16="http://schemas.microsoft.com/office/drawing/2014/main" id="{EFB65E0E-658F-B774-A54F-B894550AC5C8}"/>
                </a:ext>
              </a:extLst>
            </p:cNvPr>
            <p:cNvCxnSpPr>
              <a:cxnSpLocks/>
            </p:cNvCxnSpPr>
            <p:nvPr/>
          </p:nvCxnSpPr>
          <p:spPr>
            <a:xfrm>
              <a:off x="2391837" y="2783781"/>
              <a:ext cx="419583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3" name="Straight Connector 182">
              <a:extLst>
                <a:ext uri="{FF2B5EF4-FFF2-40B4-BE49-F238E27FC236}">
                  <a16:creationId xmlns:a16="http://schemas.microsoft.com/office/drawing/2014/main" id="{03D2FD5B-2365-26A0-1255-C69F8773F0CB}"/>
                </a:ext>
              </a:extLst>
            </p:cNvPr>
            <p:cNvCxnSpPr>
              <a:cxnSpLocks/>
            </p:cNvCxnSpPr>
            <p:nvPr/>
          </p:nvCxnSpPr>
          <p:spPr>
            <a:xfrm>
              <a:off x="6587669" y="2783781"/>
              <a:ext cx="0" cy="239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4" name="Straight Connector 183">
              <a:extLst>
                <a:ext uri="{FF2B5EF4-FFF2-40B4-BE49-F238E27FC236}">
                  <a16:creationId xmlns:a16="http://schemas.microsoft.com/office/drawing/2014/main" id="{3CBC4F9C-1256-5659-300D-868452C6CC27}"/>
                </a:ext>
              </a:extLst>
            </p:cNvPr>
            <p:cNvCxnSpPr>
              <a:cxnSpLocks/>
            </p:cNvCxnSpPr>
            <p:nvPr/>
          </p:nvCxnSpPr>
          <p:spPr>
            <a:xfrm>
              <a:off x="2391837" y="2788545"/>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Straight Connector 184">
              <a:extLst>
                <a:ext uri="{FF2B5EF4-FFF2-40B4-BE49-F238E27FC236}">
                  <a16:creationId xmlns:a16="http://schemas.microsoft.com/office/drawing/2014/main" id="{4FEDDFD0-F998-75CD-4FD6-BF82D3CAF068}"/>
                </a:ext>
              </a:extLst>
            </p:cNvPr>
            <p:cNvCxnSpPr>
              <a:cxnSpLocks/>
            </p:cNvCxnSpPr>
            <p:nvPr/>
          </p:nvCxnSpPr>
          <p:spPr>
            <a:xfrm>
              <a:off x="4390199" y="2518100"/>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86" name="TextBox 185">
              <a:extLst>
                <a:ext uri="{FF2B5EF4-FFF2-40B4-BE49-F238E27FC236}">
                  <a16:creationId xmlns:a16="http://schemas.microsoft.com/office/drawing/2014/main" id="{AE6C548F-9E29-37C4-495C-9BCF52CFDF53}"/>
                </a:ext>
              </a:extLst>
            </p:cNvPr>
            <p:cNvSpPr txBox="1"/>
            <p:nvPr/>
          </p:nvSpPr>
          <p:spPr>
            <a:xfrm>
              <a:off x="4048269" y="2180598"/>
              <a:ext cx="882967" cy="400110"/>
            </a:xfrm>
            <a:prstGeom prst="rect">
              <a:avLst/>
            </a:prstGeom>
            <a:noFill/>
          </p:spPr>
          <p:txBody>
            <a:bodyPr wrap="square" rtlCol="0">
              <a:spAutoFit/>
            </a:bodyPr>
            <a:lstStyle/>
            <a:p>
              <a:r>
                <a:rPr lang="en-US" sz="1000" dirty="0"/>
                <a:t>H – 12 34</a:t>
              </a:r>
            </a:p>
            <a:p>
              <a:r>
                <a:rPr lang="en-US" sz="1000" dirty="0"/>
                <a:t>        5678</a:t>
              </a:r>
              <a:endParaRPr lang="en-US" dirty="0"/>
            </a:p>
          </p:txBody>
        </p:sp>
        <p:sp>
          <p:nvSpPr>
            <p:cNvPr id="187" name="Rectangle 186">
              <a:extLst>
                <a:ext uri="{FF2B5EF4-FFF2-40B4-BE49-F238E27FC236}">
                  <a16:creationId xmlns:a16="http://schemas.microsoft.com/office/drawing/2014/main" id="{15018F4B-BC0F-2AFE-86A7-C82768B4775E}"/>
                </a:ext>
              </a:extLst>
            </p:cNvPr>
            <p:cNvSpPr/>
            <p:nvPr/>
          </p:nvSpPr>
          <p:spPr>
            <a:xfrm>
              <a:off x="4091993" y="2204630"/>
              <a:ext cx="692187" cy="319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Rectangle 187">
              <a:extLst>
                <a:ext uri="{FF2B5EF4-FFF2-40B4-BE49-F238E27FC236}">
                  <a16:creationId xmlns:a16="http://schemas.microsoft.com/office/drawing/2014/main" id="{09994CDF-DB42-D1CF-6D04-54491EDC3811}"/>
                </a:ext>
              </a:extLst>
            </p:cNvPr>
            <p:cNvSpPr/>
            <p:nvPr/>
          </p:nvSpPr>
          <p:spPr>
            <a:xfrm>
              <a:off x="10992147" y="3054226"/>
              <a:ext cx="656723" cy="2833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9" name="TextBox 188">
              <a:extLst>
                <a:ext uri="{FF2B5EF4-FFF2-40B4-BE49-F238E27FC236}">
                  <a16:creationId xmlns:a16="http://schemas.microsoft.com/office/drawing/2014/main" id="{B0CA831B-E54E-233B-31E1-2E9F3A14C2C5}"/>
                </a:ext>
              </a:extLst>
            </p:cNvPr>
            <p:cNvSpPr txBox="1"/>
            <p:nvPr/>
          </p:nvSpPr>
          <p:spPr>
            <a:xfrm>
              <a:off x="10923683" y="3054226"/>
              <a:ext cx="822068" cy="246221"/>
            </a:xfrm>
            <a:prstGeom prst="rect">
              <a:avLst/>
            </a:prstGeom>
            <a:noFill/>
          </p:spPr>
          <p:txBody>
            <a:bodyPr wrap="square" rtlCol="0">
              <a:spAutoFit/>
            </a:bodyPr>
            <a:lstStyle/>
            <a:p>
              <a:r>
                <a:rPr lang="en-US" sz="1000" dirty="0"/>
                <a:t>H - 910910</a:t>
              </a:r>
              <a:endParaRPr lang="en-US" dirty="0"/>
            </a:p>
          </p:txBody>
        </p:sp>
        <p:cxnSp>
          <p:nvCxnSpPr>
            <p:cNvPr id="193" name="Straight Connector 192">
              <a:extLst>
                <a:ext uri="{FF2B5EF4-FFF2-40B4-BE49-F238E27FC236}">
                  <a16:creationId xmlns:a16="http://schemas.microsoft.com/office/drawing/2014/main" id="{A4BC273F-6066-2B0D-E3DE-A93D849BA2C7}"/>
                </a:ext>
              </a:extLst>
            </p:cNvPr>
            <p:cNvCxnSpPr>
              <a:cxnSpLocks/>
            </p:cNvCxnSpPr>
            <p:nvPr/>
          </p:nvCxnSpPr>
          <p:spPr>
            <a:xfrm>
              <a:off x="10602068" y="2783781"/>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4" name="Straight Connector 193">
              <a:extLst>
                <a:ext uri="{FF2B5EF4-FFF2-40B4-BE49-F238E27FC236}">
                  <a16:creationId xmlns:a16="http://schemas.microsoft.com/office/drawing/2014/main" id="{B109DCF2-C6FD-617D-AC70-8E5AE699A2B6}"/>
                </a:ext>
              </a:extLst>
            </p:cNvPr>
            <p:cNvCxnSpPr>
              <a:cxnSpLocks/>
            </p:cNvCxnSpPr>
            <p:nvPr/>
          </p:nvCxnSpPr>
          <p:spPr>
            <a:xfrm>
              <a:off x="11341873" y="2788545"/>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5" name="Straight Connector 194">
              <a:extLst>
                <a:ext uri="{FF2B5EF4-FFF2-40B4-BE49-F238E27FC236}">
                  <a16:creationId xmlns:a16="http://schemas.microsoft.com/office/drawing/2014/main" id="{4B33C1D8-20E7-7FD2-71B4-E828E13A7C5E}"/>
                </a:ext>
              </a:extLst>
            </p:cNvPr>
            <p:cNvCxnSpPr>
              <a:cxnSpLocks/>
            </p:cNvCxnSpPr>
            <p:nvPr/>
          </p:nvCxnSpPr>
          <p:spPr>
            <a:xfrm>
              <a:off x="10602068" y="2783781"/>
              <a:ext cx="73980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8" name="Straight Connector 197">
              <a:extLst>
                <a:ext uri="{FF2B5EF4-FFF2-40B4-BE49-F238E27FC236}">
                  <a16:creationId xmlns:a16="http://schemas.microsoft.com/office/drawing/2014/main" id="{E022A9D0-5CB9-3F0F-3703-4543C012C605}"/>
                </a:ext>
              </a:extLst>
            </p:cNvPr>
            <p:cNvCxnSpPr>
              <a:cxnSpLocks/>
            </p:cNvCxnSpPr>
            <p:nvPr/>
          </p:nvCxnSpPr>
          <p:spPr>
            <a:xfrm>
              <a:off x="10993583" y="2505965"/>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1" name="Rectangle 200">
              <a:extLst>
                <a:ext uri="{FF2B5EF4-FFF2-40B4-BE49-F238E27FC236}">
                  <a16:creationId xmlns:a16="http://schemas.microsoft.com/office/drawing/2014/main" id="{0ADE8F48-FE66-6266-647C-B712C0286410}"/>
                </a:ext>
              </a:extLst>
            </p:cNvPr>
            <p:cNvSpPr/>
            <p:nvPr/>
          </p:nvSpPr>
          <p:spPr>
            <a:xfrm>
              <a:off x="10602068" y="2198252"/>
              <a:ext cx="692187" cy="319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TextBox 201">
              <a:extLst>
                <a:ext uri="{FF2B5EF4-FFF2-40B4-BE49-F238E27FC236}">
                  <a16:creationId xmlns:a16="http://schemas.microsoft.com/office/drawing/2014/main" id="{38750319-A7A4-B8E7-4631-CC150100E6CB}"/>
                </a:ext>
              </a:extLst>
            </p:cNvPr>
            <p:cNvSpPr txBox="1"/>
            <p:nvPr/>
          </p:nvSpPr>
          <p:spPr>
            <a:xfrm>
              <a:off x="10530486" y="2158557"/>
              <a:ext cx="882967" cy="400110"/>
            </a:xfrm>
            <a:prstGeom prst="rect">
              <a:avLst/>
            </a:prstGeom>
            <a:noFill/>
          </p:spPr>
          <p:txBody>
            <a:bodyPr wrap="square" rtlCol="0">
              <a:spAutoFit/>
            </a:bodyPr>
            <a:lstStyle/>
            <a:p>
              <a:r>
                <a:rPr lang="en-US" sz="1000" dirty="0"/>
                <a:t>H – 910910</a:t>
              </a:r>
            </a:p>
            <a:p>
              <a:r>
                <a:rPr lang="en-US" sz="1000" dirty="0"/>
                <a:t>        910910</a:t>
              </a:r>
              <a:endParaRPr lang="en-US" dirty="0"/>
            </a:p>
          </p:txBody>
        </p:sp>
        <p:sp>
          <p:nvSpPr>
            <p:cNvPr id="205" name="Rectangle 204">
              <a:extLst>
                <a:ext uri="{FF2B5EF4-FFF2-40B4-BE49-F238E27FC236}">
                  <a16:creationId xmlns:a16="http://schemas.microsoft.com/office/drawing/2014/main" id="{D2C2464D-EE70-2703-A04A-39AD830FFDEC}"/>
                </a:ext>
              </a:extLst>
            </p:cNvPr>
            <p:cNvSpPr/>
            <p:nvPr/>
          </p:nvSpPr>
          <p:spPr>
            <a:xfrm>
              <a:off x="7230796" y="1120665"/>
              <a:ext cx="1561766" cy="5664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6" name="Straight Connector 205">
              <a:extLst>
                <a:ext uri="{FF2B5EF4-FFF2-40B4-BE49-F238E27FC236}">
                  <a16:creationId xmlns:a16="http://schemas.microsoft.com/office/drawing/2014/main" id="{7DD5986E-EE32-9DFF-5467-9ECFD341FAFB}"/>
                </a:ext>
              </a:extLst>
            </p:cNvPr>
            <p:cNvCxnSpPr>
              <a:cxnSpLocks/>
            </p:cNvCxnSpPr>
            <p:nvPr/>
          </p:nvCxnSpPr>
          <p:spPr>
            <a:xfrm flipV="1">
              <a:off x="4390199" y="1945432"/>
              <a:ext cx="6487234" cy="737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7" name="Straight Connector 206">
              <a:extLst>
                <a:ext uri="{FF2B5EF4-FFF2-40B4-BE49-F238E27FC236}">
                  <a16:creationId xmlns:a16="http://schemas.microsoft.com/office/drawing/2014/main" id="{6353390A-C499-C4F1-4124-957996E983A4}"/>
                </a:ext>
              </a:extLst>
            </p:cNvPr>
            <p:cNvCxnSpPr>
              <a:cxnSpLocks/>
            </p:cNvCxnSpPr>
            <p:nvPr/>
          </p:nvCxnSpPr>
          <p:spPr>
            <a:xfrm>
              <a:off x="10877433" y="1938949"/>
              <a:ext cx="0" cy="239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8" name="Straight Connector 207">
              <a:extLst>
                <a:ext uri="{FF2B5EF4-FFF2-40B4-BE49-F238E27FC236}">
                  <a16:creationId xmlns:a16="http://schemas.microsoft.com/office/drawing/2014/main" id="{2670D34B-5A10-26DA-5BC0-6E8806643B5E}"/>
                </a:ext>
              </a:extLst>
            </p:cNvPr>
            <p:cNvCxnSpPr>
              <a:cxnSpLocks/>
            </p:cNvCxnSpPr>
            <p:nvPr/>
          </p:nvCxnSpPr>
          <p:spPr>
            <a:xfrm>
              <a:off x="4394307" y="1938949"/>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9" name="Straight Connector 208">
              <a:extLst>
                <a:ext uri="{FF2B5EF4-FFF2-40B4-BE49-F238E27FC236}">
                  <a16:creationId xmlns:a16="http://schemas.microsoft.com/office/drawing/2014/main" id="{A96302A9-AEEE-2362-9E35-BC7817FE5EF6}"/>
                </a:ext>
              </a:extLst>
            </p:cNvPr>
            <p:cNvCxnSpPr>
              <a:cxnSpLocks/>
            </p:cNvCxnSpPr>
            <p:nvPr/>
          </p:nvCxnSpPr>
          <p:spPr>
            <a:xfrm>
              <a:off x="8011679" y="1687122"/>
              <a:ext cx="0" cy="2656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24" name="TextBox 223">
              <a:extLst>
                <a:ext uri="{FF2B5EF4-FFF2-40B4-BE49-F238E27FC236}">
                  <a16:creationId xmlns:a16="http://schemas.microsoft.com/office/drawing/2014/main" id="{9D876D24-9728-A16D-B032-95C75D52656C}"/>
                </a:ext>
              </a:extLst>
            </p:cNvPr>
            <p:cNvSpPr txBox="1"/>
            <p:nvPr/>
          </p:nvSpPr>
          <p:spPr>
            <a:xfrm>
              <a:off x="7324866" y="1157857"/>
              <a:ext cx="1462470" cy="400110"/>
            </a:xfrm>
            <a:prstGeom prst="rect">
              <a:avLst/>
            </a:prstGeom>
            <a:noFill/>
          </p:spPr>
          <p:txBody>
            <a:bodyPr wrap="square" rtlCol="0">
              <a:spAutoFit/>
            </a:bodyPr>
            <a:lstStyle/>
            <a:p>
              <a:r>
                <a:rPr lang="en-US" sz="1000" dirty="0"/>
                <a:t>H – 12 34 5678 </a:t>
              </a:r>
            </a:p>
            <a:p>
              <a:r>
                <a:rPr lang="en-US" sz="1000" dirty="0"/>
                <a:t>         910910910910</a:t>
              </a:r>
              <a:endParaRPr lang="en-US" dirty="0"/>
            </a:p>
          </p:txBody>
        </p:sp>
      </p:grpSp>
      <p:sp>
        <p:nvSpPr>
          <p:cNvPr id="226" name="Title 1">
            <a:extLst>
              <a:ext uri="{FF2B5EF4-FFF2-40B4-BE49-F238E27FC236}">
                <a16:creationId xmlns:a16="http://schemas.microsoft.com/office/drawing/2014/main" id="{E9E0791A-092C-1155-C411-3E2FFC1A26A2}"/>
              </a:ext>
            </a:extLst>
          </p:cNvPr>
          <p:cNvSpPr>
            <a:spLocks noGrp="1"/>
          </p:cNvSpPr>
          <p:nvPr>
            <p:ph type="ctrTitle"/>
          </p:nvPr>
        </p:nvSpPr>
        <p:spPr>
          <a:xfrm>
            <a:off x="1982497" y="146152"/>
            <a:ext cx="9144000" cy="710986"/>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Merkle Tree</a:t>
            </a:r>
          </a:p>
        </p:txBody>
      </p:sp>
    </p:spTree>
    <p:extLst>
      <p:ext uri="{BB962C8B-B14F-4D97-AF65-F5344CB8AC3E}">
        <p14:creationId xmlns:p14="http://schemas.microsoft.com/office/powerpoint/2010/main" val="1717733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6390-C9FD-C3C0-B92D-7D7BEAD790C4}"/>
              </a:ext>
            </a:extLst>
          </p:cNvPr>
          <p:cNvSpPr>
            <a:spLocks noGrp="1"/>
          </p:cNvSpPr>
          <p:nvPr>
            <p:ph type="ctrTitle"/>
          </p:nvPr>
        </p:nvSpPr>
        <p:spPr>
          <a:xfrm>
            <a:off x="1428466" y="585551"/>
            <a:ext cx="9144000" cy="710986"/>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Blockchain</a:t>
            </a:r>
          </a:p>
        </p:txBody>
      </p:sp>
      <p:sp>
        <p:nvSpPr>
          <p:cNvPr id="3" name="Subtitle 2">
            <a:extLst>
              <a:ext uri="{FF2B5EF4-FFF2-40B4-BE49-F238E27FC236}">
                <a16:creationId xmlns:a16="http://schemas.microsoft.com/office/drawing/2014/main" id="{1D6BF89E-4070-134E-5595-B675DF6F5795}"/>
              </a:ext>
            </a:extLst>
          </p:cNvPr>
          <p:cNvSpPr>
            <a:spLocks noGrp="1"/>
          </p:cNvSpPr>
          <p:nvPr>
            <p:ph type="subTitle" idx="1"/>
          </p:nvPr>
        </p:nvSpPr>
        <p:spPr>
          <a:xfrm>
            <a:off x="1428466" y="1560307"/>
            <a:ext cx="9311535" cy="4946002"/>
          </a:xfrm>
        </p:spPr>
        <p:txBody>
          <a:bodyPr>
            <a:normAutofit fontScale="32500" lnSpcReduction="20000"/>
          </a:bodyPr>
          <a:lstStyle/>
          <a:p>
            <a:pPr algn="l"/>
            <a:r>
              <a:rPr lang="en-US" sz="8600" dirty="0">
                <a:latin typeface="Calibri" panose="020F0502020204030204" pitchFamily="34" charset="0"/>
                <a:cs typeface="Calibri" panose="020F0502020204030204" pitchFamily="34" charset="0"/>
              </a:rPr>
              <a:t>Each block needs to have </a:t>
            </a:r>
          </a:p>
          <a:p>
            <a:pPr algn="l"/>
            <a:r>
              <a:rPr lang="en-US" sz="8600" u="sng" dirty="0">
                <a:latin typeface="Calibri" panose="020F0502020204030204" pitchFamily="34" charset="0"/>
                <a:cs typeface="Calibri" panose="020F0502020204030204" pitchFamily="34" charset="0"/>
              </a:rPr>
              <a:t>from,</a:t>
            </a:r>
            <a:r>
              <a:rPr lang="en-US" sz="8600" dirty="0">
                <a:latin typeface="Calibri" panose="020F0502020204030204" pitchFamily="34" charset="0"/>
                <a:cs typeface="Calibri" panose="020F0502020204030204" pitchFamily="34" charset="0"/>
              </a:rPr>
              <a:t> </a:t>
            </a:r>
            <a:r>
              <a:rPr lang="en-US" sz="8600" u="sng" dirty="0">
                <a:latin typeface="Calibri" panose="020F0502020204030204" pitchFamily="34" charset="0"/>
                <a:cs typeface="Calibri" panose="020F0502020204030204" pitchFamily="34" charset="0"/>
              </a:rPr>
              <a:t>to</a:t>
            </a:r>
            <a:r>
              <a:rPr lang="en-US" sz="8600" dirty="0">
                <a:latin typeface="Calibri" panose="020F0502020204030204" pitchFamily="34" charset="0"/>
                <a:cs typeface="Calibri" panose="020F0502020204030204" pitchFamily="34" charset="0"/>
              </a:rPr>
              <a:t> and </a:t>
            </a:r>
            <a:r>
              <a:rPr lang="en-US" sz="8600" u="sng" dirty="0">
                <a:latin typeface="Calibri" panose="020F0502020204030204" pitchFamily="34" charset="0"/>
                <a:cs typeface="Calibri" panose="020F0502020204030204" pitchFamily="34" charset="0"/>
              </a:rPr>
              <a:t>a block header</a:t>
            </a:r>
          </a:p>
          <a:p>
            <a:pPr algn="l"/>
            <a:r>
              <a:rPr lang="en-US" sz="8600" dirty="0">
                <a:latin typeface="Calibri" panose="020F0502020204030204" pitchFamily="34" charset="0"/>
                <a:cs typeface="Calibri" panose="020F0502020204030204" pitchFamily="34" charset="0"/>
              </a:rPr>
              <a:t>Block header contains </a:t>
            </a:r>
          </a:p>
          <a:p>
            <a:pPr marL="857250" indent="-857250" algn="l">
              <a:buFont typeface="Arial" panose="020B0604020202020204" pitchFamily="34" charset="0"/>
              <a:buChar char="•"/>
            </a:pPr>
            <a:r>
              <a:rPr lang="en-US" sz="6200" dirty="0">
                <a:latin typeface="Calibri" panose="020F0502020204030204" pitchFamily="34" charset="0"/>
                <a:cs typeface="Calibri" panose="020F0502020204030204" pitchFamily="34" charset="0"/>
              </a:rPr>
              <a:t>Time Stamp, </a:t>
            </a:r>
          </a:p>
          <a:p>
            <a:pPr marL="857250" indent="-857250" algn="l">
              <a:buFont typeface="Arial" panose="020B0604020202020204" pitchFamily="34" charset="0"/>
              <a:buChar char="•"/>
            </a:pPr>
            <a:r>
              <a:rPr lang="en-US" sz="6200" dirty="0">
                <a:latin typeface="Calibri" panose="020F0502020204030204" pitchFamily="34" charset="0"/>
                <a:cs typeface="Calibri" panose="020F0502020204030204" pitchFamily="34" charset="0"/>
              </a:rPr>
              <a:t>Version, </a:t>
            </a:r>
          </a:p>
          <a:p>
            <a:pPr marL="857250" indent="-857250" algn="l">
              <a:buFont typeface="Arial" panose="020B0604020202020204" pitchFamily="34" charset="0"/>
              <a:buChar char="•"/>
            </a:pPr>
            <a:r>
              <a:rPr lang="en-US" sz="6200" dirty="0">
                <a:latin typeface="Calibri" panose="020F0502020204030204" pitchFamily="34" charset="0"/>
                <a:cs typeface="Calibri" panose="020F0502020204030204" pitchFamily="34" charset="0"/>
              </a:rPr>
              <a:t>A Merkel Root (proof it is immutable). Once you save data in Blockchain no one can change it. If someone changes something everyone in the network knows what has been changed. </a:t>
            </a:r>
          </a:p>
          <a:p>
            <a:pPr marL="857250" indent="-857250" algn="l">
              <a:buFont typeface="Arial" panose="020B0604020202020204" pitchFamily="34" charset="0"/>
              <a:buChar char="•"/>
            </a:pPr>
            <a:r>
              <a:rPr lang="en-US" sz="6200" i="1" dirty="0">
                <a:latin typeface="Calibri" panose="020F0502020204030204" pitchFamily="34" charset="0"/>
                <a:cs typeface="Calibri" panose="020F0502020204030204" pitchFamily="34" charset="0"/>
              </a:rPr>
              <a:t>Proof of Work (POW-Consensus algorithm - most commonly used but takes a lot of power) or</a:t>
            </a:r>
          </a:p>
          <a:p>
            <a:pPr marL="857250" indent="-857250" algn="l">
              <a:buFont typeface="Arial" panose="020B0604020202020204" pitchFamily="34" charset="0"/>
              <a:buChar char="•"/>
            </a:pPr>
            <a:r>
              <a:rPr lang="en-US" sz="6200" i="1" dirty="0">
                <a:solidFill>
                  <a:srgbClr val="0A0A0A"/>
                </a:solidFill>
                <a:latin typeface="Calibri" panose="020F0502020204030204" pitchFamily="34" charset="0"/>
                <a:cs typeface="Calibri" panose="020F0502020204030204" pitchFamily="34" charset="0"/>
              </a:rPr>
              <a:t>Proof of Stake (PoS): Energy-efficient compared to PoW, but can lead to centralization.</a:t>
            </a:r>
          </a:p>
          <a:p>
            <a:pPr marL="857250" indent="-857250" algn="l">
              <a:buFont typeface="Arial" panose="020B0604020202020204" pitchFamily="34" charset="0"/>
              <a:buChar char="•"/>
            </a:pPr>
            <a:r>
              <a:rPr lang="en-US" sz="6200" i="1" dirty="0">
                <a:solidFill>
                  <a:srgbClr val="0A0A0A"/>
                </a:solidFill>
                <a:latin typeface="Calibri" panose="020F0502020204030204" pitchFamily="34" charset="0"/>
                <a:cs typeface="Calibri" panose="020F0502020204030204" pitchFamily="34" charset="0"/>
              </a:rPr>
              <a:t>Proof of Capacity (PoC): Uses disk space instead of computational power. </a:t>
            </a:r>
          </a:p>
          <a:p>
            <a:pPr marL="857250" indent="-857250" algn="l">
              <a:buFont typeface="Arial" panose="020B0604020202020204" pitchFamily="34" charset="0"/>
              <a:buChar char="•"/>
            </a:pPr>
            <a:r>
              <a:rPr lang="en-US" sz="6200" i="1" dirty="0">
                <a:solidFill>
                  <a:srgbClr val="0A0A0A"/>
                </a:solidFill>
                <a:latin typeface="Calibri" panose="020F0502020204030204" pitchFamily="34" charset="0"/>
                <a:cs typeface="Calibri" panose="020F0502020204030204" pitchFamily="34" charset="0"/>
              </a:rPr>
              <a:t>Proof of deposit: Intel developed it.</a:t>
            </a:r>
            <a:endParaRPr lang="en-US" sz="6200" i="1" dirty="0">
              <a:latin typeface="Calibri" panose="020F0502020204030204" pitchFamily="34" charset="0"/>
              <a:cs typeface="Calibri" panose="020F0502020204030204" pitchFamily="34" charset="0"/>
            </a:endParaRPr>
          </a:p>
          <a:p>
            <a:pPr marL="857250" indent="-857250" algn="l">
              <a:buFont typeface="Arial" panose="020B0604020202020204" pitchFamily="34" charset="0"/>
              <a:buChar char="•"/>
            </a:pPr>
            <a:r>
              <a:rPr lang="en-US" sz="6200" dirty="0">
                <a:latin typeface="Calibri" panose="020F0502020204030204" pitchFamily="34" charset="0"/>
                <a:cs typeface="Calibri" panose="020F0502020204030204" pitchFamily="34" charset="0"/>
              </a:rPr>
              <a:t>Previous Hash</a:t>
            </a:r>
          </a:p>
          <a:p>
            <a:endParaRPr lang="en-US" dirty="0"/>
          </a:p>
        </p:txBody>
      </p:sp>
    </p:spTree>
    <p:extLst>
      <p:ext uri="{BB962C8B-B14F-4D97-AF65-F5344CB8AC3E}">
        <p14:creationId xmlns:p14="http://schemas.microsoft.com/office/powerpoint/2010/main" val="6836522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6390-C9FD-C3C0-B92D-7D7BEAD790C4}"/>
              </a:ext>
            </a:extLst>
          </p:cNvPr>
          <p:cNvSpPr>
            <a:spLocks noGrp="1"/>
          </p:cNvSpPr>
          <p:nvPr>
            <p:ph type="ctrTitle"/>
          </p:nvPr>
        </p:nvSpPr>
        <p:spPr>
          <a:xfrm>
            <a:off x="1283195" y="75597"/>
            <a:ext cx="9144000" cy="710986"/>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Blockchain – Technology behind Bitcoin</a:t>
            </a:r>
          </a:p>
        </p:txBody>
      </p:sp>
      <p:sp>
        <p:nvSpPr>
          <p:cNvPr id="3" name="Subtitle 2">
            <a:extLst>
              <a:ext uri="{FF2B5EF4-FFF2-40B4-BE49-F238E27FC236}">
                <a16:creationId xmlns:a16="http://schemas.microsoft.com/office/drawing/2014/main" id="{1D6BF89E-4070-134E-5595-B675DF6F5795}"/>
              </a:ext>
            </a:extLst>
          </p:cNvPr>
          <p:cNvSpPr>
            <a:spLocks noGrp="1"/>
          </p:cNvSpPr>
          <p:nvPr>
            <p:ph type="subTitle" idx="1"/>
          </p:nvPr>
        </p:nvSpPr>
        <p:spPr>
          <a:xfrm>
            <a:off x="1283195" y="1336430"/>
            <a:ext cx="9289271" cy="5398477"/>
          </a:xfrm>
        </p:spPr>
        <p:txBody>
          <a:bodyPr>
            <a:normAutofit fontScale="25000" lnSpcReduction="20000"/>
          </a:bodyPr>
          <a:lstStyle/>
          <a:p>
            <a:pPr algn="l"/>
            <a:r>
              <a:rPr lang="en-US" sz="11200" dirty="0">
                <a:latin typeface="Calibri" panose="020F0502020204030204" pitchFamily="34" charset="0"/>
                <a:cs typeface="Calibri" panose="020F0502020204030204" pitchFamily="34" charset="0"/>
              </a:rPr>
              <a:t>Bitcoin - A digital currency that works on peer to peer network or distributed system.</a:t>
            </a:r>
          </a:p>
          <a:p>
            <a:pPr algn="l"/>
            <a:r>
              <a:rPr lang="en-US" sz="11200" dirty="0">
                <a:latin typeface="Calibri" panose="020F0502020204030204" pitchFamily="34" charset="0"/>
                <a:cs typeface="Calibri" panose="020F0502020204030204" pitchFamily="34" charset="0"/>
              </a:rPr>
              <a:t>Security  - Cryptography provides the security for Blockchain.</a:t>
            </a:r>
          </a:p>
          <a:p>
            <a:pPr algn="l"/>
            <a:r>
              <a:rPr lang="en-US" sz="11200" dirty="0">
                <a:latin typeface="Calibri" panose="020F0502020204030204" pitchFamily="34" charset="0"/>
                <a:cs typeface="Calibri" panose="020F0502020204030204" pitchFamily="34" charset="0"/>
              </a:rPr>
              <a:t>Trust – Have to ensure the trust within the network as no bank or 3</a:t>
            </a:r>
            <a:r>
              <a:rPr lang="en-US" sz="11200" baseline="30000" dirty="0">
                <a:latin typeface="Calibri" panose="020F0502020204030204" pitchFamily="34" charset="0"/>
                <a:cs typeface="Calibri" panose="020F0502020204030204" pitchFamily="34" charset="0"/>
              </a:rPr>
              <a:t>rd</a:t>
            </a:r>
            <a:r>
              <a:rPr lang="en-US" sz="11200" dirty="0">
                <a:latin typeface="Calibri" panose="020F0502020204030204" pitchFamily="34" charset="0"/>
                <a:cs typeface="Calibri" panose="020F0502020204030204" pitchFamily="34" charset="0"/>
              </a:rPr>
              <a:t> party is keeping track of all the ledgers of the transactions.</a:t>
            </a:r>
          </a:p>
          <a:p>
            <a:pPr algn="l"/>
            <a:r>
              <a:rPr lang="en-US" sz="11200" dirty="0">
                <a:latin typeface="Calibri" panose="020F0502020204030204" pitchFamily="34" charset="0"/>
                <a:cs typeface="Calibri" panose="020F0502020204030204" pitchFamily="34" charset="0"/>
              </a:rPr>
              <a:t>Every machine is call node.  We want a ledger that is available in every machine but no one can change it.</a:t>
            </a:r>
          </a:p>
          <a:p>
            <a:pPr algn="l"/>
            <a:r>
              <a:rPr lang="en-US" sz="11200" dirty="0">
                <a:latin typeface="Calibri" panose="020F0502020204030204" pitchFamily="34" charset="0"/>
                <a:cs typeface="Calibri" panose="020F0502020204030204" pitchFamily="34" charset="0"/>
              </a:rPr>
              <a:t>Once you save data in Blockchain no one can change it. If someone changes something everyone in the network knows (as the hash function will change) what has been changed. Only verified miners can add, delete or modify data. </a:t>
            </a:r>
          </a:p>
          <a:p>
            <a:pPr algn="l"/>
            <a:r>
              <a:rPr lang="en-US" sz="11200" dirty="0">
                <a:latin typeface="Calibri" panose="020F0502020204030204" pitchFamily="34" charset="0"/>
                <a:cs typeface="Calibri" panose="020F0502020204030204" pitchFamily="34" charset="0"/>
              </a:rPr>
              <a:t>SHA (Secured Hash Algorithm) will give the exact same hash value for one particular file. Different length of hash value comes from different hash algorithms.  </a:t>
            </a:r>
            <a:endParaRPr lang="en-US" dirty="0"/>
          </a:p>
          <a:p>
            <a:pPr algn="l"/>
            <a:endParaRPr lang="en-US" dirty="0"/>
          </a:p>
        </p:txBody>
      </p:sp>
    </p:spTree>
    <p:extLst>
      <p:ext uri="{BB962C8B-B14F-4D97-AF65-F5344CB8AC3E}">
        <p14:creationId xmlns:p14="http://schemas.microsoft.com/office/powerpoint/2010/main" val="2625463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6390-C9FD-C3C0-B92D-7D7BEAD790C4}"/>
              </a:ext>
            </a:extLst>
          </p:cNvPr>
          <p:cNvSpPr>
            <a:spLocks noGrp="1"/>
          </p:cNvSpPr>
          <p:nvPr>
            <p:ph type="ctrTitle"/>
          </p:nvPr>
        </p:nvSpPr>
        <p:spPr>
          <a:xfrm>
            <a:off x="1428466" y="585551"/>
            <a:ext cx="9144000" cy="710986"/>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Blockchain – Why every one is not using it</a:t>
            </a:r>
          </a:p>
        </p:txBody>
      </p:sp>
      <p:sp>
        <p:nvSpPr>
          <p:cNvPr id="3" name="Subtitle 2">
            <a:extLst>
              <a:ext uri="{FF2B5EF4-FFF2-40B4-BE49-F238E27FC236}">
                <a16:creationId xmlns:a16="http://schemas.microsoft.com/office/drawing/2014/main" id="{1D6BF89E-4070-134E-5595-B675DF6F5795}"/>
              </a:ext>
            </a:extLst>
          </p:cNvPr>
          <p:cNvSpPr>
            <a:spLocks noGrp="1"/>
          </p:cNvSpPr>
          <p:nvPr>
            <p:ph type="subTitle" idx="1"/>
          </p:nvPr>
        </p:nvSpPr>
        <p:spPr>
          <a:xfrm>
            <a:off x="1283195" y="1644163"/>
            <a:ext cx="9074143" cy="4000500"/>
          </a:xfrm>
        </p:spPr>
        <p:txBody>
          <a:bodyPr>
            <a:normAutofit/>
          </a:bodyPr>
          <a:lstStyle/>
          <a:p>
            <a:pPr algn="l"/>
            <a:endParaRPr lang="en-US" dirty="0"/>
          </a:p>
          <a:p>
            <a:pPr algn="l"/>
            <a:r>
              <a:rPr lang="en-US" dirty="0"/>
              <a:t>It is Complex</a:t>
            </a:r>
          </a:p>
          <a:p>
            <a:pPr algn="l"/>
            <a:r>
              <a:rPr lang="en-US" dirty="0"/>
              <a:t>Bitcoin – uses POW for verification which takes time. Charge cards are lot faster.</a:t>
            </a:r>
          </a:p>
          <a:p>
            <a:pPr algn="l"/>
            <a:r>
              <a:rPr lang="en-US" dirty="0"/>
              <a:t>Minors needs to be verified, which takes time and resources.</a:t>
            </a:r>
          </a:p>
          <a:p>
            <a:pPr algn="l"/>
            <a:r>
              <a:rPr lang="en-US" dirty="0"/>
              <a:t>Although no one can change but every one can see the data as it is available in public network.</a:t>
            </a:r>
          </a:p>
          <a:p>
            <a:pPr algn="l"/>
            <a:r>
              <a:rPr lang="en-US" dirty="0"/>
              <a:t>51%attack. If more than half of the people in network are malicious blockchain can be hacked.</a:t>
            </a:r>
          </a:p>
        </p:txBody>
      </p:sp>
    </p:spTree>
    <p:extLst>
      <p:ext uri="{BB962C8B-B14F-4D97-AF65-F5344CB8AC3E}">
        <p14:creationId xmlns:p14="http://schemas.microsoft.com/office/powerpoint/2010/main" val="3355098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379</TotalTime>
  <Words>2225</Words>
  <Application>Microsoft Office PowerPoint</Application>
  <PresentationFormat>Widescreen</PresentationFormat>
  <Paragraphs>297</Paragraphs>
  <Slides>29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SimSun</vt:lpstr>
      <vt:lpstr>Aptos</vt:lpstr>
      <vt:lpstr>Aptos Display</vt:lpstr>
      <vt:lpstr>Arial</vt:lpstr>
      <vt:lpstr>Calibri</vt:lpstr>
      <vt:lpstr>Google Sans</vt:lpstr>
      <vt:lpstr>Roboto</vt:lpstr>
      <vt:lpstr>Times</vt:lpstr>
      <vt:lpstr>office theme</vt:lpstr>
      <vt:lpstr>Cryptography</vt:lpstr>
      <vt:lpstr>Encryption is the process when you convert your plain text to cipher text and decryption is when you change your cipher text to plain text</vt:lpstr>
      <vt:lpstr>PowerPoint Presentation</vt:lpstr>
      <vt:lpstr>A and B both have the same key. This key needs to be shared off line and before transmitting the document through internet.</vt:lpstr>
      <vt:lpstr>Advantages : We can have bigger key size, bigger the size, safer the data. It is easy to use.</vt:lpstr>
      <vt:lpstr>Disadvantages : Has to be shared well in ahead and off line. If you have multiple people in the network, you will have to manage multiple keys, that becomes a problem. </vt:lpstr>
      <vt:lpstr>Private Key: Only the owner knows Public key: known to all, kept is a public server</vt:lpstr>
      <vt:lpstr>PowerPoint Presentation</vt:lpstr>
      <vt:lpstr>Private Key: Only the owner knows Public key: known to all, kept is a public server</vt:lpstr>
      <vt:lpstr> Public key: known to all, kept is a public server</vt:lpstr>
      <vt:lpstr> Public key: known to all, kept is a public server</vt:lpstr>
      <vt:lpstr> Public key: known to all, anyone can read and change the data with the available public key.</vt:lpstr>
      <vt:lpstr> The identity of the sender and the security of the document both achieved</vt:lpstr>
      <vt:lpstr>One-Time Digital Signatures</vt:lpstr>
      <vt:lpstr>Lamport One-time Signature </vt:lpstr>
      <vt:lpstr>Lamport signatures and HORS (Hash to Obtain Random Subset) </vt:lpstr>
      <vt:lpstr>Lamport signatures and HORS (Hash to Obtain Random Subset) </vt:lpstr>
      <vt:lpstr>Lamport signatures and HORS (Hash to Obtain Random Subset) </vt:lpstr>
      <vt:lpstr>Lamport signatures and HORS (Hash to Obtain Random Subset) </vt:lpstr>
      <vt:lpstr>Lamport signatures and HORS (Hash to Obtain Random Subset) </vt:lpstr>
      <vt:lpstr>Blockchain</vt:lpstr>
      <vt:lpstr>Blockchain – Technology behind Bitcoin</vt:lpstr>
      <vt:lpstr>Merkle Tree</vt:lpstr>
      <vt:lpstr>Merkle Tree</vt:lpstr>
      <vt:lpstr>Merkle Tree</vt:lpstr>
      <vt:lpstr>Merkle Tree</vt:lpstr>
      <vt:lpstr>Blockchain</vt:lpstr>
      <vt:lpstr>Blockchain – Technology behind Bitcoin</vt:lpstr>
      <vt:lpstr>Blockchain – Why every one is not using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dc:title>
  <dc:creator>Manisha Chakraburtty</dc:creator>
  <cp:lastModifiedBy>Manisha Chakraburtty</cp:lastModifiedBy>
  <cp:revision>667</cp:revision>
  <dcterms:created xsi:type="dcterms:W3CDTF">2025-02-05T20:50:27Z</dcterms:created>
  <dcterms:modified xsi:type="dcterms:W3CDTF">2026-04-01T18:22:45Z</dcterms:modified>
</cp:coreProperties>
</file>