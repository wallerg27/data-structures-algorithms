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p:scale>
          <a:sx n="55" d="100"/>
          <a:sy n="55" d="100"/>
        </p:scale>
        <p:origin x="915" y="4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0F57B21-8177-43D0-B5CB-7A48300EBD20}"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1101131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F57B21-8177-43D0-B5CB-7A48300EBD20}"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4171625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F57B21-8177-43D0-B5CB-7A48300EBD20}"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267906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F57B21-8177-43D0-B5CB-7A48300EBD20}"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3852597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F57B21-8177-43D0-B5CB-7A48300EBD20}" type="datetimeFigureOut">
              <a:rPr lang="en-US" smtClean="0"/>
              <a:t>4/3/2026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1276146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F57B21-8177-43D0-B5CB-7A48300EBD20}" type="datetimeFigureOut">
              <a:rPr lang="en-US" smtClean="0"/>
              <a:t>4/3/2026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2566910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F57B21-8177-43D0-B5CB-7A48300EBD20}" type="datetimeFigureOut">
              <a:rPr lang="en-US" smtClean="0"/>
              <a:t>4/3/2026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1082524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F57B21-8177-43D0-B5CB-7A48300EBD20}"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954160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0F57B21-8177-43D0-B5CB-7A48300EBD20}" type="datetimeFigureOut">
              <a:rPr lang="en-US" smtClean="0"/>
              <a:t>4/3/2026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34140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F57B21-8177-43D0-B5CB-7A48300EBD20}"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1494029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F57B21-8177-43D0-B5CB-7A48300EBD20}" type="datetimeFigureOut">
              <a:rPr lang="en-US" smtClean="0"/>
              <a:t>4/3/2026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387741-3B5B-448D-8D06-9576C18B2FA0}" type="slidenum">
              <a:rPr lang="en-US" smtClean="0"/>
              <a:t>‹#›</a:t>
            </a:fld>
            <a:endParaRPr lang="en-US"/>
          </a:p>
        </p:txBody>
      </p:sp>
    </p:spTree>
    <p:extLst>
      <p:ext uri="{BB962C8B-B14F-4D97-AF65-F5344CB8AC3E}">
        <p14:creationId xmlns:p14="http://schemas.microsoft.com/office/powerpoint/2010/main" val="245020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57B21-8177-43D0-B5CB-7A48300EBD20}" type="datetimeFigureOut">
              <a:rPr lang="en-US" smtClean="0"/>
              <a:t>4/3/2026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387741-3B5B-448D-8D06-9576C18B2FA0}" type="slidenum">
              <a:rPr lang="en-US" smtClean="0"/>
              <a:t>‹#›</a:t>
            </a:fld>
            <a:endParaRPr lang="en-US"/>
          </a:p>
        </p:txBody>
      </p:sp>
    </p:spTree>
    <p:extLst>
      <p:ext uri="{BB962C8B-B14F-4D97-AF65-F5344CB8AC3E}">
        <p14:creationId xmlns:p14="http://schemas.microsoft.com/office/powerpoint/2010/main" val="4206402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j0OUwduDOS0" TargetMode="External"/><Relationship Id="rId2" Type="http://schemas.openxmlformats.org/officeDocument/2006/relationships/hyperlink" Target="https://www.youtube.com/watch?v=eQA-m22wjTQ" TargetMode="External"/><Relationship Id="rId1" Type="http://schemas.openxmlformats.org/officeDocument/2006/relationships/slideLayout" Target="../slideLayouts/slideLayout2.xml"/><Relationship Id="rId4" Type="http://schemas.openxmlformats.org/officeDocument/2006/relationships/hyperlink" Target="https://www.youtube.com/watch?v=EFg3u_E6eHU"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7700" y="618362"/>
            <a:ext cx="11417300" cy="4215578"/>
          </a:xfrm>
          <a:prstGeom prst="rect">
            <a:avLst/>
          </a:prstGeom>
        </p:spPr>
        <p:txBody>
          <a:bodyPr wrap="square">
            <a:spAutoFit/>
          </a:bodyPr>
          <a:lstStyle/>
          <a:p>
            <a:pPr algn="just" fontAlgn="base">
              <a:lnSpc>
                <a:spcPct val="107000"/>
              </a:lnSpc>
            </a:pPr>
            <a:r>
              <a:rPr lang="en-US" sz="3600" b="1" dirty="0">
                <a:solidFill>
                  <a:srgbClr val="273239"/>
                </a:solidFill>
                <a:effectLst/>
                <a:latin typeface="Calibri" panose="020F0502020204030204" pitchFamily="34" charset="0"/>
                <a:ea typeface="Times New Roman" panose="02020603050405020304" pitchFamily="18" charset="0"/>
                <a:cs typeface="Calibri" panose="020F0502020204030204" pitchFamily="34" charset="0"/>
              </a:rPr>
              <a:t>Graph Data Structure </a:t>
            </a:r>
            <a:r>
              <a:rPr lang="en-US" sz="3600" dirty="0">
                <a:solidFill>
                  <a:srgbClr val="273239"/>
                </a:solidFill>
                <a:effectLst/>
                <a:latin typeface="Calibri" panose="020F0502020204030204" pitchFamily="34" charset="0"/>
                <a:ea typeface="Times New Roman" panose="02020603050405020304" pitchFamily="18" charset="0"/>
                <a:cs typeface="Calibri" panose="020F0502020204030204" pitchFamily="34" charset="0"/>
              </a:rPr>
              <a:t>is a </a:t>
            </a:r>
            <a:r>
              <a:rPr lang="en-US" sz="3600" dirty="0">
                <a:latin typeface="Calibri" panose="020F0502020204030204" pitchFamily="34" charset="0"/>
                <a:ea typeface="Times New Roman" panose="02020603050405020304" pitchFamily="18" charset="0"/>
                <a:cs typeface="Calibri" panose="020F0502020204030204" pitchFamily="34" charset="0"/>
              </a:rPr>
              <a:t>non-linear data structure</a:t>
            </a:r>
            <a:r>
              <a:rPr lang="en-US" sz="3600" dirty="0">
                <a:effectLst/>
                <a:latin typeface="Calibri" panose="020F0502020204030204" pitchFamily="34" charset="0"/>
                <a:ea typeface="Times New Roman" panose="02020603050405020304" pitchFamily="18" charset="0"/>
                <a:cs typeface="Calibri" panose="020F0502020204030204" pitchFamily="34" charset="0"/>
              </a:rPr>
              <a:t> </a:t>
            </a:r>
            <a:r>
              <a:rPr lang="en-US" sz="3600" dirty="0">
                <a:solidFill>
                  <a:srgbClr val="273239"/>
                </a:solidFill>
                <a:effectLst/>
                <a:latin typeface="Calibri" panose="020F0502020204030204" pitchFamily="34" charset="0"/>
                <a:ea typeface="Times New Roman" panose="02020603050405020304" pitchFamily="18" charset="0"/>
                <a:cs typeface="Calibri" panose="020F0502020204030204" pitchFamily="34" charset="0"/>
              </a:rPr>
              <a:t>consisting of vertices and edges. It is useful in fields such as social network analysis, recommendation systems, and computer networks. In the field of sports data science, graph data structure can be used to analyze and understand the dynamics of team performance and player interactions on the field.</a:t>
            </a:r>
            <a:endParaRPr lang="en-US" sz="36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643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What is Graph Data Structure?</a:t>
            </a:r>
            <a:br>
              <a:rPr lang="en-US" b="1" dirty="0"/>
            </a:br>
            <a:endParaRPr lang="en-US" dirty="0"/>
          </a:p>
        </p:txBody>
      </p:sp>
      <p:sp>
        <p:nvSpPr>
          <p:cNvPr id="4" name="Rectangle 3"/>
          <p:cNvSpPr/>
          <p:nvPr/>
        </p:nvSpPr>
        <p:spPr>
          <a:xfrm>
            <a:off x="361950" y="1403340"/>
            <a:ext cx="11468100" cy="3970318"/>
          </a:xfrm>
          <a:prstGeom prst="rect">
            <a:avLst/>
          </a:prstGeom>
        </p:spPr>
        <p:txBody>
          <a:bodyPr wrap="square">
            <a:spAutoFit/>
          </a:bodyPr>
          <a:lstStyle/>
          <a:p>
            <a:pPr algn="just" fontAlgn="base"/>
            <a:r>
              <a:rPr lang="en-US" sz="2800" b="1" i="0" dirty="0">
                <a:solidFill>
                  <a:srgbClr val="273239"/>
                </a:solidFill>
                <a:effectLst/>
              </a:rPr>
              <a:t>Graph</a:t>
            </a:r>
            <a:r>
              <a:rPr lang="en-US" sz="2800" b="0" i="0" dirty="0">
                <a:solidFill>
                  <a:srgbClr val="273239"/>
                </a:solidFill>
                <a:effectLst/>
              </a:rPr>
              <a:t> is a </a:t>
            </a:r>
            <a:r>
              <a:rPr lang="en-US" sz="2800" dirty="0">
                <a:solidFill>
                  <a:srgbClr val="273239"/>
                </a:solidFill>
              </a:rPr>
              <a:t>non-linear data structure</a:t>
            </a:r>
            <a:r>
              <a:rPr lang="en-US" sz="2800" b="0" i="0" dirty="0">
                <a:solidFill>
                  <a:srgbClr val="273239"/>
                </a:solidFill>
                <a:effectLst/>
              </a:rPr>
              <a:t> consisting of vertices and edges. The vertices are sometimes also referred to as nodes and the edges are lines or arcs that connect any two nodes in the graph. More formally a Graph is composed of a set of vertices( </a:t>
            </a:r>
            <a:r>
              <a:rPr lang="en-US" sz="2800" b="1" i="0" dirty="0">
                <a:solidFill>
                  <a:srgbClr val="273239"/>
                </a:solidFill>
                <a:effectLst/>
              </a:rPr>
              <a:t>V </a:t>
            </a:r>
            <a:r>
              <a:rPr lang="en-US" sz="2800" b="0" i="0" dirty="0">
                <a:solidFill>
                  <a:srgbClr val="273239"/>
                </a:solidFill>
                <a:effectLst/>
              </a:rPr>
              <a:t>) and a set of edges( </a:t>
            </a:r>
            <a:r>
              <a:rPr lang="en-US" sz="2800" b="1" i="0" dirty="0">
                <a:solidFill>
                  <a:srgbClr val="273239"/>
                </a:solidFill>
                <a:effectLst/>
              </a:rPr>
              <a:t>E </a:t>
            </a:r>
            <a:r>
              <a:rPr lang="en-US" sz="2800" b="0" i="0" dirty="0">
                <a:solidFill>
                  <a:srgbClr val="273239"/>
                </a:solidFill>
                <a:effectLst/>
              </a:rPr>
              <a:t>). The graph is denoted by </a:t>
            </a:r>
            <a:r>
              <a:rPr lang="en-US" sz="2800" b="1" i="0" dirty="0">
                <a:solidFill>
                  <a:srgbClr val="273239"/>
                </a:solidFill>
                <a:effectLst/>
              </a:rPr>
              <a:t>G(V, E).</a:t>
            </a:r>
            <a:endParaRPr lang="en-US" sz="2800" b="0" i="0" dirty="0">
              <a:solidFill>
                <a:srgbClr val="273239"/>
              </a:solidFill>
              <a:effectLst/>
            </a:endParaRPr>
          </a:p>
          <a:p>
            <a:pPr algn="just" fontAlgn="base"/>
            <a:r>
              <a:rPr lang="en-US" sz="2800" b="0" i="0" dirty="0">
                <a:solidFill>
                  <a:srgbClr val="273239"/>
                </a:solidFill>
                <a:effectLst/>
              </a:rPr>
              <a:t>Imagine a game of football as a web of connections, where players are the nodes and their interactions on the field are the edges. This web of connections is exactly what a graph data </a:t>
            </a:r>
            <a:r>
              <a:rPr lang="en-US" sz="2800" b="0" i="0" dirty="0">
                <a:solidFill>
                  <a:srgbClr val="273239"/>
                </a:solidFill>
                <a:effectLst/>
                <a:cs typeface="Calibri" panose="020F0502020204030204" pitchFamily="34" charset="0"/>
              </a:rPr>
              <a:t>structure</a:t>
            </a:r>
            <a:r>
              <a:rPr lang="en-US" sz="2800" b="0" i="0" dirty="0">
                <a:solidFill>
                  <a:srgbClr val="273239"/>
                </a:solidFill>
                <a:effectLst/>
              </a:rPr>
              <a:t> represents, and it’s the key to unlocking insights into team performance and player dynamics in sports.</a:t>
            </a:r>
          </a:p>
        </p:txBody>
      </p:sp>
    </p:spTree>
    <p:extLst>
      <p:ext uri="{BB962C8B-B14F-4D97-AF65-F5344CB8AC3E}">
        <p14:creationId xmlns:p14="http://schemas.microsoft.com/office/powerpoint/2010/main" val="3304256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Components of Graph Data Structure</a:t>
            </a:r>
            <a:endParaRPr lang="en-US" dirty="0"/>
          </a:p>
        </p:txBody>
      </p:sp>
      <p:sp>
        <p:nvSpPr>
          <p:cNvPr id="4" name="Rectangle 3"/>
          <p:cNvSpPr/>
          <p:nvPr/>
        </p:nvSpPr>
        <p:spPr>
          <a:xfrm>
            <a:off x="584200" y="2084338"/>
            <a:ext cx="10769600" cy="4031873"/>
          </a:xfrm>
          <a:prstGeom prst="rect">
            <a:avLst/>
          </a:prstGeom>
        </p:spPr>
        <p:txBody>
          <a:bodyPr wrap="square">
            <a:spAutoFit/>
          </a:bodyPr>
          <a:lstStyle/>
          <a:p>
            <a:pPr algn="just" fontAlgn="base">
              <a:buFont typeface="Arial" panose="020B0604020202020204" pitchFamily="34" charset="0"/>
              <a:buChar char="•"/>
            </a:pPr>
            <a:r>
              <a:rPr lang="en-US" sz="3200" b="1" i="0" dirty="0">
                <a:solidFill>
                  <a:srgbClr val="273239"/>
                </a:solidFill>
                <a:effectLst/>
              </a:rPr>
              <a:t>Vertices:</a:t>
            </a:r>
            <a:r>
              <a:rPr lang="en-US" sz="3200" b="0" i="0" dirty="0">
                <a:solidFill>
                  <a:srgbClr val="273239"/>
                </a:solidFill>
                <a:effectLst/>
              </a:rPr>
              <a:t> Vertices are the fundamental units of the graph. Sometimes, vertices are also known as vertex or nodes. Every node/vertex can be labeled or </a:t>
            </a:r>
            <a:r>
              <a:rPr lang="en-US" sz="3200" b="0" i="0" dirty="0" err="1">
                <a:solidFill>
                  <a:srgbClr val="273239"/>
                </a:solidFill>
                <a:effectLst/>
              </a:rPr>
              <a:t>unlabelled</a:t>
            </a:r>
            <a:r>
              <a:rPr lang="en-US" sz="3200" b="0" i="0" dirty="0">
                <a:solidFill>
                  <a:srgbClr val="273239"/>
                </a:solidFill>
                <a:effectLst/>
              </a:rPr>
              <a:t>.</a:t>
            </a:r>
          </a:p>
          <a:p>
            <a:pPr algn="just" fontAlgn="base">
              <a:buFont typeface="Arial" panose="020B0604020202020204" pitchFamily="34" charset="0"/>
              <a:buChar char="•"/>
            </a:pPr>
            <a:r>
              <a:rPr lang="en-US" sz="3200" b="1" i="0" dirty="0">
                <a:solidFill>
                  <a:srgbClr val="273239"/>
                </a:solidFill>
                <a:effectLst/>
              </a:rPr>
              <a:t>Edges:</a:t>
            </a:r>
            <a:r>
              <a:rPr lang="en-US" sz="3200" b="0" i="0" dirty="0">
                <a:solidFill>
                  <a:srgbClr val="273239"/>
                </a:solidFill>
                <a:effectLst/>
              </a:rPr>
              <a:t> Edges are drawn or used to connect two nodes of the graph. It can be ordered pair of nodes in a directed graph. Edges can connect any two nodes in any possible way. There are no rules. Sometimes, edges are also known as arcs. Every edge can be labelled/</a:t>
            </a:r>
            <a:r>
              <a:rPr lang="en-US" sz="3200" b="0" i="0" dirty="0" err="1">
                <a:solidFill>
                  <a:srgbClr val="273239"/>
                </a:solidFill>
                <a:effectLst/>
              </a:rPr>
              <a:t>unlabelled</a:t>
            </a:r>
            <a:r>
              <a:rPr lang="en-US" sz="3200" b="0" i="0" dirty="0">
                <a:solidFill>
                  <a:srgbClr val="273239"/>
                </a:solidFill>
                <a:effectLst/>
              </a:rPr>
              <a:t>.</a:t>
            </a:r>
          </a:p>
        </p:txBody>
      </p:sp>
    </p:spTree>
    <p:extLst>
      <p:ext uri="{BB962C8B-B14F-4D97-AF65-F5344CB8AC3E}">
        <p14:creationId xmlns:p14="http://schemas.microsoft.com/office/powerpoint/2010/main" val="3338325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00" y="377825"/>
            <a:ext cx="11074400" cy="1325563"/>
          </a:xfrm>
        </p:spPr>
        <p:txBody>
          <a:bodyPr>
            <a:normAutofit/>
          </a:bodyPr>
          <a:lstStyle/>
          <a:p>
            <a:r>
              <a:rPr lang="en-US" b="1" u="sng" dirty="0"/>
              <a:t>Types Of Graphs in Data Structure and Algorithms</a:t>
            </a:r>
            <a:endParaRPr lang="en-US" dirty="0"/>
          </a:p>
        </p:txBody>
      </p:sp>
      <p:sp>
        <p:nvSpPr>
          <p:cNvPr id="4" name="Rectangle 1"/>
          <p:cNvSpPr>
            <a:spLocks noChangeArrowheads="1"/>
          </p:cNvSpPr>
          <p:nvPr/>
        </p:nvSpPr>
        <p:spPr bwMode="auto">
          <a:xfrm>
            <a:off x="482600" y="1422530"/>
            <a:ext cx="11036299" cy="24781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60287" rIns="0" bIns="16028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en-US" sz="2800" b="1" dirty="0">
                <a:solidFill>
                  <a:srgbClr val="273239"/>
                </a:solidFill>
                <a:latin typeface="+mn-lt"/>
              </a:rPr>
              <a:t>1. </a:t>
            </a:r>
            <a:r>
              <a:rPr kumimoji="0" lang="en-US" altLang="en-US" sz="2800" b="1" i="0" u="none" strike="noStrike" cap="none" normalizeH="0" baseline="0" dirty="0">
                <a:ln>
                  <a:noFill/>
                </a:ln>
                <a:solidFill>
                  <a:srgbClr val="273239"/>
                </a:solidFill>
                <a:effectLst/>
                <a:latin typeface="+mn-lt"/>
              </a:rPr>
              <a:t>Null Graph</a:t>
            </a:r>
          </a:p>
          <a:p>
            <a:pPr lvl="0"/>
            <a:r>
              <a:rPr kumimoji="0" lang="en-US" altLang="en-US" sz="2800" b="0" i="0" u="none" strike="noStrike" cap="none" normalizeH="0" baseline="0" dirty="0">
                <a:ln>
                  <a:noFill/>
                </a:ln>
                <a:solidFill>
                  <a:srgbClr val="273239"/>
                </a:solidFill>
                <a:effectLst/>
                <a:latin typeface="+mn-lt"/>
              </a:rPr>
              <a:t>A graph is known as a null graph if there are no edges in the graph.</a:t>
            </a:r>
          </a:p>
          <a:p>
            <a:pPr lvl="0"/>
            <a:endParaRPr kumimoji="0" lang="en-US" altLang="en-US" sz="2800" b="1" i="0" u="none" strike="noStrike" cap="none" normalizeH="0" baseline="0" dirty="0">
              <a:ln>
                <a:noFill/>
              </a:ln>
              <a:solidFill>
                <a:srgbClr val="273239"/>
              </a:solidFill>
              <a:effectLst/>
              <a:latin typeface="+mn-lt"/>
            </a:endParaRPr>
          </a:p>
          <a:p>
            <a:pPr lvl="0"/>
            <a:r>
              <a:rPr kumimoji="0" lang="en-US" altLang="en-US" sz="2800" b="1" i="0" u="none" strike="noStrike" cap="none" normalizeH="0" baseline="0" dirty="0">
                <a:ln>
                  <a:noFill/>
                </a:ln>
                <a:solidFill>
                  <a:srgbClr val="273239"/>
                </a:solidFill>
                <a:effectLst/>
                <a:latin typeface="+mn-lt"/>
              </a:rPr>
              <a:t>2. Trivial Graph</a:t>
            </a:r>
          </a:p>
          <a:p>
            <a:pPr lvl="0"/>
            <a:r>
              <a:rPr lang="en-US" sz="2800" dirty="0">
                <a:latin typeface="+mn-lt"/>
              </a:rPr>
              <a:t>Graph having only a single vertex, it is also the smallest graph possible. </a:t>
            </a:r>
            <a:endParaRPr kumimoji="0" lang="en-US" altLang="en-US" sz="2800" b="1" i="0" u="none" strike="noStrike" cap="none" normalizeH="0" baseline="0" dirty="0">
              <a:ln>
                <a:noFill/>
              </a:ln>
              <a:solidFill>
                <a:srgbClr val="273239"/>
              </a:solidFill>
              <a:effectLst/>
              <a:latin typeface="+mn-lt"/>
            </a:endParaRPr>
          </a:p>
        </p:txBody>
      </p:sp>
      <p:pic>
        <p:nvPicPr>
          <p:cNvPr id="8" name="Picture 2" descr="https://media.geeksforgeeks.org/wp-content/uploads/20200630113942/null_graph_trivi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900" y="3877042"/>
            <a:ext cx="4724400" cy="2905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307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469901" y="516942"/>
            <a:ext cx="10312399" cy="29090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60287" rIns="0" bIns="16028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mn-lt"/>
              </a:rPr>
              <a:t>3. Undirected Graph</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mn-lt"/>
              </a:rPr>
              <a:t>A graph in which edges do not have any direction. That is the nodes are unordered pairs in the definition of every edge. </a:t>
            </a:r>
            <a:endParaRPr kumimoji="0" lang="en-US" altLang="en-US" sz="2800" b="0" i="0" u="none" strike="noStrike" cap="none" normalizeH="0" baseline="0" dirty="0">
              <a:ln>
                <a:noFill/>
              </a:ln>
              <a:solidFill>
                <a:schemeClr val="tx1"/>
              </a:solidFill>
              <a:effectLst/>
              <a:latin typeface="+mn-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mn-lt"/>
              </a:rPr>
              <a:t>4. Directed Graph</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mn-lt"/>
              </a:rPr>
              <a:t>A graph in which edge has direction. That is the nodes are ordered pairs in the definition of every edge.</a:t>
            </a:r>
            <a:endParaRPr kumimoji="0" lang="en-US" altLang="en-US" sz="2800" b="0" i="0" u="none" strike="noStrike" cap="none" normalizeH="0" baseline="0" dirty="0">
              <a:ln>
                <a:noFill/>
              </a:ln>
              <a:solidFill>
                <a:schemeClr val="tx1"/>
              </a:solidFill>
              <a:effectLst/>
              <a:latin typeface="+mn-lt"/>
            </a:endParaRPr>
          </a:p>
        </p:txBody>
      </p:sp>
      <p:pic>
        <p:nvPicPr>
          <p:cNvPr id="2050" name="Picture 2" descr="https://media.geeksforgeeks.org/wp-content/uploads/20200630114438/direct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500" y="3523075"/>
            <a:ext cx="5067299" cy="3116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050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7800" y="303937"/>
            <a:ext cx="11506200" cy="2677656"/>
          </a:xfrm>
          <a:prstGeom prst="rect">
            <a:avLst/>
          </a:prstGeom>
        </p:spPr>
        <p:txBody>
          <a:bodyPr wrap="square">
            <a:spAutoFit/>
          </a:bodyPr>
          <a:lstStyle/>
          <a:p>
            <a:pPr fontAlgn="base"/>
            <a:r>
              <a:rPr lang="en-US" sz="2800" b="1" i="0" dirty="0">
                <a:solidFill>
                  <a:srgbClr val="273239"/>
                </a:solidFill>
                <a:effectLst/>
              </a:rPr>
              <a:t>5. Connected Graph</a:t>
            </a:r>
          </a:p>
          <a:p>
            <a:pPr fontAlgn="base"/>
            <a:r>
              <a:rPr lang="en-US" sz="2800" b="0" i="0" dirty="0">
                <a:solidFill>
                  <a:srgbClr val="273239"/>
                </a:solidFill>
                <a:effectLst/>
              </a:rPr>
              <a:t>The graph in which from one node we can visit any other node in the graph is known as a connected graph. </a:t>
            </a:r>
          </a:p>
          <a:p>
            <a:pPr fontAlgn="base"/>
            <a:r>
              <a:rPr lang="en-US" sz="2800" b="1" i="0" dirty="0">
                <a:solidFill>
                  <a:srgbClr val="273239"/>
                </a:solidFill>
                <a:effectLst/>
              </a:rPr>
              <a:t>6. Disconnected Graph</a:t>
            </a:r>
          </a:p>
          <a:p>
            <a:pPr fontAlgn="base"/>
            <a:r>
              <a:rPr lang="en-US" sz="2800" b="0" i="0" dirty="0">
                <a:solidFill>
                  <a:srgbClr val="273239"/>
                </a:solidFill>
                <a:effectLst/>
              </a:rPr>
              <a:t>The graph in which at least one node is not reachable from a node is known as a disconnected graph.</a:t>
            </a:r>
          </a:p>
        </p:txBody>
      </p:sp>
      <p:pic>
        <p:nvPicPr>
          <p:cNvPr id="3074"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3970" y="3263900"/>
            <a:ext cx="5333859" cy="32806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456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7800" y="367437"/>
            <a:ext cx="11595100" cy="2246769"/>
          </a:xfrm>
          <a:prstGeom prst="rect">
            <a:avLst/>
          </a:prstGeom>
        </p:spPr>
        <p:txBody>
          <a:bodyPr wrap="square">
            <a:spAutoFit/>
          </a:bodyPr>
          <a:lstStyle/>
          <a:p>
            <a:pPr fontAlgn="base"/>
            <a:r>
              <a:rPr lang="en-US" sz="2800" b="1" i="0" dirty="0">
                <a:solidFill>
                  <a:srgbClr val="273239"/>
                </a:solidFill>
                <a:effectLst/>
              </a:rPr>
              <a:t>7. Regular Graph</a:t>
            </a:r>
          </a:p>
          <a:p>
            <a:pPr fontAlgn="base"/>
            <a:r>
              <a:rPr lang="en-US" sz="2800" b="0" i="0" dirty="0">
                <a:solidFill>
                  <a:srgbClr val="273239"/>
                </a:solidFill>
                <a:effectLst/>
              </a:rPr>
              <a:t>The graph in which the degree of every vertex is equal to K is called K regular graph.</a:t>
            </a:r>
          </a:p>
          <a:p>
            <a:pPr fontAlgn="base"/>
            <a:r>
              <a:rPr lang="en-US" sz="2800" b="1" i="0" dirty="0">
                <a:solidFill>
                  <a:srgbClr val="273239"/>
                </a:solidFill>
                <a:effectLst/>
              </a:rPr>
              <a:t>8. Complete Graph</a:t>
            </a:r>
          </a:p>
          <a:p>
            <a:pPr fontAlgn="base"/>
            <a:r>
              <a:rPr lang="en-US" sz="2800" b="0" i="0" dirty="0">
                <a:solidFill>
                  <a:srgbClr val="273239"/>
                </a:solidFill>
                <a:effectLst/>
              </a:rPr>
              <a:t>The graph in which from each node there is an edge to each other node.</a:t>
            </a:r>
          </a:p>
        </p:txBody>
      </p:sp>
      <p:pic>
        <p:nvPicPr>
          <p:cNvPr id="5" name="Picture 4"/>
          <p:cNvPicPr>
            <a:picLocks noChangeAspect="1"/>
          </p:cNvPicPr>
          <p:nvPr/>
        </p:nvPicPr>
        <p:blipFill>
          <a:blip r:embed="rId2"/>
          <a:stretch>
            <a:fillRect/>
          </a:stretch>
        </p:blipFill>
        <p:spPr>
          <a:xfrm>
            <a:off x="2832100" y="3124200"/>
            <a:ext cx="5608367" cy="3449498"/>
          </a:xfrm>
          <a:prstGeom prst="rect">
            <a:avLst/>
          </a:prstGeom>
        </p:spPr>
      </p:pic>
    </p:spTree>
    <p:extLst>
      <p:ext uri="{BB962C8B-B14F-4D97-AF65-F5344CB8AC3E}">
        <p14:creationId xmlns:p14="http://schemas.microsoft.com/office/powerpoint/2010/main" val="4231613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ChangeArrowheads="1"/>
          </p:cNvSpPr>
          <p:nvPr/>
        </p:nvSpPr>
        <p:spPr bwMode="auto">
          <a:xfrm>
            <a:off x="368300" y="282357"/>
            <a:ext cx="11531600" cy="267819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60287" rIns="0" bIns="16028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mn-lt"/>
              </a:rPr>
              <a:t>9. Cycle Graph</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mn-lt"/>
              </a:rPr>
              <a:t>The graph in which the graph is a cycle in itself, the minimum value of degree of each vertex is 2. </a:t>
            </a:r>
            <a:endParaRPr kumimoji="0" lang="en-US" altLang="en-US" sz="2800" b="1" i="0" u="none" strike="noStrike" cap="none" normalizeH="0" baseline="0" dirty="0">
              <a:ln>
                <a:noFill/>
              </a:ln>
              <a:solidFill>
                <a:srgbClr val="273239"/>
              </a:solidFill>
              <a:effectLst/>
              <a:latin typeface="+mn-l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273239"/>
                </a:solidFill>
                <a:effectLst/>
                <a:latin typeface="+mn-lt"/>
              </a:rPr>
              <a:t>10. Cyclic Graph</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mn-lt"/>
              </a:rPr>
              <a:t>A graph containing at least one cycle is known as a Cyclic graph.</a:t>
            </a:r>
            <a:endParaRPr kumimoji="0" lang="en-US" altLang="en-US" sz="2800" b="0" i="0" u="none" strike="noStrike" cap="none" normalizeH="0" baseline="0" dirty="0">
              <a:ln>
                <a:noFill/>
              </a:ln>
              <a:solidFill>
                <a:schemeClr val="tx1"/>
              </a:solidFill>
              <a:effectLst/>
              <a:latin typeface="+mn-l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a:rPr>
              <a:t>  </a:t>
            </a:r>
            <a:endParaRPr kumimoji="0" lang="en-US" altLang="en-US" sz="26400" b="0" i="0" u="none" strike="noStrike" cap="none" normalizeH="0" baseline="0" dirty="0">
              <a:ln>
                <a:noFill/>
              </a:ln>
              <a:solidFill>
                <a:srgbClr val="273239"/>
              </a:solidFill>
              <a:effectLst/>
              <a:latin typeface="Nunito"/>
            </a:endParaRPr>
          </a:p>
        </p:txBody>
      </p:sp>
      <p:pic>
        <p:nvPicPr>
          <p:cNvPr id="4098" name="Picture 2" descr="https://media.geeksforgeeks.org/wp-content/uploads/20200630122225/cyclic.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1" y="3098801"/>
            <a:ext cx="5581628" cy="34330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178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6536" y="89927"/>
            <a:ext cx="11650663" cy="2246769"/>
          </a:xfrm>
          <a:prstGeom prst="rect">
            <a:avLst/>
          </a:prstGeom>
        </p:spPr>
        <p:txBody>
          <a:bodyPr wrap="square">
            <a:spAutoFit/>
          </a:bodyPr>
          <a:lstStyle/>
          <a:p>
            <a:pPr fontAlgn="base"/>
            <a:r>
              <a:rPr lang="en-US" sz="2800" b="1" i="0" dirty="0">
                <a:solidFill>
                  <a:srgbClr val="273239"/>
                </a:solidFill>
                <a:effectLst/>
              </a:rPr>
              <a:t>11. Directed Acyclic Graph</a:t>
            </a:r>
          </a:p>
          <a:p>
            <a:pPr fontAlgn="base"/>
            <a:r>
              <a:rPr lang="en-US" sz="2800" b="0" i="0" dirty="0">
                <a:solidFill>
                  <a:srgbClr val="273239"/>
                </a:solidFill>
                <a:effectLst/>
              </a:rPr>
              <a:t>A Directed Graph that does not contain any cycle. </a:t>
            </a:r>
          </a:p>
          <a:p>
            <a:pPr fontAlgn="base"/>
            <a:r>
              <a:rPr lang="en-US" sz="2800" b="1" i="0" dirty="0">
                <a:solidFill>
                  <a:srgbClr val="273239"/>
                </a:solidFill>
                <a:effectLst/>
              </a:rPr>
              <a:t>12. Bipartite Graph</a:t>
            </a:r>
          </a:p>
          <a:p>
            <a:pPr fontAlgn="base"/>
            <a:r>
              <a:rPr lang="en-US" sz="2800" b="0" i="0" dirty="0">
                <a:solidFill>
                  <a:srgbClr val="273239"/>
                </a:solidFill>
                <a:effectLst/>
              </a:rPr>
              <a:t>A graph in which vertex can be divided into two sets such that vertex in each set does not contain any edge between them.</a:t>
            </a:r>
          </a:p>
        </p:txBody>
      </p:sp>
      <p:pic>
        <p:nvPicPr>
          <p:cNvPr id="5122" name="Picture 2"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1475" y="2336697"/>
            <a:ext cx="3971925" cy="244298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36536" y="4611231"/>
            <a:ext cx="10544188" cy="2246769"/>
          </a:xfrm>
          <a:prstGeom prst="rect">
            <a:avLst/>
          </a:prstGeom>
        </p:spPr>
        <p:txBody>
          <a:bodyPr wrap="square">
            <a:spAutoFit/>
          </a:bodyPr>
          <a:lstStyle/>
          <a:p>
            <a:pPr fontAlgn="base"/>
            <a:r>
              <a:rPr lang="en-US" sz="2800" b="1" i="0" dirty="0">
                <a:solidFill>
                  <a:srgbClr val="273239"/>
                </a:solidFill>
                <a:effectLst/>
              </a:rPr>
              <a:t>13. Weighted Graph</a:t>
            </a:r>
          </a:p>
          <a:p>
            <a:pPr fontAlgn="base">
              <a:buFont typeface="Arial" panose="020B0604020202020204" pitchFamily="34" charset="0"/>
              <a:buChar char="•"/>
            </a:pPr>
            <a:r>
              <a:rPr lang="en-US" sz="2800" b="1" i="0" dirty="0">
                <a:solidFill>
                  <a:srgbClr val="273239"/>
                </a:solidFill>
                <a:effectLst/>
              </a:rPr>
              <a:t> </a:t>
            </a:r>
            <a:r>
              <a:rPr lang="en-US" sz="2800" b="0" i="0" dirty="0">
                <a:solidFill>
                  <a:srgbClr val="273239"/>
                </a:solidFill>
                <a:effectLst/>
              </a:rPr>
              <a:t>A graph in which the edges are already specified with suitable weight is known as a weighted graph. </a:t>
            </a:r>
          </a:p>
          <a:p>
            <a:pPr fontAlgn="base">
              <a:buFont typeface="Arial" panose="020B0604020202020204" pitchFamily="34" charset="0"/>
              <a:buChar char="•"/>
            </a:pPr>
            <a:r>
              <a:rPr lang="en-US" sz="2800" b="0" i="0" dirty="0">
                <a:solidFill>
                  <a:srgbClr val="273239"/>
                </a:solidFill>
                <a:effectLst/>
              </a:rPr>
              <a:t> Weighted graphs can be further classified as directed weighted graphs and undirected weighted graphs. </a:t>
            </a:r>
          </a:p>
        </p:txBody>
      </p:sp>
    </p:spTree>
    <p:extLst>
      <p:ext uri="{BB962C8B-B14F-4D97-AF65-F5344CB8AC3E}">
        <p14:creationId xmlns:p14="http://schemas.microsoft.com/office/powerpoint/2010/main" val="1417694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500062"/>
            <a:ext cx="10515600" cy="1325563"/>
          </a:xfrm>
        </p:spPr>
        <p:txBody>
          <a:bodyPr/>
          <a:lstStyle/>
          <a:p>
            <a:pPr algn="ctr"/>
            <a:r>
              <a:rPr lang="en-US" dirty="0"/>
              <a:t>Graph Theory Algorithms</a:t>
            </a:r>
          </a:p>
        </p:txBody>
      </p:sp>
      <p:sp>
        <p:nvSpPr>
          <p:cNvPr id="3" name="Content Placeholder 2"/>
          <p:cNvSpPr>
            <a:spLocks noGrp="1"/>
          </p:cNvSpPr>
          <p:nvPr>
            <p:ph idx="1"/>
          </p:nvPr>
        </p:nvSpPr>
        <p:spPr/>
        <p:txBody>
          <a:bodyPr>
            <a:normAutofit fontScale="62500" lnSpcReduction="20000"/>
          </a:bodyPr>
          <a:lstStyle/>
          <a:p>
            <a:endParaRPr lang="en-US" altLang="en-US" sz="3600" dirty="0">
              <a:solidFill>
                <a:srgbClr val="1155CC"/>
              </a:solidFill>
              <a:cs typeface="Arial" panose="020B0604020202020204" pitchFamily="34" charset="0"/>
              <a:hlinkClick r:id="rId2"/>
            </a:endParaRPr>
          </a:p>
          <a:p>
            <a:r>
              <a:rPr lang="en-US" altLang="en-US" sz="3600" dirty="0">
                <a:solidFill>
                  <a:srgbClr val="1155CC"/>
                </a:solidFill>
                <a:cs typeface="Arial" panose="020B0604020202020204" pitchFamily="34" charset="0"/>
                <a:hlinkClick r:id="rId2"/>
              </a:rPr>
              <a:t>https://www.youtube.com/watch?v=eQA-m22wjTQ</a:t>
            </a:r>
            <a:r>
              <a:rPr lang="en-US" altLang="en-US" sz="3600" dirty="0"/>
              <a:t> </a:t>
            </a:r>
          </a:p>
          <a:p>
            <a:r>
              <a:rPr lang="en-US" sz="3600" dirty="0"/>
              <a:t>Graph Theory Introduction</a:t>
            </a:r>
            <a:endParaRPr lang="en-US" sz="3600" dirty="0">
              <a:hlinkClick r:id="rId3"/>
            </a:endParaRPr>
          </a:p>
          <a:p>
            <a:r>
              <a:rPr lang="en-US" sz="3300" dirty="0">
                <a:hlinkClick r:id="rId3"/>
              </a:rPr>
              <a:t>https://www.youtube.com/watch?v=j0OUwduDOS0</a:t>
            </a:r>
            <a:endParaRPr lang="en-US" sz="3300" dirty="0"/>
          </a:p>
          <a:p>
            <a:r>
              <a:rPr lang="en-US" sz="3300" dirty="0"/>
              <a:t>Shortest Path Algorithms - Dijkstra's &amp; Bellman-Ford</a:t>
            </a:r>
          </a:p>
          <a:p>
            <a:r>
              <a:rPr lang="en-US" sz="3300" dirty="0"/>
              <a:t>Dijkstra's Algorithm</a:t>
            </a:r>
          </a:p>
          <a:p>
            <a:r>
              <a:rPr lang="en-US" sz="3300" dirty="0">
                <a:hlinkClick r:id="rId4"/>
              </a:rPr>
              <a:t>https://www.youtube.com/watch?v=EFg3u_E6eHU</a:t>
            </a:r>
            <a:endParaRPr lang="en-US" sz="3300" dirty="0"/>
          </a:p>
          <a:p>
            <a:r>
              <a:rPr lang="en-US" sz="3300" dirty="0"/>
              <a:t>How Dijkstra's Algorithm Works</a:t>
            </a:r>
          </a:p>
          <a:p>
            <a:r>
              <a:rPr lang="en-US" sz="3300" dirty="0"/>
              <a:t>Bellman-Ford algorithm</a:t>
            </a:r>
          </a:p>
          <a:p>
            <a:r>
              <a:rPr lang="en-US" sz="3300" dirty="0" err="1"/>
              <a:t>Borůvka’s</a:t>
            </a:r>
            <a:r>
              <a:rPr lang="en-US" sz="3300" dirty="0"/>
              <a:t> algorithm</a:t>
            </a:r>
          </a:p>
          <a:p>
            <a:r>
              <a:rPr lang="en-US" sz="3300" dirty="0"/>
              <a:t>Ford–Fulkerson algorithm</a:t>
            </a:r>
          </a:p>
          <a:p>
            <a:r>
              <a:rPr lang="en-US" sz="3300" dirty="0"/>
              <a:t>Edmonds–Karp algorithm and many more</a:t>
            </a:r>
            <a:r>
              <a:rPr lang="en-US" dirty="0"/>
              <a:t>.</a:t>
            </a:r>
          </a:p>
          <a:p>
            <a:endParaRPr lang="en-US" dirty="0"/>
          </a:p>
        </p:txBody>
      </p:sp>
    </p:spTree>
    <p:extLst>
      <p:ext uri="{BB962C8B-B14F-4D97-AF65-F5344CB8AC3E}">
        <p14:creationId xmlns:p14="http://schemas.microsoft.com/office/powerpoint/2010/main" val="706089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0669"/>
            <a:ext cx="10515600" cy="1325563"/>
          </a:xfrm>
        </p:spPr>
        <p:txBody>
          <a:bodyPr/>
          <a:lstStyle/>
          <a:p>
            <a:r>
              <a:rPr lang="en-US" b="1" u="sng" dirty="0"/>
              <a:t>Representation of Graph Data Structure:</a:t>
            </a:r>
            <a:endParaRPr lang="en-US" dirty="0"/>
          </a:p>
        </p:txBody>
      </p:sp>
      <p:sp>
        <p:nvSpPr>
          <p:cNvPr id="4" name="Rectangle 1"/>
          <p:cNvSpPr>
            <a:spLocks noChangeArrowheads="1"/>
          </p:cNvSpPr>
          <p:nvPr/>
        </p:nvSpPr>
        <p:spPr bwMode="auto">
          <a:xfrm>
            <a:off x="461962" y="1223527"/>
            <a:ext cx="11268076" cy="34470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mn-lt"/>
              </a:rPr>
              <a:t>There are multiple ways to store a graph: The following are the most common representations.</a:t>
            </a:r>
            <a:endParaRPr kumimoji="0" lang="en-US" altLang="en-US" sz="2800" b="0" i="0" u="none" strike="noStrike" cap="none" normalizeH="0" baseline="0" dirty="0">
              <a:ln>
                <a:noFill/>
              </a:ln>
              <a:solidFill>
                <a:schemeClr val="tx1"/>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273239"/>
                </a:solidFill>
                <a:effectLst/>
                <a:latin typeface="+mn-lt"/>
              </a:rPr>
              <a:t>Adjacency Matrix</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rgbClr val="273239"/>
                </a:solidFill>
                <a:effectLst/>
                <a:latin typeface="+mn-lt"/>
              </a:rPr>
              <a:t>Adjacency List</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800" u="sng" dirty="0">
                <a:solidFill>
                  <a:srgbClr val="273239"/>
                </a:solidFill>
                <a:latin typeface="+mn-lt"/>
              </a:rPr>
              <a:t>Adjacency Matrix Representation of Graph Data Structure:</a:t>
            </a:r>
            <a:endParaRPr kumimoji="0" lang="en-US" altLang="en-US" sz="2800" b="1" i="0" u="none" strike="noStrike" cap="none" normalizeH="0" baseline="0" dirty="0">
              <a:ln>
                <a:noFill/>
              </a:ln>
              <a:solidFill>
                <a:srgbClr val="273239"/>
              </a:solidFill>
              <a:effectLst/>
              <a:latin typeface="+mn-l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273239"/>
                </a:solidFill>
                <a:effectLst/>
                <a:latin typeface="+mn-lt"/>
              </a:rPr>
              <a:t>In this method, the graph is stored in the form of the 2D matrix where rows and columns denote vertices. Each entry in the matrix represents the weight of the edge between those vertices.              </a:t>
            </a:r>
            <a:r>
              <a:rPr kumimoji="0" lang="en-US" altLang="en-US" sz="1300" b="0" i="0" u="none" strike="noStrike" cap="none" normalizeH="0" baseline="0" dirty="0">
                <a:ln>
                  <a:noFill/>
                </a:ln>
                <a:solidFill>
                  <a:srgbClr val="273239"/>
                </a:solidFill>
                <a:effectLst/>
                <a:latin typeface="Nunito"/>
              </a:rPr>
              <a:t>                                          </a:t>
            </a:r>
          </a:p>
        </p:txBody>
      </p:sp>
      <p:sp>
        <p:nvSpPr>
          <p:cNvPr id="5" name="AutoShape 2" descr="adjacency_mat1-(1)-copy"/>
          <p:cNvSpPr>
            <a:spLocks noChangeAspect="1" noChangeArrowheads="1"/>
          </p:cNvSpPr>
          <p:nvPr/>
        </p:nvSpPr>
        <p:spPr bwMode="auto">
          <a:xfrm>
            <a:off x="82550" y="-1400175"/>
            <a:ext cx="6829425" cy="42005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stretch>
            <a:fillRect/>
          </a:stretch>
        </p:blipFill>
        <p:spPr>
          <a:xfrm>
            <a:off x="6096000" y="4250586"/>
            <a:ext cx="4230261" cy="2601876"/>
          </a:xfrm>
          <a:prstGeom prst="rect">
            <a:avLst/>
          </a:prstGeom>
        </p:spPr>
      </p:pic>
    </p:spTree>
    <p:extLst>
      <p:ext uri="{BB962C8B-B14F-4D97-AF65-F5344CB8AC3E}">
        <p14:creationId xmlns:p14="http://schemas.microsoft.com/office/powerpoint/2010/main" val="254098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767</Words>
  <Application>Microsoft Office PowerPoint</Application>
  <PresentationFormat>Widescreen</PresentationFormat>
  <Paragraphs>56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Nunito</vt:lpstr>
      <vt:lpstr>Office Theme</vt:lpstr>
      <vt:lpstr>PowerPoint Presentation</vt:lpstr>
      <vt:lpstr>What is Graph Data Structure? </vt:lpstr>
      <vt:lpstr>Components of Graph Data Structure</vt:lpstr>
      <vt:lpstr>Types Of Graphs in Data Structure and Algorithms</vt:lpstr>
      <vt:lpstr>PowerPoint Presentation</vt:lpstr>
      <vt:lpstr>PowerPoint Presentation</vt:lpstr>
      <vt:lpstr>PowerPoint Presentation</vt:lpstr>
      <vt:lpstr>PowerPoint Presentation</vt:lpstr>
      <vt:lpstr>PowerPoint Presentation</vt:lpstr>
      <vt:lpstr>Graph Theory Algorithms</vt:lpstr>
      <vt:lpstr>Representation of Graph Data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Manisha Chakraburtty</cp:lastModifiedBy>
  <cp:revision>14</cp:revision>
  <dcterms:created xsi:type="dcterms:W3CDTF">2024-11-20T00:43:36Z</dcterms:created>
  <dcterms:modified xsi:type="dcterms:W3CDTF">2026-04-03T19:15:28Z</dcterms:modified>
</cp:coreProperties>
</file>