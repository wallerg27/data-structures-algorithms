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1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D1B8C-7AA3-4DC7-A92C-47DEE82E265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687EE-2F91-4D8A-96AA-C1930020D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1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1990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Instead we must somehow mark the location as "a location that used to have something here, but no longer does."</a:t>
            </a: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endParaRPr lang="en-GB" altLang="en-US"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We might do this by using some other special value for the Number field of the record.</a:t>
            </a: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endParaRPr lang="en-GB" altLang="en-US"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 any case, a search can not stop when it reaches "a location that used to have something here". A search can only stop when it reaches a true empty spot.</a:t>
            </a: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1757943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1990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Instead we must somehow mark the location as "a location that used to have something here, but no longer does."</a:t>
            </a: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endParaRPr lang="en-GB" altLang="en-US"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We might do this by using some other special value for the Number field of the record.</a:t>
            </a: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endParaRPr lang="en-GB" altLang="en-US"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 any case, a search can not stop when it reaches "a location that used to have something here". A search can only stop when it reaches a true empty spot.</a:t>
            </a: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125881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1990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Instead we must somehow mark the location as "a location that used to have something here, but no longer does."</a:t>
            </a: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endParaRPr lang="en-GB" altLang="en-US"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We might do this by using some other special value for the Number field of the record.</a:t>
            </a: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endParaRPr lang="en-GB" altLang="en-US"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 any case, a search can not stop when it reaches "a location that used to have something here". A search can only stop when it reaches a true empty spot.</a:t>
            </a: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2777425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1990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Instead we must somehow mark the location as "a location that used to have something here, but no longer does."</a:t>
            </a: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endParaRPr lang="en-GB" altLang="en-US"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We might do this by using some other special value for the Number field of the record.</a:t>
            </a: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endParaRPr lang="en-GB" altLang="en-US"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 any case, a search can not stop when it reaches "a location that used to have something here". A search can only stop when it reaches a true empty spot.</a:t>
            </a: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700465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269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 quick summary . . .</a:t>
            </a: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93737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269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 quick summary . . .</a:t>
            </a: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3673711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269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 quick summary . . .</a:t>
            </a: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1729720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269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 quick summary . . .</a:t>
            </a: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1106298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269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 quick summary . . .</a:t>
            </a: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2464884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269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 quick summary . . .</a:t>
            </a: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532954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269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 quick summary . . .</a:t>
            </a: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872019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269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 quick summary . . .</a:t>
            </a: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2967324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181F3-0F8D-A447-042C-394752FD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>
            <a:extLst>
              <a:ext uri="{FF2B5EF4-FFF2-40B4-BE49-F238E27FC236}">
                <a16:creationId xmlns:a16="http://schemas.microsoft.com/office/drawing/2014/main" id="{FCDC7717-915D-88D2-8801-4564FA6CB8A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65750" cy="269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75"/>
              </a:spcBef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 quick summary . . .</a:t>
            </a: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205C67B-6FFB-06BC-91F5-F124A8F45135}"/>
              </a:ext>
            </a:extLst>
          </p:cNvPr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469900" y="727075"/>
            <a:ext cx="6375400" cy="3586163"/>
          </a:xfrm>
          <a:ln/>
        </p:spPr>
      </p:sp>
    </p:spTree>
    <p:extLst>
      <p:ext uri="{BB962C8B-B14F-4D97-AF65-F5344CB8AC3E}">
        <p14:creationId xmlns:p14="http://schemas.microsoft.com/office/powerpoint/2010/main" val="3655534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7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2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7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2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7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9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4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39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78B84-4DF8-485A-B871-329B5360CA0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65736-4ADC-4F17-AFE6-4CE93B7F0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76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wmf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05671"/>
            <a:ext cx="8971005" cy="53344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+mn-lt"/>
              </a:rPr>
              <a:t>Hashing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0764" y="2005461"/>
            <a:ext cx="11018881" cy="1655762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If you know the index number of a value in an array you can look it up in O(1) time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Figure out a way so that each index number is somehow related to the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Each index number can be calculated by using the value itself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Find Ada; Ada is in index 8, </a:t>
            </a:r>
            <a:r>
              <a:rPr lang="en-US" dirty="0" err="1"/>
              <a:t>mydata</a:t>
            </a:r>
            <a:r>
              <a:rPr lang="en-US" dirty="0"/>
              <a:t> = array[8], we can get Ada at 0(1) time</a:t>
            </a:r>
          </a:p>
        </p:txBody>
      </p:sp>
    </p:spTree>
    <p:extLst>
      <p:ext uri="{BB962C8B-B14F-4D97-AF65-F5344CB8AC3E}">
        <p14:creationId xmlns:p14="http://schemas.microsoft.com/office/powerpoint/2010/main" val="1605945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05671"/>
            <a:ext cx="8971005" cy="53344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+mn-lt"/>
              </a:rPr>
              <a:t>Hashing Algorithm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65725"/>
              </p:ext>
            </p:extLst>
          </p:nvPr>
        </p:nvGraphicFramePr>
        <p:xfrm>
          <a:off x="4172275" y="1150854"/>
          <a:ext cx="3708401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7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10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06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3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3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10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ASCII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ASCII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ASCII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Tablesize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Tim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Bea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Zoe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Z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Jan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J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Lou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41" name="Group 40"/>
          <p:cNvGrpSpPr/>
          <p:nvPr/>
        </p:nvGrpSpPr>
        <p:grpSpPr>
          <a:xfrm>
            <a:off x="1341004" y="3661223"/>
            <a:ext cx="10058400" cy="1362075"/>
            <a:chOff x="1524000" y="3328859"/>
            <a:chExt cx="10058400" cy="1362075"/>
          </a:xfrm>
        </p:grpSpPr>
        <p:sp>
          <p:nvSpPr>
            <p:cNvPr id="21" name="TextBox 20"/>
            <p:cNvSpPr txBox="1"/>
            <p:nvPr/>
          </p:nvSpPr>
          <p:spPr>
            <a:xfrm>
              <a:off x="9963088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[9]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50616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[1]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93180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[2]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381825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[3]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30927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[4]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289405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[5]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47883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[6]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206212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[7]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90762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[8]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719665" y="3328859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[0]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816364" y="3328859"/>
              <a:ext cx="559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[10]</a:t>
              </a: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1524000" y="3771643"/>
              <a:ext cx="10058400" cy="919291"/>
              <a:chOff x="1524000" y="3771643"/>
              <a:chExt cx="10058400" cy="919291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1524000" y="3771643"/>
                <a:ext cx="10058400" cy="919291"/>
                <a:chOff x="1437502" y="3781168"/>
                <a:chExt cx="10058400" cy="919291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6923902" y="3786059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4180702" y="3786059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5095102" y="3786059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6009502" y="3786059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 7"/>
                <p:cNvSpPr/>
                <p:nvPr/>
              </p:nvSpPr>
              <p:spPr>
                <a:xfrm>
                  <a:off x="2351902" y="3786059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1437502" y="3786059"/>
                  <a:ext cx="914400" cy="90950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7838302" y="3781168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3266302" y="3786059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8752702" y="3786059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9667102" y="3781168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1626840" y="4053702"/>
                  <a:ext cx="535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Bae</a:t>
                  </a: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2541240" y="4062970"/>
                  <a:ext cx="11079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Tim	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3455640" y="4062970"/>
                  <a:ext cx="5196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Leo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4279475" y="4053702"/>
                  <a:ext cx="5854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Sam</a:t>
                  </a: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5284440" y="4053702"/>
                  <a:ext cx="5453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Mia</a:t>
                  </a:r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>
                  <a:off x="10581502" y="3781168"/>
                  <a:ext cx="914400" cy="914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" name="TextBox 33"/>
              <p:cNvSpPr txBox="1"/>
              <p:nvPr/>
            </p:nvSpPr>
            <p:spPr>
              <a:xfrm>
                <a:off x="6285338" y="4053445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Zoe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7173093" y="4042720"/>
                <a:ext cx="490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Jan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8093478" y="4053445"/>
                <a:ext cx="5261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Lou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8988170" y="4053445"/>
                <a:ext cx="5897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9942938" y="4053445"/>
                <a:ext cx="5501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Ada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0857338" y="4042720"/>
                <a:ext cx="5136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Ted</a:t>
                </a:r>
              </a:p>
            </p:txBody>
          </p:sp>
        </p:grpSp>
      </p:grpSp>
      <p:sp>
        <p:nvSpPr>
          <p:cNvPr id="42" name="Subtitle 2"/>
          <p:cNvSpPr>
            <a:spLocks noGrp="1"/>
          </p:cNvSpPr>
          <p:nvPr>
            <p:ph type="subTitle" idx="1"/>
          </p:nvPr>
        </p:nvSpPr>
        <p:spPr>
          <a:xfrm>
            <a:off x="592901" y="5432147"/>
            <a:ext cx="11018881" cy="726817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Each person can be the object /instance of a class and you can store all variables and functions associated with that object.</a:t>
            </a:r>
          </a:p>
        </p:txBody>
      </p:sp>
    </p:spTree>
    <p:extLst>
      <p:ext uri="{BB962C8B-B14F-4D97-AF65-F5344CB8AC3E}">
        <p14:creationId xmlns:p14="http://schemas.microsoft.com/office/powerpoint/2010/main" val="182645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05671"/>
            <a:ext cx="8971005" cy="53344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+mn-lt"/>
              </a:rPr>
              <a:t>Hashing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0764" y="2005461"/>
            <a:ext cx="11018881" cy="283838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 hash function applied to a key of a very large number or a long string to transform it into an address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For numeric keys, divide the key by the number of available addresses, n, and take the remainder </a:t>
            </a:r>
          </a:p>
          <a:p>
            <a:pPr lvl="3" algn="l"/>
            <a:endParaRPr lang="en-US" dirty="0"/>
          </a:p>
          <a:p>
            <a:pPr lvl="3" algn="l"/>
            <a:r>
              <a:rPr lang="en-US" dirty="0"/>
              <a:t>			</a:t>
            </a:r>
            <a:r>
              <a:rPr lang="en-US" sz="2400" dirty="0"/>
              <a:t>Address = key Mod n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For alphanumeric keys, divide the sum of ASCII codes in a key by the number of available addresses, n, and take the remainder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There are many Hashing Algorithms to choose from depending on the nature of your data.</a:t>
            </a:r>
          </a:p>
        </p:txBody>
      </p:sp>
    </p:spTree>
    <p:extLst>
      <p:ext uri="{BB962C8B-B14F-4D97-AF65-F5344CB8AC3E}">
        <p14:creationId xmlns:p14="http://schemas.microsoft.com/office/powerpoint/2010/main" val="173077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5324476" y="2316163"/>
            <a:ext cx="1222375" cy="185261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>
                <a:solidFill>
                  <a:schemeClr val="bg2"/>
                </a:solidFill>
              </a:rPr>
              <a:t>H(X) =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>
                <a:solidFill>
                  <a:schemeClr val="bg2"/>
                </a:solidFill>
              </a:rPr>
              <a:t>xmod 10</a:t>
            </a:r>
          </a:p>
        </p:txBody>
      </p:sp>
      <p:sp>
        <p:nvSpPr>
          <p:cNvPr id="27652" name="Line 16"/>
          <p:cNvSpPr>
            <a:spLocks noChangeShapeType="1"/>
          </p:cNvSpPr>
          <p:nvPr/>
        </p:nvSpPr>
        <p:spPr bwMode="auto">
          <a:xfrm>
            <a:off x="6600825" y="3357563"/>
            <a:ext cx="719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7653" name="Line 17"/>
          <p:cNvSpPr>
            <a:spLocks noChangeShapeType="1"/>
          </p:cNvSpPr>
          <p:nvPr/>
        </p:nvSpPr>
        <p:spPr bwMode="auto">
          <a:xfrm>
            <a:off x="3943351" y="3392488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7654" name="Rectangle 18"/>
          <p:cNvSpPr>
            <a:spLocks noChangeArrowheads="1"/>
          </p:cNvSpPr>
          <p:nvPr/>
        </p:nvSpPr>
        <p:spPr bwMode="auto">
          <a:xfrm>
            <a:off x="2279651" y="3860801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40</a:t>
            </a:r>
            <a:endParaRPr lang="en-US" altLang="en-US" sz="1800"/>
          </a:p>
        </p:txBody>
      </p:sp>
      <p:sp>
        <p:nvSpPr>
          <p:cNvPr id="27655" name="Rectangle 19"/>
          <p:cNvSpPr>
            <a:spLocks noChangeArrowheads="1"/>
          </p:cNvSpPr>
          <p:nvPr/>
        </p:nvSpPr>
        <p:spPr bwMode="auto">
          <a:xfrm>
            <a:off x="2279651" y="3429001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30</a:t>
            </a:r>
            <a:endParaRPr lang="en-US" altLang="en-US" sz="1800"/>
          </a:p>
        </p:txBody>
      </p:sp>
      <p:sp>
        <p:nvSpPr>
          <p:cNvPr id="27656" name="Rectangle 20"/>
          <p:cNvSpPr>
            <a:spLocks noChangeArrowheads="1"/>
          </p:cNvSpPr>
          <p:nvPr/>
        </p:nvSpPr>
        <p:spPr bwMode="auto">
          <a:xfrm>
            <a:off x="2279651" y="2997201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20</a:t>
            </a:r>
            <a:endParaRPr lang="en-US" altLang="en-US" sz="1800"/>
          </a:p>
        </p:txBody>
      </p:sp>
      <p:sp>
        <p:nvSpPr>
          <p:cNvPr id="27657" name="Rectangle 21"/>
          <p:cNvSpPr>
            <a:spLocks noChangeArrowheads="1"/>
          </p:cNvSpPr>
          <p:nvPr/>
        </p:nvSpPr>
        <p:spPr bwMode="auto">
          <a:xfrm>
            <a:off x="2279651" y="2565401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10</a:t>
            </a:r>
            <a:endParaRPr lang="en-US" altLang="en-US" sz="1800"/>
          </a:p>
        </p:txBody>
      </p:sp>
      <p:sp>
        <p:nvSpPr>
          <p:cNvPr id="27658" name="Text Box 22"/>
          <p:cNvSpPr txBox="1">
            <a:spLocks noChangeArrowheads="1"/>
          </p:cNvSpPr>
          <p:nvPr/>
        </p:nvSpPr>
        <p:spPr bwMode="auto">
          <a:xfrm>
            <a:off x="2981326" y="2205039"/>
            <a:ext cx="784487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Items</a:t>
            </a:r>
          </a:p>
        </p:txBody>
      </p:sp>
      <p:sp>
        <p:nvSpPr>
          <p:cNvPr id="27659" name="Text Box 23"/>
          <p:cNvSpPr txBox="1">
            <a:spLocks noChangeArrowheads="1"/>
          </p:cNvSpPr>
          <p:nvPr/>
        </p:nvSpPr>
        <p:spPr bwMode="auto">
          <a:xfrm>
            <a:off x="8543926" y="987425"/>
            <a:ext cx="810135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Hash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Table</a:t>
            </a:r>
          </a:p>
        </p:txBody>
      </p:sp>
      <p:sp>
        <p:nvSpPr>
          <p:cNvPr id="27660" name="Text Box 24"/>
          <p:cNvSpPr txBox="1">
            <a:spLocks noChangeArrowheads="1"/>
          </p:cNvSpPr>
          <p:nvPr/>
        </p:nvSpPr>
        <p:spPr bwMode="auto">
          <a:xfrm>
            <a:off x="7032625" y="1981201"/>
            <a:ext cx="54083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key</a:t>
            </a:r>
          </a:p>
        </p:txBody>
      </p:sp>
      <p:sp>
        <p:nvSpPr>
          <p:cNvPr id="27661" name="Rectangle 36"/>
          <p:cNvSpPr>
            <a:spLocks noChangeArrowheads="1"/>
          </p:cNvSpPr>
          <p:nvPr/>
        </p:nvSpPr>
        <p:spPr bwMode="auto">
          <a:xfrm>
            <a:off x="7823201" y="4868863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7662" name="Rectangle 37"/>
          <p:cNvSpPr>
            <a:spLocks noChangeArrowheads="1"/>
          </p:cNvSpPr>
          <p:nvPr/>
        </p:nvSpPr>
        <p:spPr bwMode="auto">
          <a:xfrm>
            <a:off x="7823201" y="4508501"/>
            <a:ext cx="2233613" cy="360363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7663" name="Text Box 38"/>
          <p:cNvSpPr txBox="1">
            <a:spLocks noChangeArrowheads="1"/>
          </p:cNvSpPr>
          <p:nvPr/>
        </p:nvSpPr>
        <p:spPr bwMode="auto">
          <a:xfrm>
            <a:off x="7535863" y="1628776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0</a:t>
            </a:r>
          </a:p>
        </p:txBody>
      </p:sp>
      <p:sp>
        <p:nvSpPr>
          <p:cNvPr id="27664" name="Text Box 39"/>
          <p:cNvSpPr txBox="1">
            <a:spLocks noChangeArrowheads="1"/>
          </p:cNvSpPr>
          <p:nvPr/>
        </p:nvSpPr>
        <p:spPr bwMode="auto">
          <a:xfrm>
            <a:off x="7535863" y="1982789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1</a:t>
            </a:r>
          </a:p>
        </p:txBody>
      </p:sp>
      <p:sp>
        <p:nvSpPr>
          <p:cNvPr id="27665" name="Text Box 40"/>
          <p:cNvSpPr txBox="1">
            <a:spLocks noChangeArrowheads="1"/>
          </p:cNvSpPr>
          <p:nvPr/>
        </p:nvSpPr>
        <p:spPr bwMode="auto">
          <a:xfrm>
            <a:off x="7535863" y="2341564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27666" name="Text Box 41"/>
          <p:cNvSpPr txBox="1">
            <a:spLocks noChangeArrowheads="1"/>
          </p:cNvSpPr>
          <p:nvPr/>
        </p:nvSpPr>
        <p:spPr bwMode="auto">
          <a:xfrm>
            <a:off x="7535863" y="2701926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27667" name="Text Box 42"/>
          <p:cNvSpPr txBox="1">
            <a:spLocks noChangeArrowheads="1"/>
          </p:cNvSpPr>
          <p:nvPr/>
        </p:nvSpPr>
        <p:spPr bwMode="auto">
          <a:xfrm>
            <a:off x="7535863" y="3068639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27668" name="Text Box 43"/>
          <p:cNvSpPr txBox="1">
            <a:spLocks noChangeArrowheads="1"/>
          </p:cNvSpPr>
          <p:nvPr/>
        </p:nvSpPr>
        <p:spPr bwMode="auto">
          <a:xfrm>
            <a:off x="7554913" y="3422651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27669" name="Text Box 44"/>
          <p:cNvSpPr txBox="1">
            <a:spLocks noChangeArrowheads="1"/>
          </p:cNvSpPr>
          <p:nvPr/>
        </p:nvSpPr>
        <p:spPr bwMode="auto">
          <a:xfrm>
            <a:off x="7554913" y="3781426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27670" name="Text Box 45"/>
          <p:cNvSpPr txBox="1">
            <a:spLocks noChangeArrowheads="1"/>
          </p:cNvSpPr>
          <p:nvPr/>
        </p:nvSpPr>
        <p:spPr bwMode="auto">
          <a:xfrm>
            <a:off x="7554913" y="4141789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27671" name="Text Box 46"/>
          <p:cNvSpPr txBox="1">
            <a:spLocks noChangeArrowheads="1"/>
          </p:cNvSpPr>
          <p:nvPr/>
        </p:nvSpPr>
        <p:spPr bwMode="auto">
          <a:xfrm>
            <a:off x="7535863" y="4502151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27672" name="Text Box 47"/>
          <p:cNvSpPr txBox="1">
            <a:spLocks noChangeArrowheads="1"/>
          </p:cNvSpPr>
          <p:nvPr/>
        </p:nvSpPr>
        <p:spPr bwMode="auto">
          <a:xfrm>
            <a:off x="7535863" y="4868864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27673" name="Rectangle 48"/>
          <p:cNvSpPr>
            <a:spLocks noChangeArrowheads="1"/>
          </p:cNvSpPr>
          <p:nvPr/>
        </p:nvSpPr>
        <p:spPr bwMode="auto">
          <a:xfrm>
            <a:off x="7823201" y="4149726"/>
            <a:ext cx="2233613" cy="360363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7674" name="Rectangle 49"/>
          <p:cNvSpPr>
            <a:spLocks noChangeArrowheads="1"/>
          </p:cNvSpPr>
          <p:nvPr/>
        </p:nvSpPr>
        <p:spPr bwMode="auto">
          <a:xfrm>
            <a:off x="7823201" y="3789363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675" name="Rectangle 50"/>
          <p:cNvSpPr>
            <a:spLocks noChangeArrowheads="1"/>
          </p:cNvSpPr>
          <p:nvPr/>
        </p:nvSpPr>
        <p:spPr bwMode="auto">
          <a:xfrm>
            <a:off x="7823201" y="3427413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7676" name="Rectangle 51"/>
          <p:cNvSpPr>
            <a:spLocks noChangeArrowheads="1"/>
          </p:cNvSpPr>
          <p:nvPr/>
        </p:nvSpPr>
        <p:spPr bwMode="auto">
          <a:xfrm>
            <a:off x="7823201" y="3068638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7677" name="Rectangle 52"/>
          <p:cNvSpPr>
            <a:spLocks noChangeArrowheads="1"/>
          </p:cNvSpPr>
          <p:nvPr/>
        </p:nvSpPr>
        <p:spPr bwMode="auto">
          <a:xfrm>
            <a:off x="7823201" y="2708276"/>
            <a:ext cx="2233613" cy="360363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678" name="Rectangle 53"/>
          <p:cNvSpPr>
            <a:spLocks noChangeArrowheads="1"/>
          </p:cNvSpPr>
          <p:nvPr/>
        </p:nvSpPr>
        <p:spPr bwMode="auto">
          <a:xfrm>
            <a:off x="7823201" y="2347913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7679" name="Rectangle 54"/>
          <p:cNvSpPr>
            <a:spLocks noChangeArrowheads="1"/>
          </p:cNvSpPr>
          <p:nvPr/>
        </p:nvSpPr>
        <p:spPr bwMode="auto">
          <a:xfrm>
            <a:off x="7823201" y="1989138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7680" name="Rectangle 55"/>
          <p:cNvSpPr>
            <a:spLocks noChangeArrowheads="1"/>
          </p:cNvSpPr>
          <p:nvPr/>
        </p:nvSpPr>
        <p:spPr bwMode="auto">
          <a:xfrm>
            <a:off x="7823201" y="1628776"/>
            <a:ext cx="2233613" cy="360363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7682" name="Rectangle 19"/>
          <p:cNvSpPr>
            <a:spLocks noChangeArrowheads="1"/>
          </p:cNvSpPr>
          <p:nvPr/>
        </p:nvSpPr>
        <p:spPr bwMode="auto">
          <a:xfrm>
            <a:off x="2278063" y="4294188"/>
            <a:ext cx="22336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50</a:t>
            </a:r>
            <a:endParaRPr lang="en-US" altLang="en-US" sz="1800"/>
          </a:p>
        </p:txBody>
      </p:sp>
      <p:sp>
        <p:nvSpPr>
          <p:cNvPr id="27683" name="Rectangle 18"/>
          <p:cNvSpPr>
            <a:spLocks noChangeArrowheads="1"/>
          </p:cNvSpPr>
          <p:nvPr/>
        </p:nvSpPr>
        <p:spPr bwMode="auto">
          <a:xfrm>
            <a:off x="2252663" y="4711701"/>
            <a:ext cx="22336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60</a:t>
            </a:r>
            <a:endParaRPr lang="en-US" altLang="en-US" sz="1800"/>
          </a:p>
        </p:txBody>
      </p:sp>
      <p:sp>
        <p:nvSpPr>
          <p:cNvPr id="27684" name="Rectangle 18"/>
          <p:cNvSpPr>
            <a:spLocks noChangeArrowheads="1"/>
          </p:cNvSpPr>
          <p:nvPr/>
        </p:nvSpPr>
        <p:spPr bwMode="auto">
          <a:xfrm>
            <a:off x="2286001" y="5102226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70</a:t>
            </a:r>
            <a:endParaRPr lang="en-US" altLang="en-US" sz="1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8F30D1-8C1B-AEC9-355E-1F7EEBDD2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5537199"/>
            <a:ext cx="3675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H(X) =  X % TS</a:t>
            </a:r>
          </a:p>
        </p:txBody>
      </p:sp>
    </p:spTree>
    <p:extLst>
      <p:ext uri="{BB962C8B-B14F-4D97-AF65-F5344CB8AC3E}">
        <p14:creationId xmlns:p14="http://schemas.microsoft.com/office/powerpoint/2010/main" val="62625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8675" name="Rectangle 5"/>
          <p:cNvSpPr>
            <a:spLocks noChangeArrowheads="1"/>
          </p:cNvSpPr>
          <p:nvPr/>
        </p:nvSpPr>
        <p:spPr bwMode="auto">
          <a:xfrm>
            <a:off x="5324476" y="2316163"/>
            <a:ext cx="1222375" cy="185261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>
                <a:solidFill>
                  <a:schemeClr val="bg2"/>
                </a:solidFill>
              </a:rPr>
              <a:t>H(X) =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>
                <a:solidFill>
                  <a:schemeClr val="bg2"/>
                </a:solidFill>
              </a:rPr>
              <a:t>xmod 10</a:t>
            </a:r>
          </a:p>
        </p:txBody>
      </p:sp>
      <p:sp>
        <p:nvSpPr>
          <p:cNvPr id="28676" name="Line 16"/>
          <p:cNvSpPr>
            <a:spLocks noChangeShapeType="1"/>
          </p:cNvSpPr>
          <p:nvPr/>
        </p:nvSpPr>
        <p:spPr bwMode="auto">
          <a:xfrm>
            <a:off x="6600825" y="3357563"/>
            <a:ext cx="719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8677" name="Line 17"/>
          <p:cNvSpPr>
            <a:spLocks noChangeShapeType="1"/>
          </p:cNvSpPr>
          <p:nvPr/>
        </p:nvSpPr>
        <p:spPr bwMode="auto">
          <a:xfrm>
            <a:off x="3943351" y="3392488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8678" name="Rectangle 18"/>
          <p:cNvSpPr>
            <a:spLocks noChangeArrowheads="1"/>
          </p:cNvSpPr>
          <p:nvPr/>
        </p:nvSpPr>
        <p:spPr bwMode="auto">
          <a:xfrm>
            <a:off x="2279651" y="3860801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58</a:t>
            </a:r>
            <a:endParaRPr lang="en-US" altLang="en-US" sz="1800"/>
          </a:p>
        </p:txBody>
      </p:sp>
      <p:sp>
        <p:nvSpPr>
          <p:cNvPr id="28679" name="Rectangle 19"/>
          <p:cNvSpPr>
            <a:spLocks noChangeArrowheads="1"/>
          </p:cNvSpPr>
          <p:nvPr/>
        </p:nvSpPr>
        <p:spPr bwMode="auto">
          <a:xfrm>
            <a:off x="2279651" y="3429001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49</a:t>
            </a:r>
            <a:endParaRPr lang="en-US" altLang="en-US" sz="1800"/>
          </a:p>
        </p:txBody>
      </p:sp>
      <p:sp>
        <p:nvSpPr>
          <p:cNvPr id="28680" name="Rectangle 20"/>
          <p:cNvSpPr>
            <a:spLocks noChangeArrowheads="1"/>
          </p:cNvSpPr>
          <p:nvPr/>
        </p:nvSpPr>
        <p:spPr bwMode="auto">
          <a:xfrm>
            <a:off x="2279651" y="2997201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18</a:t>
            </a:r>
            <a:endParaRPr lang="en-US" altLang="en-US" sz="1800"/>
          </a:p>
        </p:txBody>
      </p:sp>
      <p:sp>
        <p:nvSpPr>
          <p:cNvPr id="28681" name="Rectangle 21"/>
          <p:cNvSpPr>
            <a:spLocks noChangeArrowheads="1"/>
          </p:cNvSpPr>
          <p:nvPr/>
        </p:nvSpPr>
        <p:spPr bwMode="auto">
          <a:xfrm>
            <a:off x="2279651" y="2565401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89</a:t>
            </a:r>
            <a:endParaRPr lang="en-US" altLang="en-US" sz="1800"/>
          </a:p>
        </p:txBody>
      </p:sp>
      <p:sp>
        <p:nvSpPr>
          <p:cNvPr id="28682" name="Text Box 22"/>
          <p:cNvSpPr txBox="1">
            <a:spLocks noChangeArrowheads="1"/>
          </p:cNvSpPr>
          <p:nvPr/>
        </p:nvSpPr>
        <p:spPr bwMode="auto">
          <a:xfrm>
            <a:off x="2981326" y="2205039"/>
            <a:ext cx="784487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Items</a:t>
            </a:r>
          </a:p>
        </p:txBody>
      </p:sp>
      <p:sp>
        <p:nvSpPr>
          <p:cNvPr id="28683" name="Text Box 23"/>
          <p:cNvSpPr txBox="1">
            <a:spLocks noChangeArrowheads="1"/>
          </p:cNvSpPr>
          <p:nvPr/>
        </p:nvSpPr>
        <p:spPr bwMode="auto">
          <a:xfrm>
            <a:off x="8543926" y="987425"/>
            <a:ext cx="810135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Hash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Table</a:t>
            </a:r>
          </a:p>
        </p:txBody>
      </p:sp>
      <p:sp>
        <p:nvSpPr>
          <p:cNvPr id="28684" name="Text Box 24"/>
          <p:cNvSpPr txBox="1">
            <a:spLocks noChangeArrowheads="1"/>
          </p:cNvSpPr>
          <p:nvPr/>
        </p:nvSpPr>
        <p:spPr bwMode="auto">
          <a:xfrm>
            <a:off x="7032625" y="1981201"/>
            <a:ext cx="54083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key</a:t>
            </a:r>
          </a:p>
        </p:txBody>
      </p:sp>
      <p:sp>
        <p:nvSpPr>
          <p:cNvPr id="28685" name="Rectangle 36"/>
          <p:cNvSpPr>
            <a:spLocks noChangeArrowheads="1"/>
          </p:cNvSpPr>
          <p:nvPr/>
        </p:nvSpPr>
        <p:spPr bwMode="auto">
          <a:xfrm>
            <a:off x="7823201" y="4868863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bg2"/>
                </a:solidFill>
              </a:rPr>
              <a:t>89</a:t>
            </a:r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8686" name="Rectangle 37"/>
          <p:cNvSpPr>
            <a:spLocks noChangeArrowheads="1"/>
          </p:cNvSpPr>
          <p:nvPr/>
        </p:nvSpPr>
        <p:spPr bwMode="auto">
          <a:xfrm>
            <a:off x="7823201" y="4508501"/>
            <a:ext cx="2233613" cy="360363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bg2"/>
                </a:solidFill>
              </a:rPr>
              <a:t>18</a:t>
            </a:r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8687" name="Text Box 38"/>
          <p:cNvSpPr txBox="1">
            <a:spLocks noChangeArrowheads="1"/>
          </p:cNvSpPr>
          <p:nvPr/>
        </p:nvSpPr>
        <p:spPr bwMode="auto">
          <a:xfrm>
            <a:off x="7535863" y="1628776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0</a:t>
            </a:r>
          </a:p>
        </p:txBody>
      </p:sp>
      <p:sp>
        <p:nvSpPr>
          <p:cNvPr id="28688" name="Text Box 39"/>
          <p:cNvSpPr txBox="1">
            <a:spLocks noChangeArrowheads="1"/>
          </p:cNvSpPr>
          <p:nvPr/>
        </p:nvSpPr>
        <p:spPr bwMode="auto">
          <a:xfrm>
            <a:off x="7535863" y="1982789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1</a:t>
            </a:r>
          </a:p>
        </p:txBody>
      </p:sp>
      <p:sp>
        <p:nvSpPr>
          <p:cNvPr id="28689" name="Text Box 40"/>
          <p:cNvSpPr txBox="1">
            <a:spLocks noChangeArrowheads="1"/>
          </p:cNvSpPr>
          <p:nvPr/>
        </p:nvSpPr>
        <p:spPr bwMode="auto">
          <a:xfrm>
            <a:off x="7535863" y="2341564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28690" name="Text Box 41"/>
          <p:cNvSpPr txBox="1">
            <a:spLocks noChangeArrowheads="1"/>
          </p:cNvSpPr>
          <p:nvPr/>
        </p:nvSpPr>
        <p:spPr bwMode="auto">
          <a:xfrm>
            <a:off x="7535863" y="2701926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28691" name="Text Box 42"/>
          <p:cNvSpPr txBox="1">
            <a:spLocks noChangeArrowheads="1"/>
          </p:cNvSpPr>
          <p:nvPr/>
        </p:nvSpPr>
        <p:spPr bwMode="auto">
          <a:xfrm>
            <a:off x="7535863" y="3068639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28692" name="Text Box 43"/>
          <p:cNvSpPr txBox="1">
            <a:spLocks noChangeArrowheads="1"/>
          </p:cNvSpPr>
          <p:nvPr/>
        </p:nvSpPr>
        <p:spPr bwMode="auto">
          <a:xfrm>
            <a:off x="7554913" y="3422651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28693" name="Text Box 44"/>
          <p:cNvSpPr txBox="1">
            <a:spLocks noChangeArrowheads="1"/>
          </p:cNvSpPr>
          <p:nvPr/>
        </p:nvSpPr>
        <p:spPr bwMode="auto">
          <a:xfrm>
            <a:off x="7554913" y="3781426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28694" name="Text Box 45"/>
          <p:cNvSpPr txBox="1">
            <a:spLocks noChangeArrowheads="1"/>
          </p:cNvSpPr>
          <p:nvPr/>
        </p:nvSpPr>
        <p:spPr bwMode="auto">
          <a:xfrm>
            <a:off x="7554913" y="4141789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28695" name="Text Box 46"/>
          <p:cNvSpPr txBox="1">
            <a:spLocks noChangeArrowheads="1"/>
          </p:cNvSpPr>
          <p:nvPr/>
        </p:nvSpPr>
        <p:spPr bwMode="auto">
          <a:xfrm>
            <a:off x="7535863" y="4502151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28696" name="Text Box 47"/>
          <p:cNvSpPr txBox="1">
            <a:spLocks noChangeArrowheads="1"/>
          </p:cNvSpPr>
          <p:nvPr/>
        </p:nvSpPr>
        <p:spPr bwMode="auto">
          <a:xfrm>
            <a:off x="7535863" y="4868864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28697" name="Rectangle 48"/>
          <p:cNvSpPr>
            <a:spLocks noChangeArrowheads="1"/>
          </p:cNvSpPr>
          <p:nvPr/>
        </p:nvSpPr>
        <p:spPr bwMode="auto">
          <a:xfrm>
            <a:off x="7823201" y="4149726"/>
            <a:ext cx="2233613" cy="360363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8698" name="Rectangle 49"/>
          <p:cNvSpPr>
            <a:spLocks noChangeArrowheads="1"/>
          </p:cNvSpPr>
          <p:nvPr/>
        </p:nvSpPr>
        <p:spPr bwMode="auto">
          <a:xfrm>
            <a:off x="7823201" y="3789363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8699" name="Rectangle 50"/>
          <p:cNvSpPr>
            <a:spLocks noChangeArrowheads="1"/>
          </p:cNvSpPr>
          <p:nvPr/>
        </p:nvSpPr>
        <p:spPr bwMode="auto">
          <a:xfrm>
            <a:off x="7823201" y="3427413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8700" name="Rectangle 51"/>
          <p:cNvSpPr>
            <a:spLocks noChangeArrowheads="1"/>
          </p:cNvSpPr>
          <p:nvPr/>
        </p:nvSpPr>
        <p:spPr bwMode="auto">
          <a:xfrm>
            <a:off x="7823201" y="3068638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8701" name="Rectangle 52"/>
          <p:cNvSpPr>
            <a:spLocks noChangeArrowheads="1"/>
          </p:cNvSpPr>
          <p:nvPr/>
        </p:nvSpPr>
        <p:spPr bwMode="auto">
          <a:xfrm>
            <a:off x="7823201" y="2708276"/>
            <a:ext cx="2233613" cy="360363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8702" name="Rectangle 53"/>
          <p:cNvSpPr>
            <a:spLocks noChangeArrowheads="1"/>
          </p:cNvSpPr>
          <p:nvPr/>
        </p:nvSpPr>
        <p:spPr bwMode="auto">
          <a:xfrm>
            <a:off x="7823201" y="2347913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bg2"/>
                </a:solidFill>
              </a:rPr>
              <a:t>9</a:t>
            </a:r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8703" name="Rectangle 54"/>
          <p:cNvSpPr>
            <a:spLocks noChangeArrowheads="1"/>
          </p:cNvSpPr>
          <p:nvPr/>
        </p:nvSpPr>
        <p:spPr bwMode="auto">
          <a:xfrm>
            <a:off x="7823201" y="1989138"/>
            <a:ext cx="2233613" cy="360362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bg2"/>
                </a:solidFill>
              </a:rPr>
              <a:t>58</a:t>
            </a:r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8704" name="Rectangle 55"/>
          <p:cNvSpPr>
            <a:spLocks noChangeArrowheads="1"/>
          </p:cNvSpPr>
          <p:nvPr/>
        </p:nvSpPr>
        <p:spPr bwMode="auto">
          <a:xfrm>
            <a:off x="7823201" y="1628776"/>
            <a:ext cx="2233613" cy="360363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bg2"/>
                </a:solidFill>
              </a:rPr>
              <a:t>49</a:t>
            </a:r>
            <a:endParaRPr lang="tr-TR" altLang="en-US">
              <a:solidFill>
                <a:schemeClr val="bg2"/>
              </a:solidFill>
            </a:endParaRPr>
          </a:p>
        </p:txBody>
      </p:sp>
      <p:sp>
        <p:nvSpPr>
          <p:cNvPr id="28706" name="Rectangle 19"/>
          <p:cNvSpPr>
            <a:spLocks noChangeArrowheads="1"/>
          </p:cNvSpPr>
          <p:nvPr/>
        </p:nvSpPr>
        <p:spPr bwMode="auto">
          <a:xfrm>
            <a:off x="2278063" y="4294188"/>
            <a:ext cx="22336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/>
              <a:t>9</a:t>
            </a:r>
            <a:endParaRPr lang="en-US" altLang="en-US" sz="1800"/>
          </a:p>
        </p:txBody>
      </p:sp>
      <p:sp>
        <p:nvSpPr>
          <p:cNvPr id="28707" name="Rectangle 18"/>
          <p:cNvSpPr>
            <a:spLocks noChangeArrowheads="1"/>
          </p:cNvSpPr>
          <p:nvPr/>
        </p:nvSpPr>
        <p:spPr bwMode="auto">
          <a:xfrm>
            <a:off x="2252663" y="4711701"/>
            <a:ext cx="223361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/>
          </a:p>
        </p:txBody>
      </p:sp>
      <p:sp>
        <p:nvSpPr>
          <p:cNvPr id="28708" name="Rectangle 18"/>
          <p:cNvSpPr>
            <a:spLocks noChangeArrowheads="1"/>
          </p:cNvSpPr>
          <p:nvPr/>
        </p:nvSpPr>
        <p:spPr bwMode="auto">
          <a:xfrm>
            <a:off x="2286001" y="5102226"/>
            <a:ext cx="22336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8F30D1-8C1B-AEC9-355E-1F7EEBDD2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1" y="5352255"/>
            <a:ext cx="3675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H(X) =  X % TS</a:t>
            </a:r>
          </a:p>
        </p:txBody>
      </p:sp>
    </p:spTree>
    <p:extLst>
      <p:ext uri="{BB962C8B-B14F-4D97-AF65-F5344CB8AC3E}">
        <p14:creationId xmlns:p14="http://schemas.microsoft.com/office/powerpoint/2010/main" val="24909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reeform 2"/>
          <p:cNvSpPr>
            <a:spLocks noChangeArrowheads="1"/>
          </p:cNvSpPr>
          <p:nvPr/>
        </p:nvSpPr>
        <p:spPr bwMode="auto">
          <a:xfrm>
            <a:off x="8342314" y="3355976"/>
            <a:ext cx="1309687" cy="2830513"/>
          </a:xfrm>
          <a:custGeom>
            <a:avLst/>
            <a:gdLst>
              <a:gd name="T0" fmla="*/ 2147483646 w 3639"/>
              <a:gd name="T1" fmla="*/ 0 h 7864"/>
              <a:gd name="T2" fmla="*/ 0 w 3639"/>
              <a:gd name="T3" fmla="*/ 2147483646 h 7864"/>
              <a:gd name="T4" fmla="*/ 2147483646 w 3639"/>
              <a:gd name="T5" fmla="*/ 2147483646 h 7864"/>
              <a:gd name="T6" fmla="*/ 2147483646 w 3639"/>
              <a:gd name="T7" fmla="*/ 2147483646 h 7864"/>
              <a:gd name="T8" fmla="*/ 2147483646 w 3639"/>
              <a:gd name="T9" fmla="*/ 2147483646 h 7864"/>
              <a:gd name="T10" fmla="*/ 2147483646 w 3639"/>
              <a:gd name="T11" fmla="*/ 2147483646 h 7864"/>
              <a:gd name="T12" fmla="*/ 2147483646 w 3639"/>
              <a:gd name="T13" fmla="*/ 0 h 78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39"/>
              <a:gd name="T22" fmla="*/ 0 h 7864"/>
              <a:gd name="T23" fmla="*/ 3639 w 3639"/>
              <a:gd name="T24" fmla="*/ 7864 h 78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39" h="7864">
                <a:moveTo>
                  <a:pt x="1473" y="0"/>
                </a:moveTo>
                <a:lnTo>
                  <a:pt x="0" y="4211"/>
                </a:lnTo>
                <a:lnTo>
                  <a:pt x="445" y="4917"/>
                </a:lnTo>
                <a:lnTo>
                  <a:pt x="189" y="5411"/>
                </a:lnTo>
                <a:lnTo>
                  <a:pt x="1067" y="7863"/>
                </a:lnTo>
                <a:lnTo>
                  <a:pt x="3638" y="5146"/>
                </a:lnTo>
                <a:lnTo>
                  <a:pt x="14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795" name="Group 27"/>
          <p:cNvGrpSpPr>
            <a:grpSpLocks/>
          </p:cNvGrpSpPr>
          <p:nvPr/>
        </p:nvGrpSpPr>
        <p:grpSpPr bwMode="auto">
          <a:xfrm>
            <a:off x="8120060" y="4014788"/>
            <a:ext cx="1311274" cy="2832099"/>
            <a:chOff x="4155" y="2529"/>
            <a:chExt cx="826" cy="1784"/>
          </a:xfrm>
        </p:grpSpPr>
        <p:sp>
          <p:nvSpPr>
            <p:cNvPr id="33807" name="Freeform 28"/>
            <p:cNvSpPr>
              <a:spLocks noChangeArrowheads="1"/>
            </p:cNvSpPr>
            <p:nvPr/>
          </p:nvSpPr>
          <p:spPr bwMode="auto">
            <a:xfrm>
              <a:off x="4155" y="2529"/>
              <a:ext cx="826" cy="1784"/>
            </a:xfrm>
            <a:custGeom>
              <a:avLst/>
              <a:gdLst>
                <a:gd name="T0" fmla="*/ 0 w 3644"/>
                <a:gd name="T1" fmla="*/ 0 h 7868"/>
                <a:gd name="T2" fmla="*/ 0 w 3644"/>
                <a:gd name="T3" fmla="*/ 0 h 7868"/>
                <a:gd name="T4" fmla="*/ 0 w 3644"/>
                <a:gd name="T5" fmla="*/ 0 h 7868"/>
                <a:gd name="T6" fmla="*/ 0 w 3644"/>
                <a:gd name="T7" fmla="*/ 0 h 7868"/>
                <a:gd name="T8" fmla="*/ 0 w 3644"/>
                <a:gd name="T9" fmla="*/ 0 h 7868"/>
                <a:gd name="T10" fmla="*/ 0 w 3644"/>
                <a:gd name="T11" fmla="*/ 0 h 7868"/>
                <a:gd name="T12" fmla="*/ 0 w 3644"/>
                <a:gd name="T13" fmla="*/ 0 h 78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44"/>
                <a:gd name="T22" fmla="*/ 0 h 7868"/>
                <a:gd name="T23" fmla="*/ 3644 w 3644"/>
                <a:gd name="T24" fmla="*/ 7868 h 78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44" h="7868">
                  <a:moveTo>
                    <a:pt x="1475" y="0"/>
                  </a:moveTo>
                  <a:lnTo>
                    <a:pt x="0" y="4213"/>
                  </a:lnTo>
                  <a:lnTo>
                    <a:pt x="445" y="4920"/>
                  </a:lnTo>
                  <a:lnTo>
                    <a:pt x="189" y="5414"/>
                  </a:lnTo>
                  <a:lnTo>
                    <a:pt x="1068" y="7867"/>
                  </a:lnTo>
                  <a:lnTo>
                    <a:pt x="3643" y="5149"/>
                  </a:lnTo>
                  <a:lnTo>
                    <a:pt x="14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8" name="AutoShape 29"/>
            <p:cNvSpPr>
              <a:spLocks noChangeArrowheads="1"/>
            </p:cNvSpPr>
            <p:nvPr/>
          </p:nvSpPr>
          <p:spPr bwMode="auto">
            <a:xfrm>
              <a:off x="4353" y="3461"/>
              <a:ext cx="357" cy="273"/>
            </a:xfrm>
            <a:prstGeom prst="roundRect">
              <a:avLst>
                <a:gd name="adj" fmla="val 34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0E0E0"/>
                </a:buClr>
                <a:buFontTx/>
                <a:buNone/>
              </a:pPr>
              <a:r>
                <a:rPr lang="en-GB" altLang="en-US" b="1">
                  <a:latin typeface="Times New Roman" panose="02020603050405020304" pitchFamily="18" charset="0"/>
                </a:rPr>
                <a:t>. . .</a:t>
              </a:r>
            </a:p>
          </p:txBody>
        </p:sp>
      </p:grpSp>
      <p:pic>
        <p:nvPicPr>
          <p:cNvPr id="33796" name="Picture 41" descr="20&#10;Collision Resolution&#10;• If, when an element is inserted, it hashes to the same&#10;value as an already inserted element, the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-19050"/>
            <a:ext cx="8924925" cy="670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AutoShape 48" descr="26&#10;Linear Probing&#10;• In linear probing, collisions are resolved by sequentially&#10;scanning an array (with wraparound) until a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3798" name="AutoShape 49" descr="27&#10;when x=49:&#10;h(49)=49%10=9 (Collision )&#10;so insert key 49 in hash-table in next&#10;possible vacant location of 9 is 0&#10; when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3799" name="AutoShape 50" descr="28&#10;Disadvantage of linear probing is :&#10;Primary Clustering problem&#10;• As long as table is big enough, a free cell can always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3800" name="AutoShape 51" descr="29&#10; Quadratic probing is a collision resolution method that eliminates the&#10;primary clustering problem take place in a lin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3801" name="AutoShape 52" descr="30&#10;solution:&#10;when x=89:&#10;h(89)=89%10=9&#10;insert key 89 in hash-table in location 9&#10;when x=18:&#10;h(18)=18%10=8&#10;insert key 18 in 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3802" name="AutoShape 53" descr="31&#10;when x=69:&#10;h(89)=69%10=9 (Collision )&#10;so use following hash function,&#10;h1(69)=(9 + 1)%10=0&#10;again collision occurs use ag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3803" name="AutoShape 54" descr="32&#10;Double Hashing&#10; To eliminate both types of clustering one way is double hashing.&#10; It involves two hash functions, h1(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3804" name="AutoShape 55" descr="33&#10; when x=49:&#10;h(49)=49%10=9 (Collision )&#10;so use following hash function,&#10;h1(49)=(9 + 1(7- 49%7))%10&#10;= (9 + (7-0) ) % 10&#10;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3805" name="AutoShape 56" descr="34&#10; 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3806" name="AutoShape 47" descr="25&#10;Open Addressing&#10;• More formally:&#10;– Cells h0(x), h1(x), h2(x), …are tried in succession&#10;where, hi(x) = (hash(x) + f(i)) ..."/>
          <p:cNvSpPr>
            <a:spLocks noChangeAspect="1" noChangeArrowheads="1"/>
          </p:cNvSpPr>
          <p:nvPr/>
        </p:nvSpPr>
        <p:spPr bwMode="auto">
          <a:xfrm>
            <a:off x="155892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3946"/>
      </p:ext>
    </p:extLst>
  </p:cSld>
  <p:clrMapOvr>
    <a:masterClrMapping/>
  </p:clrMapOvr>
  <p:transition>
    <p:pull dir="l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reeform 2"/>
          <p:cNvSpPr>
            <a:spLocks noChangeArrowheads="1"/>
          </p:cNvSpPr>
          <p:nvPr/>
        </p:nvSpPr>
        <p:spPr bwMode="auto">
          <a:xfrm>
            <a:off x="8342314" y="3355976"/>
            <a:ext cx="1309687" cy="2830513"/>
          </a:xfrm>
          <a:custGeom>
            <a:avLst/>
            <a:gdLst>
              <a:gd name="T0" fmla="*/ 2147483646 w 3639"/>
              <a:gd name="T1" fmla="*/ 0 h 7864"/>
              <a:gd name="T2" fmla="*/ 0 w 3639"/>
              <a:gd name="T3" fmla="*/ 2147483646 h 7864"/>
              <a:gd name="T4" fmla="*/ 2147483646 w 3639"/>
              <a:gd name="T5" fmla="*/ 2147483646 h 7864"/>
              <a:gd name="T6" fmla="*/ 2147483646 w 3639"/>
              <a:gd name="T7" fmla="*/ 2147483646 h 7864"/>
              <a:gd name="T8" fmla="*/ 2147483646 w 3639"/>
              <a:gd name="T9" fmla="*/ 2147483646 h 7864"/>
              <a:gd name="T10" fmla="*/ 2147483646 w 3639"/>
              <a:gd name="T11" fmla="*/ 2147483646 h 7864"/>
              <a:gd name="T12" fmla="*/ 2147483646 w 3639"/>
              <a:gd name="T13" fmla="*/ 0 h 78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39"/>
              <a:gd name="T22" fmla="*/ 0 h 7864"/>
              <a:gd name="T23" fmla="*/ 3639 w 3639"/>
              <a:gd name="T24" fmla="*/ 7864 h 78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39" h="7864">
                <a:moveTo>
                  <a:pt x="1473" y="0"/>
                </a:moveTo>
                <a:lnTo>
                  <a:pt x="0" y="4211"/>
                </a:lnTo>
                <a:lnTo>
                  <a:pt x="445" y="4917"/>
                </a:lnTo>
                <a:lnTo>
                  <a:pt x="189" y="5411"/>
                </a:lnTo>
                <a:lnTo>
                  <a:pt x="1067" y="7863"/>
                </a:lnTo>
                <a:lnTo>
                  <a:pt x="3638" y="5146"/>
                </a:lnTo>
                <a:lnTo>
                  <a:pt x="14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43" name="Group 27"/>
          <p:cNvGrpSpPr>
            <a:grpSpLocks/>
          </p:cNvGrpSpPr>
          <p:nvPr/>
        </p:nvGrpSpPr>
        <p:grpSpPr bwMode="auto">
          <a:xfrm>
            <a:off x="8120060" y="4014788"/>
            <a:ext cx="1311274" cy="2832099"/>
            <a:chOff x="4155" y="2529"/>
            <a:chExt cx="826" cy="1784"/>
          </a:xfrm>
        </p:grpSpPr>
        <p:sp>
          <p:nvSpPr>
            <p:cNvPr id="35855" name="Freeform 28"/>
            <p:cNvSpPr>
              <a:spLocks noChangeArrowheads="1"/>
            </p:cNvSpPr>
            <p:nvPr/>
          </p:nvSpPr>
          <p:spPr bwMode="auto">
            <a:xfrm>
              <a:off x="4155" y="2529"/>
              <a:ext cx="826" cy="1784"/>
            </a:xfrm>
            <a:custGeom>
              <a:avLst/>
              <a:gdLst>
                <a:gd name="T0" fmla="*/ 0 w 3644"/>
                <a:gd name="T1" fmla="*/ 0 h 7868"/>
                <a:gd name="T2" fmla="*/ 0 w 3644"/>
                <a:gd name="T3" fmla="*/ 0 h 7868"/>
                <a:gd name="T4" fmla="*/ 0 w 3644"/>
                <a:gd name="T5" fmla="*/ 0 h 7868"/>
                <a:gd name="T6" fmla="*/ 0 w 3644"/>
                <a:gd name="T7" fmla="*/ 0 h 7868"/>
                <a:gd name="T8" fmla="*/ 0 w 3644"/>
                <a:gd name="T9" fmla="*/ 0 h 7868"/>
                <a:gd name="T10" fmla="*/ 0 w 3644"/>
                <a:gd name="T11" fmla="*/ 0 h 7868"/>
                <a:gd name="T12" fmla="*/ 0 w 3644"/>
                <a:gd name="T13" fmla="*/ 0 h 78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44"/>
                <a:gd name="T22" fmla="*/ 0 h 7868"/>
                <a:gd name="T23" fmla="*/ 3644 w 3644"/>
                <a:gd name="T24" fmla="*/ 7868 h 78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44" h="7868">
                  <a:moveTo>
                    <a:pt x="1475" y="0"/>
                  </a:moveTo>
                  <a:lnTo>
                    <a:pt x="0" y="4213"/>
                  </a:lnTo>
                  <a:lnTo>
                    <a:pt x="445" y="4920"/>
                  </a:lnTo>
                  <a:lnTo>
                    <a:pt x="189" y="5414"/>
                  </a:lnTo>
                  <a:lnTo>
                    <a:pt x="1068" y="7867"/>
                  </a:lnTo>
                  <a:lnTo>
                    <a:pt x="3643" y="5149"/>
                  </a:lnTo>
                  <a:lnTo>
                    <a:pt x="14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6" name="AutoShape 29"/>
            <p:cNvSpPr>
              <a:spLocks noChangeArrowheads="1"/>
            </p:cNvSpPr>
            <p:nvPr/>
          </p:nvSpPr>
          <p:spPr bwMode="auto">
            <a:xfrm>
              <a:off x="4353" y="3461"/>
              <a:ext cx="357" cy="273"/>
            </a:xfrm>
            <a:prstGeom prst="roundRect">
              <a:avLst>
                <a:gd name="adj" fmla="val 34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0E0E0"/>
                </a:buClr>
                <a:buFontTx/>
                <a:buNone/>
              </a:pPr>
              <a:r>
                <a:rPr lang="en-GB" altLang="en-US" b="1">
                  <a:latin typeface="Times New Roman" panose="02020603050405020304" pitchFamily="18" charset="0"/>
                </a:rPr>
                <a:t>. . .</a:t>
              </a:r>
            </a:p>
          </p:txBody>
        </p:sp>
      </p:grpSp>
      <p:pic>
        <p:nvPicPr>
          <p:cNvPr id="35844" name="Picture 42" descr="21&#10;Separate Chaining&#10;• The idea is to keep a list of all elements that hash to&#10;the same value.&#10;– The array elements are po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487364"/>
            <a:ext cx="7945438" cy="596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AutoShape 48" descr="26&#10;Linear Probing&#10;• In linear probing, collisions are resolved by sequentially&#10;scanning an array (with wraparound) until a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46" name="AutoShape 49" descr="27&#10;when x=49:&#10;h(49)=49%10=9 (Collision )&#10;so insert key 49 in hash-table in next&#10;possible vacant location of 9 is 0&#10; when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47" name="AutoShape 50" descr="28&#10;Disadvantage of linear probing is :&#10;Primary Clustering problem&#10;• As long as table is big enough, a free cell can always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48" name="AutoShape 51" descr="29&#10; Quadratic probing is a collision resolution method that eliminates the&#10;primary clustering problem take place in a lin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49" name="AutoShape 52" descr="30&#10;solution:&#10;when x=89:&#10;h(89)=89%10=9&#10;insert key 89 in hash-table in location 9&#10;when x=18:&#10;h(18)=18%10=8&#10;insert key 18 in 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50" name="AutoShape 53" descr="31&#10;when x=69:&#10;h(89)=69%10=9 (Collision )&#10;so use following hash function,&#10;h1(69)=(9 + 1)%10=0&#10;again collision occurs use ag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51" name="AutoShape 54" descr="32&#10;Double Hashing&#10; To eliminate both types of clustering one way is double hashing.&#10; It involves two hash functions, h1(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52" name="AutoShape 55" descr="33&#10; when x=49:&#10;h(49)=49%10=9 (Collision )&#10;so use following hash function,&#10;h1(49)=(9 + 1(7- 49%7))%10&#10;= (9 + (7-0) ) % 10&#10;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53" name="AutoShape 56" descr="34&#10; 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54" name="AutoShape 47" descr="25&#10;Open Addressing&#10;• More formally:&#10;– Cells h0(x), h1(x), h2(x), …are tried in succession&#10;where, hi(x) = (hash(x) + f(i)) ..."/>
          <p:cNvSpPr>
            <a:spLocks noChangeAspect="1" noChangeArrowheads="1"/>
          </p:cNvSpPr>
          <p:nvPr/>
        </p:nvSpPr>
        <p:spPr bwMode="auto">
          <a:xfrm>
            <a:off x="155892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107228"/>
      </p:ext>
    </p:extLst>
  </p:cSld>
  <p:clrMapOvr>
    <a:masterClrMapping/>
  </p:clrMapOvr>
  <p:transition>
    <p:pull dir="l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reeform 2"/>
          <p:cNvSpPr>
            <a:spLocks noChangeArrowheads="1"/>
          </p:cNvSpPr>
          <p:nvPr/>
        </p:nvSpPr>
        <p:spPr bwMode="auto">
          <a:xfrm>
            <a:off x="8342314" y="3355976"/>
            <a:ext cx="1309687" cy="2830513"/>
          </a:xfrm>
          <a:custGeom>
            <a:avLst/>
            <a:gdLst>
              <a:gd name="T0" fmla="*/ 2147483646 w 3639"/>
              <a:gd name="T1" fmla="*/ 0 h 7864"/>
              <a:gd name="T2" fmla="*/ 0 w 3639"/>
              <a:gd name="T3" fmla="*/ 2147483646 h 7864"/>
              <a:gd name="T4" fmla="*/ 2147483646 w 3639"/>
              <a:gd name="T5" fmla="*/ 2147483646 h 7864"/>
              <a:gd name="T6" fmla="*/ 2147483646 w 3639"/>
              <a:gd name="T7" fmla="*/ 2147483646 h 7864"/>
              <a:gd name="T8" fmla="*/ 2147483646 w 3639"/>
              <a:gd name="T9" fmla="*/ 2147483646 h 7864"/>
              <a:gd name="T10" fmla="*/ 2147483646 w 3639"/>
              <a:gd name="T11" fmla="*/ 2147483646 h 7864"/>
              <a:gd name="T12" fmla="*/ 2147483646 w 3639"/>
              <a:gd name="T13" fmla="*/ 0 h 78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39"/>
              <a:gd name="T22" fmla="*/ 0 h 7864"/>
              <a:gd name="T23" fmla="*/ 3639 w 3639"/>
              <a:gd name="T24" fmla="*/ 7864 h 78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39" h="7864">
                <a:moveTo>
                  <a:pt x="1473" y="0"/>
                </a:moveTo>
                <a:lnTo>
                  <a:pt x="0" y="4211"/>
                </a:lnTo>
                <a:lnTo>
                  <a:pt x="445" y="4917"/>
                </a:lnTo>
                <a:lnTo>
                  <a:pt x="189" y="5411"/>
                </a:lnTo>
                <a:lnTo>
                  <a:pt x="1067" y="7863"/>
                </a:lnTo>
                <a:lnTo>
                  <a:pt x="3638" y="5146"/>
                </a:lnTo>
                <a:lnTo>
                  <a:pt x="14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1" name="Freeform 28"/>
          <p:cNvSpPr>
            <a:spLocks noChangeArrowheads="1"/>
          </p:cNvSpPr>
          <p:nvPr/>
        </p:nvSpPr>
        <p:spPr bwMode="auto">
          <a:xfrm>
            <a:off x="8120064" y="4014788"/>
            <a:ext cx="1311275" cy="2832100"/>
          </a:xfrm>
          <a:custGeom>
            <a:avLst/>
            <a:gdLst>
              <a:gd name="T0" fmla="*/ 129544 w 3644"/>
              <a:gd name="T1" fmla="*/ 0 h 7868"/>
              <a:gd name="T2" fmla="*/ 0 w 3644"/>
              <a:gd name="T3" fmla="*/ 259165 h 7868"/>
              <a:gd name="T4" fmla="*/ 0 w 3644"/>
              <a:gd name="T5" fmla="*/ 388748 h 7868"/>
              <a:gd name="T6" fmla="*/ 0 w 3644"/>
              <a:gd name="T7" fmla="*/ 388748 h 7868"/>
              <a:gd name="T8" fmla="*/ 129544 w 3644"/>
              <a:gd name="T9" fmla="*/ 647913 h 7868"/>
              <a:gd name="T10" fmla="*/ 259088 w 3644"/>
              <a:gd name="T11" fmla="*/ 388748 h 7868"/>
              <a:gd name="T12" fmla="*/ 129544 w 3644"/>
              <a:gd name="T13" fmla="*/ 0 h 78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44"/>
              <a:gd name="T22" fmla="*/ 0 h 7868"/>
              <a:gd name="T23" fmla="*/ 3644 w 3644"/>
              <a:gd name="T24" fmla="*/ 7868 h 78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44" h="7868">
                <a:moveTo>
                  <a:pt x="1475" y="0"/>
                </a:moveTo>
                <a:lnTo>
                  <a:pt x="0" y="4213"/>
                </a:lnTo>
                <a:lnTo>
                  <a:pt x="445" y="4920"/>
                </a:lnTo>
                <a:lnTo>
                  <a:pt x="189" y="5414"/>
                </a:lnTo>
                <a:lnTo>
                  <a:pt x="1068" y="7867"/>
                </a:lnTo>
                <a:lnTo>
                  <a:pt x="3643" y="5149"/>
                </a:lnTo>
                <a:lnTo>
                  <a:pt x="147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2" name="AutoShape 48" descr="26&#10;Linear Probing&#10;• In linear probing, collisions are resolved by sequentially&#10;scanning an array (with wraparound) until a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7893" name="AutoShape 49" descr="27&#10;when x=49:&#10;h(49)=49%10=9 (Collision )&#10;so insert key 49 in hash-table in next&#10;possible vacant location of 9 is 0&#10; when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7894" name="AutoShape 50" descr="28&#10;Disadvantage of linear probing is :&#10;Primary Clustering problem&#10;• As long as table is big enough, a free cell can always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7895" name="AutoShape 51" descr="29&#10; Quadratic probing is a collision resolution method that eliminates the&#10;primary clustering problem take place in a lin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7896" name="AutoShape 52" descr="30&#10;solution:&#10;when x=89:&#10;h(89)=89%10=9&#10;insert key 89 in hash-table in location 9&#10;when x=18:&#10;h(18)=18%10=8&#10;insert key 18 in 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7897" name="AutoShape 53" descr="31&#10;when x=69:&#10;h(89)=69%10=9 (Collision )&#10;so use following hash function,&#10;h1(69)=(9 + 1)%10=0&#10;again collision occurs use ag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7898" name="AutoShape 54" descr="32&#10;Double Hashing&#10; To eliminate both types of clustering one way is double hashing.&#10; It involves two hash functions, h1(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7899" name="AutoShape 55" descr="33&#10; when x=49:&#10;h(49)=49%10=9 (Collision )&#10;so use following hash function,&#10;h1(49)=(9 + 1(7- 49%7))%10&#10;= (9 + (7-0) ) % 10&#10;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7900" name="AutoShape 56" descr="34&#10; 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7901" name="AutoShape 47" descr="25&#10;Open Addressing&#10;• More formally:&#10;– Cells h0(x), h1(x), h2(x), …are tried in succession&#10;where, hi(x) = (hash(x) + f(i)) ..."/>
          <p:cNvSpPr>
            <a:spLocks noChangeAspect="1" noChangeArrowheads="1"/>
          </p:cNvSpPr>
          <p:nvPr/>
        </p:nvSpPr>
        <p:spPr bwMode="auto">
          <a:xfrm>
            <a:off x="155892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pic>
        <p:nvPicPr>
          <p:cNvPr id="37902" name="Picture 2" descr="hashChain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414" y="738189"/>
            <a:ext cx="7623175" cy="603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35125" y="136525"/>
            <a:ext cx="892175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 simple hash function as “</a:t>
            </a:r>
            <a:r>
              <a:rPr lang="en-US" b="1" dirty="0">
                <a:latin typeface="+mj-lt"/>
              </a:rPr>
              <a:t>key mod 7</a:t>
            </a:r>
            <a:r>
              <a:rPr lang="en-US" dirty="0">
                <a:latin typeface="+mj-lt"/>
              </a:rPr>
              <a:t>” and sequence of keys as 50, 700, 76, 85, 92, 73, 101.</a:t>
            </a:r>
          </a:p>
        </p:txBody>
      </p:sp>
    </p:spTree>
    <p:extLst>
      <p:ext uri="{BB962C8B-B14F-4D97-AF65-F5344CB8AC3E}">
        <p14:creationId xmlns:p14="http://schemas.microsoft.com/office/powerpoint/2010/main" val="2996945768"/>
      </p:ext>
    </p:extLst>
  </p:cSld>
  <p:clrMapOvr>
    <a:masterClrMapping/>
  </p:clrMapOvr>
  <p:transition>
    <p:pull dir="l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reeform 2"/>
          <p:cNvSpPr>
            <a:spLocks noChangeArrowheads="1"/>
          </p:cNvSpPr>
          <p:nvPr/>
        </p:nvSpPr>
        <p:spPr bwMode="auto">
          <a:xfrm>
            <a:off x="8342314" y="3355976"/>
            <a:ext cx="1309687" cy="2830513"/>
          </a:xfrm>
          <a:custGeom>
            <a:avLst/>
            <a:gdLst>
              <a:gd name="T0" fmla="*/ 2147483646 w 3639"/>
              <a:gd name="T1" fmla="*/ 0 h 7864"/>
              <a:gd name="T2" fmla="*/ 0 w 3639"/>
              <a:gd name="T3" fmla="*/ 2147483646 h 7864"/>
              <a:gd name="T4" fmla="*/ 2147483646 w 3639"/>
              <a:gd name="T5" fmla="*/ 2147483646 h 7864"/>
              <a:gd name="T6" fmla="*/ 2147483646 w 3639"/>
              <a:gd name="T7" fmla="*/ 2147483646 h 7864"/>
              <a:gd name="T8" fmla="*/ 2147483646 w 3639"/>
              <a:gd name="T9" fmla="*/ 2147483646 h 7864"/>
              <a:gd name="T10" fmla="*/ 2147483646 w 3639"/>
              <a:gd name="T11" fmla="*/ 2147483646 h 7864"/>
              <a:gd name="T12" fmla="*/ 2147483646 w 3639"/>
              <a:gd name="T13" fmla="*/ 0 h 78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39"/>
              <a:gd name="T22" fmla="*/ 0 h 7864"/>
              <a:gd name="T23" fmla="*/ 3639 w 3639"/>
              <a:gd name="T24" fmla="*/ 7864 h 78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39" h="7864">
                <a:moveTo>
                  <a:pt x="1473" y="0"/>
                </a:moveTo>
                <a:lnTo>
                  <a:pt x="0" y="4211"/>
                </a:lnTo>
                <a:lnTo>
                  <a:pt x="445" y="4917"/>
                </a:lnTo>
                <a:lnTo>
                  <a:pt x="189" y="5411"/>
                </a:lnTo>
                <a:lnTo>
                  <a:pt x="1067" y="7863"/>
                </a:lnTo>
                <a:lnTo>
                  <a:pt x="3638" y="5146"/>
                </a:lnTo>
                <a:lnTo>
                  <a:pt x="14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39" name="Group 27"/>
          <p:cNvGrpSpPr>
            <a:grpSpLocks/>
          </p:cNvGrpSpPr>
          <p:nvPr/>
        </p:nvGrpSpPr>
        <p:grpSpPr bwMode="auto">
          <a:xfrm>
            <a:off x="8120060" y="4014788"/>
            <a:ext cx="1311274" cy="2832099"/>
            <a:chOff x="4155" y="2529"/>
            <a:chExt cx="826" cy="1784"/>
          </a:xfrm>
        </p:grpSpPr>
        <p:sp>
          <p:nvSpPr>
            <p:cNvPr id="39951" name="Freeform 28"/>
            <p:cNvSpPr>
              <a:spLocks noChangeArrowheads="1"/>
            </p:cNvSpPr>
            <p:nvPr/>
          </p:nvSpPr>
          <p:spPr bwMode="auto">
            <a:xfrm>
              <a:off x="4155" y="2529"/>
              <a:ext cx="826" cy="1784"/>
            </a:xfrm>
            <a:custGeom>
              <a:avLst/>
              <a:gdLst>
                <a:gd name="T0" fmla="*/ 0 w 3644"/>
                <a:gd name="T1" fmla="*/ 0 h 7868"/>
                <a:gd name="T2" fmla="*/ 0 w 3644"/>
                <a:gd name="T3" fmla="*/ 0 h 7868"/>
                <a:gd name="T4" fmla="*/ 0 w 3644"/>
                <a:gd name="T5" fmla="*/ 0 h 7868"/>
                <a:gd name="T6" fmla="*/ 0 w 3644"/>
                <a:gd name="T7" fmla="*/ 0 h 7868"/>
                <a:gd name="T8" fmla="*/ 0 w 3644"/>
                <a:gd name="T9" fmla="*/ 0 h 7868"/>
                <a:gd name="T10" fmla="*/ 0 w 3644"/>
                <a:gd name="T11" fmla="*/ 0 h 7868"/>
                <a:gd name="T12" fmla="*/ 0 w 3644"/>
                <a:gd name="T13" fmla="*/ 0 h 78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44"/>
                <a:gd name="T22" fmla="*/ 0 h 7868"/>
                <a:gd name="T23" fmla="*/ 3644 w 3644"/>
                <a:gd name="T24" fmla="*/ 7868 h 78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44" h="7868">
                  <a:moveTo>
                    <a:pt x="1475" y="0"/>
                  </a:moveTo>
                  <a:lnTo>
                    <a:pt x="0" y="4213"/>
                  </a:lnTo>
                  <a:lnTo>
                    <a:pt x="445" y="4920"/>
                  </a:lnTo>
                  <a:lnTo>
                    <a:pt x="189" y="5414"/>
                  </a:lnTo>
                  <a:lnTo>
                    <a:pt x="1068" y="7867"/>
                  </a:lnTo>
                  <a:lnTo>
                    <a:pt x="3643" y="5149"/>
                  </a:lnTo>
                  <a:lnTo>
                    <a:pt x="14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AutoShape 29"/>
            <p:cNvSpPr>
              <a:spLocks noChangeArrowheads="1"/>
            </p:cNvSpPr>
            <p:nvPr/>
          </p:nvSpPr>
          <p:spPr bwMode="auto">
            <a:xfrm>
              <a:off x="4353" y="3461"/>
              <a:ext cx="357" cy="273"/>
            </a:xfrm>
            <a:prstGeom prst="roundRect">
              <a:avLst>
                <a:gd name="adj" fmla="val 34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10000"/>
                </a:spcBef>
                <a:spcAft>
                  <a:spcPct val="10000"/>
                </a:spcAft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0E0E0"/>
                </a:buClr>
                <a:buFontTx/>
                <a:buNone/>
              </a:pPr>
              <a:r>
                <a:rPr lang="en-GB" altLang="en-US" b="1">
                  <a:latin typeface="Times New Roman" panose="02020603050405020304" pitchFamily="18" charset="0"/>
                </a:rPr>
                <a:t>. . .</a:t>
              </a:r>
            </a:p>
          </p:txBody>
        </p:sp>
      </p:grpSp>
      <p:pic>
        <p:nvPicPr>
          <p:cNvPr id="39940" name="Picture 40" descr="19&#10;Load Factor of a Hash Table&#10;• Load factor of a hash table T:&#10; = n/m&#10;– n = number of elements stored in the table&#10;– m =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2875"/>
            <a:ext cx="8593138" cy="645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AutoShape 48" descr="26&#10;Linear Probing&#10;• In linear probing, collisions are resolved by sequentially&#10;scanning an array (with wraparound) until a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9942" name="AutoShape 49" descr="27&#10;when x=49:&#10;h(49)=49%10=9 (Collision )&#10;so insert key 49 in hash-table in next&#10;possible vacant location of 9 is 0&#10; when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9943" name="AutoShape 50" descr="28&#10;Disadvantage of linear probing is :&#10;Primary Clustering problem&#10;• As long as table is big enough, a free cell can always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9944" name="AutoShape 51" descr="29&#10; Quadratic probing is a collision resolution method that eliminates the&#10;primary clustering problem take place in a lin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9945" name="AutoShape 52" descr="30&#10;solution:&#10;when x=89:&#10;h(89)=89%10=9&#10;insert key 89 in hash-table in location 9&#10;when x=18:&#10;h(18)=18%10=8&#10;insert key 18 in 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9946" name="AutoShape 53" descr="31&#10;when x=69:&#10;h(89)=69%10=9 (Collision )&#10;so use following hash function,&#10;h1(69)=(9 + 1)%10=0&#10;again collision occurs use ag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9947" name="AutoShape 54" descr="32&#10;Double Hashing&#10; To eliminate both types of clustering one way is double hashing.&#10; It involves two hash functions, h1(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9948" name="AutoShape 55" descr="33&#10; when x=49:&#10;h(49)=49%10=9 (Collision )&#10;so use following hash function,&#10;h1(49)=(9 + 1(7- 49%7))%10&#10;= (9 + (7-0) ) % 10&#10;...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9949" name="AutoShape 56" descr="34&#10; 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9950" name="AutoShape 47" descr="25&#10;Open Addressing&#10;• More formally:&#10;– Cells h0(x), h1(x), h2(x), …are tried in succession&#10;where, hi(x) = (hash(x) + f(i)) ..."/>
          <p:cNvSpPr>
            <a:spLocks noChangeAspect="1" noChangeArrowheads="1"/>
          </p:cNvSpPr>
          <p:nvPr/>
        </p:nvSpPr>
        <p:spPr bwMode="auto">
          <a:xfrm>
            <a:off x="155892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791500"/>
      </p:ext>
    </p:extLst>
  </p:cSld>
  <p:clrMapOvr>
    <a:masterClrMapping/>
  </p:clrMapOvr>
  <p:transition>
    <p:pull dir="l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45" descr="24&#10;Collision Resolution with&#10;Open Addressing&#10;• Separate chaining has the disadvantage of using&#10;linked lists.&#10;– Requires th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0"/>
            <a:ext cx="8890000" cy="667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00783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9"/>
          <a:stretch>
            <a:fillRect/>
          </a:stretch>
        </p:blipFill>
        <p:spPr bwMode="auto">
          <a:xfrm>
            <a:off x="1565275" y="1"/>
            <a:ext cx="16256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5" name="Picture 45" descr="24&#10;Collision Resolution with&#10;Open Addressing&#10;• Separate chaining has the disadvantage of using&#10;linked lists.&#10;– Requires th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412876"/>
            <a:ext cx="607695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2" descr="25&#10;Open Addressing&#10;• More formally:&#10;– Cells h0(x), h1(x), h2(x), …are tried in succession&#10;where, hi(x) = (hash(x) + f(i))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148463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26&#10;Linear Probing&#10;• In linear probing, collisions are resolved by sequentially&#10;scanning an array (with wraparound) until a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475" y="377587"/>
            <a:ext cx="7899400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8F30D1-8C1B-AEC9-355E-1F7EEBDD2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27" y="6302137"/>
            <a:ext cx="3675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H(X) =  X % TS</a:t>
            </a:r>
          </a:p>
        </p:txBody>
      </p:sp>
    </p:spTree>
    <p:extLst>
      <p:ext uri="{BB962C8B-B14F-4D97-AF65-F5344CB8AC3E}">
        <p14:creationId xmlns:p14="http://schemas.microsoft.com/office/powerpoint/2010/main" val="259991547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9"/>
          <a:stretch>
            <a:fillRect/>
          </a:stretch>
        </p:blipFill>
        <p:spPr bwMode="auto">
          <a:xfrm>
            <a:off x="1565275" y="1"/>
            <a:ext cx="16256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1" name="Picture 45" descr="24&#10;Collision Resolution with&#10;Open Addressing&#10;• Separate chaining has the disadvantage of using&#10;linked lists.&#10;– Requires th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412876"/>
            <a:ext cx="607695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Picture 2" descr="25&#10;Open Addressing&#10;• More formally:&#10;– Cells h0(x), h1(x), h2(x), …are tried in succession&#10;where, hi(x) = (hash(x) + f(i))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-136525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Picture 2" descr="26&#10;Linear Probing&#10;• In linear probing, collisions are resolved by sequentially&#10;scanning an array (with wraparound) until a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-136525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4" name="Picture 2" descr="27&#10;when x=49:&#10;h(49)=49%10=9 (Collision )&#10;so insert key 49 in hash-table in next&#10;possible vacant location of 9 is 0&#10; when..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-136525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373969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9"/>
          <a:stretch>
            <a:fillRect/>
          </a:stretch>
        </p:blipFill>
        <p:spPr bwMode="auto">
          <a:xfrm>
            <a:off x="1565275" y="1"/>
            <a:ext cx="16256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Picture 45" descr="24&#10;Collision Resolution with&#10;Open Addressing&#10;• Separate chaining has the disadvantage of using&#10;linked lists.&#10;– Requires th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412876"/>
            <a:ext cx="607695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2" descr="25&#10;Open Addressing&#10;• More formally:&#10;– Cells h0(x), h1(x), h2(x), …are tried in succession&#10;where, hi(x) = (hash(x) + f(i))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-136525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Picture 2" descr="26&#10;Linear Probing&#10;• In linear probing, collisions are resolved by sequentially&#10;scanning an array (with wraparound) until a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-136525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2" name="Picture 2" descr="27&#10;when x=49:&#10;h(49)=49%10=9 (Collision )&#10;so insert key 49 in hash-table in next&#10;possible vacant location of 9 is 0&#10; when..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-136525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3" name="Picture 2" descr="28&#10;Disadvantage of linear probing is :&#10;Primary Clustering problem&#10;• As long as table is big enough, a free cell can always...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-136525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435878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29&#10; Quadratic probing is a collision resolution method that eliminates the&#10;primary clustering problem take place in a lin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394" y="39310"/>
            <a:ext cx="7448550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Rectangle 9"/>
          <p:cNvSpPr>
            <a:spLocks noChangeArrowheads="1"/>
          </p:cNvSpPr>
          <p:nvPr/>
        </p:nvSpPr>
        <p:spPr bwMode="auto">
          <a:xfrm>
            <a:off x="6644001" y="5891722"/>
            <a:ext cx="24673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dirty="0"/>
              <a:t>H</a:t>
            </a:r>
            <a:r>
              <a:rPr lang="en-US" altLang="en-US" sz="1800" b="1" baseline="-25000" dirty="0"/>
              <a:t>i</a:t>
            </a:r>
            <a:r>
              <a:rPr lang="en-US" altLang="en-US" sz="1800" b="1" dirty="0"/>
              <a:t>(X) = (X + (i</a:t>
            </a:r>
            <a:r>
              <a:rPr lang="en-US" altLang="en-US" sz="1800" b="1" baseline="30000" dirty="0"/>
              <a:t>2</a:t>
            </a:r>
            <a:r>
              <a:rPr lang="en-US" altLang="en-US" sz="1800" b="1" dirty="0"/>
              <a:t>)) % TS</a:t>
            </a:r>
            <a:endParaRPr lang="en-US" altLang="en-US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8F30D1-8C1B-AEC9-355E-1F7EEBDD2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597" y="5891723"/>
            <a:ext cx="3675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H(X) =  X % TS</a:t>
            </a:r>
          </a:p>
        </p:txBody>
      </p:sp>
    </p:spTree>
    <p:extLst>
      <p:ext uri="{BB962C8B-B14F-4D97-AF65-F5344CB8AC3E}">
        <p14:creationId xmlns:p14="http://schemas.microsoft.com/office/powerpoint/2010/main" val="391753672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30&#10;solution:&#10;when x=89:&#10;h(89)=89%10=9&#10;insert key 89 in hash-table in location 9&#10;when x=18:&#10;h(18)=18%10=8&#10;insert key 18 in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525" y="0"/>
            <a:ext cx="8064500" cy="604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Rectangle 9"/>
          <p:cNvSpPr>
            <a:spLocks noChangeArrowheads="1"/>
          </p:cNvSpPr>
          <p:nvPr/>
        </p:nvSpPr>
        <p:spPr bwMode="auto">
          <a:xfrm>
            <a:off x="2243138" y="6145214"/>
            <a:ext cx="3675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dirty="0"/>
              <a:t>H(X) =  X % TS</a:t>
            </a:r>
          </a:p>
        </p:txBody>
      </p:sp>
      <p:sp>
        <p:nvSpPr>
          <p:cNvPr id="54276" name="Rectangle 10"/>
          <p:cNvSpPr>
            <a:spLocks noChangeArrowheads="1"/>
          </p:cNvSpPr>
          <p:nvPr/>
        </p:nvSpPr>
        <p:spPr bwMode="auto">
          <a:xfrm>
            <a:off x="6857816" y="6129339"/>
            <a:ext cx="24673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dirty="0"/>
              <a:t>H</a:t>
            </a:r>
            <a:r>
              <a:rPr lang="en-US" altLang="en-US" sz="1800" b="1" baseline="-25000" dirty="0"/>
              <a:t>i</a:t>
            </a:r>
            <a:r>
              <a:rPr lang="en-US" altLang="en-US" sz="1800" b="1" dirty="0"/>
              <a:t>(X) = (X + (i</a:t>
            </a:r>
            <a:r>
              <a:rPr lang="en-US" altLang="en-US" sz="1800" b="1" baseline="30000" dirty="0"/>
              <a:t>2</a:t>
            </a:r>
            <a:r>
              <a:rPr lang="en-US" altLang="en-US" sz="1800" b="1" dirty="0"/>
              <a:t>)) % TS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8902083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32&#10;Double Hashing&#10; To eliminate both types of clustering one way is double hashing.&#10; It involves two hash functions, h1(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283" y="597531"/>
            <a:ext cx="7018337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DFEB27-5354-C8FA-DE57-EB5C56DF1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790" y="5860094"/>
            <a:ext cx="24622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</a:t>
            </a:r>
            <a:r>
              <a:rPr lang="en-US" altLang="en-US" sz="1600" b="1" baseline="-25000" dirty="0">
                <a:latin typeface="Arial"/>
                <a:cs typeface="Arial"/>
              </a:rPr>
              <a:t>1</a:t>
            </a:r>
            <a:r>
              <a:rPr lang="en-US" altLang="en-US" sz="1800" b="1" dirty="0">
                <a:latin typeface="Arial"/>
                <a:cs typeface="Arial"/>
              </a:rPr>
              <a:t>(X) =  X % 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96CAB5-2CFB-7FE6-2225-C4E2EB53D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850" y="5860094"/>
            <a:ext cx="32843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</a:t>
            </a:r>
            <a:r>
              <a:rPr lang="en-US" altLang="en-US" sz="1800" b="1" baseline="-25000" dirty="0">
                <a:latin typeface="Arial"/>
                <a:cs typeface="Arial"/>
              </a:rPr>
              <a:t>2</a:t>
            </a:r>
            <a:r>
              <a:rPr lang="en-US" altLang="en-US" sz="1800" b="1" dirty="0">
                <a:latin typeface="Arial"/>
                <a:cs typeface="Arial"/>
              </a:rPr>
              <a:t>(X) =  R-(X%R)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75C6C-BA45-9572-A712-6E6AE9172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3176" y="5889151"/>
            <a:ext cx="31726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H(X) = (H</a:t>
            </a:r>
            <a:r>
              <a:rPr lang="en-US" altLang="en-US" sz="1800" b="1" baseline="-25000" dirty="0">
                <a:latin typeface="Arial"/>
                <a:cs typeface="Arial"/>
              </a:rPr>
              <a:t>1</a:t>
            </a:r>
            <a:r>
              <a:rPr lang="en-US" altLang="en-US" sz="1800" b="1" dirty="0">
                <a:latin typeface="Arial"/>
                <a:cs typeface="Arial"/>
              </a:rPr>
              <a:t>(X) +H</a:t>
            </a:r>
            <a:r>
              <a:rPr lang="en-US" altLang="en-US" sz="1800" b="1" baseline="-25000" dirty="0">
                <a:latin typeface="Arial"/>
                <a:cs typeface="Arial"/>
              </a:rPr>
              <a:t>2</a:t>
            </a:r>
            <a:r>
              <a:rPr lang="en-US" altLang="en-US" sz="1800" b="1" dirty="0">
                <a:latin typeface="Arial"/>
                <a:cs typeface="Arial"/>
              </a:rPr>
              <a:t>(X)) % TS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955501-3D2C-0E00-AFFB-F082165B9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850" y="6258483"/>
            <a:ext cx="4166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dirty="0">
                <a:latin typeface="Arial"/>
                <a:cs typeface="Arial"/>
              </a:rPr>
              <a:t>R is a prime number &amp; R&lt; table size.</a:t>
            </a:r>
            <a:endParaRPr lang="en-US" alt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643443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01F46F9-F52C-07EB-6FCD-201DA89B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AC9F0A-FB6A-5478-4903-1970394EA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790" y="5860094"/>
            <a:ext cx="24622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</a:t>
            </a:r>
            <a:r>
              <a:rPr lang="en-US" altLang="en-US" sz="1600" b="1" baseline="-25000" dirty="0">
                <a:latin typeface="Arial"/>
                <a:cs typeface="Arial"/>
              </a:rPr>
              <a:t>1</a:t>
            </a:r>
            <a:r>
              <a:rPr lang="en-US" altLang="en-US" sz="1800" b="1" dirty="0">
                <a:latin typeface="Arial"/>
                <a:cs typeface="Arial"/>
              </a:rPr>
              <a:t>(X) =  X % 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238EF7-82D7-27E7-4476-DAF4116F8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850" y="5860094"/>
            <a:ext cx="32843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</a:t>
            </a:r>
            <a:r>
              <a:rPr lang="en-US" altLang="en-US" sz="1800" b="1" baseline="-25000" dirty="0">
                <a:latin typeface="Arial"/>
                <a:cs typeface="Arial"/>
              </a:rPr>
              <a:t>2</a:t>
            </a:r>
            <a:r>
              <a:rPr lang="en-US" altLang="en-US" sz="1800" b="1" dirty="0">
                <a:latin typeface="Arial"/>
                <a:cs typeface="Arial"/>
              </a:rPr>
              <a:t>(X) = R-(X%R)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64DA0-2B2C-7214-D160-AFEA6E6AD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3176" y="5889151"/>
            <a:ext cx="31726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/>
                <a:cs typeface="Arial"/>
              </a:rPr>
              <a:t>H(X) = (H</a:t>
            </a:r>
            <a:r>
              <a:rPr lang="en-US" altLang="en-US" sz="1800" b="1" baseline="-25000" dirty="0">
                <a:latin typeface="Arial"/>
                <a:cs typeface="Arial"/>
              </a:rPr>
              <a:t>1</a:t>
            </a:r>
            <a:r>
              <a:rPr lang="en-US" altLang="en-US" sz="1800" b="1" dirty="0">
                <a:latin typeface="Arial"/>
                <a:cs typeface="Arial"/>
              </a:rPr>
              <a:t>(X) +H</a:t>
            </a:r>
            <a:r>
              <a:rPr lang="en-US" altLang="en-US" sz="1800" b="1" baseline="-25000" dirty="0">
                <a:latin typeface="Arial"/>
                <a:cs typeface="Arial"/>
              </a:rPr>
              <a:t>2</a:t>
            </a:r>
            <a:r>
              <a:rPr lang="en-US" altLang="en-US" sz="1800" b="1" dirty="0">
                <a:latin typeface="Arial"/>
                <a:cs typeface="Arial"/>
              </a:rPr>
              <a:t>(X)) % TS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1D4801-FFBB-C0C4-472C-0F47CA233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850" y="6258483"/>
            <a:ext cx="4166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dirty="0">
                <a:latin typeface="Arial"/>
                <a:cs typeface="Arial"/>
              </a:rPr>
              <a:t>R is a prime number &amp; R&lt; table size.</a:t>
            </a:r>
            <a:endParaRPr lang="en-US" altLang="en-US" sz="1800" dirty="0">
              <a:latin typeface="Arial"/>
              <a:cs typeface="Arial"/>
            </a:endParaRPr>
          </a:p>
        </p:txBody>
      </p:sp>
      <p:pic>
        <p:nvPicPr>
          <p:cNvPr id="6" name="Picture 2" descr="33&#10; when x=49:&#10;h(49)=49%10=9 (Collision )&#10;so use following hash function,&#10;h1(49)=(9 + 1(7- 49%7))%10&#10;= (9 + (7-0) ) % 10&#10;...">
            <a:extLst>
              <a:ext uri="{FF2B5EF4-FFF2-40B4-BE49-F238E27FC236}">
                <a16:creationId xmlns:a16="http://schemas.microsoft.com/office/drawing/2014/main" id="{163FCDF5-1E83-47ED-CED5-D851F1AF8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299" y="473190"/>
            <a:ext cx="6937375" cy="520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180432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Hashing in Python?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Hashing converts input data, such as a string, file, or object, into a fixed-size string of bytes. The hash or digest represents the input in a unique and reproducible way.</a:t>
            </a:r>
          </a:p>
          <a:p>
            <a:r>
              <a:rPr lang="en-US" dirty="0"/>
              <a:t>Hashing plays a significant role in detecting data manipulation and enhancing security. It can compute a hash value for a file, message, or other piece of data. An application stores the hash securely to verify later that the data has not been tampered with.</a:t>
            </a:r>
          </a:p>
          <a:p>
            <a:r>
              <a:rPr lang="en-US" dirty="0"/>
              <a:t>One of the most common uses of hashing in security is password storage. Hashing is a viable alternative to storing plain text passwords in a database. When a user enters their password, the system hashes it before storing it in the database. If a hacker accesses the database, they’ll find that the password is hard to steal.</a:t>
            </a:r>
          </a:p>
          <a:p>
            <a:r>
              <a:rPr lang="en-US" dirty="0"/>
              <a:t>Python hashing functions make all this possible. These mathematical functions let an application manipulate data into hash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846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Hashing Use Cases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Once you have an adequate hashing function with all these characteristics, you can apply it to various use cases. Hashing functions work well for:</a:t>
            </a:r>
          </a:p>
          <a:p>
            <a:r>
              <a:rPr lang="en-US" b="1" dirty="0"/>
              <a:t>Password storage</a:t>
            </a:r>
            <a:r>
              <a:rPr lang="en-US" dirty="0"/>
              <a:t> — Hashing is one of the best ways to store user passwords in modern systems. Python combines various modules to hash and secure passwords before storing them in a database.</a:t>
            </a:r>
          </a:p>
          <a:p>
            <a:r>
              <a:rPr lang="en-US" b="1" dirty="0"/>
              <a:t>Caching </a:t>
            </a:r>
            <a:r>
              <a:rPr lang="en-US" dirty="0"/>
              <a:t>— Hashing stores a function’s output to save time when calling it later.</a:t>
            </a:r>
          </a:p>
          <a:p>
            <a:r>
              <a:rPr lang="en-US" b="1" dirty="0"/>
              <a:t>Data retrieval</a:t>
            </a:r>
            <a:r>
              <a:rPr lang="en-US" dirty="0"/>
              <a:t> — Python uses a hash table with a built-in dictionary data structure to quickly retrieve values by key.</a:t>
            </a:r>
          </a:p>
          <a:p>
            <a:r>
              <a:rPr lang="en-US" b="1" dirty="0"/>
              <a:t>Digital signatures</a:t>
            </a:r>
            <a:r>
              <a:rPr lang="en-US" dirty="0"/>
              <a:t> — Hashing can verify the authenticity of messages that have digital signatures.</a:t>
            </a:r>
          </a:p>
          <a:p>
            <a:r>
              <a:rPr lang="en-US" b="1" dirty="0"/>
              <a:t>File integrity checks</a:t>
            </a:r>
            <a:r>
              <a:rPr lang="en-US" dirty="0"/>
              <a:t> — Hashing can check a file’s integrity during its transfer and download.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737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2724" y="611617"/>
            <a:ext cx="9144000" cy="681723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</a:rPr>
              <a:t>Python’s Built-In Hashing Function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3825" y="2096973"/>
            <a:ext cx="1136503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C4243"/>
                </a:solidFill>
                <a:effectLst/>
                <a:latin typeface="+mn-lt"/>
              </a:rPr>
              <a:t>Python’s built-in hashing function, returns an integer value representing the input object. 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C4243"/>
                </a:solidFill>
                <a:effectLst/>
                <a:latin typeface="+mn-lt"/>
              </a:rPr>
              <a:t>The code then uses the resulting hash value to determine the object’s 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C4243"/>
                </a:solidFill>
                <a:effectLst/>
                <a:latin typeface="+mn-lt"/>
              </a:rPr>
              <a:t>location in the hash table. 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C4243"/>
                </a:solidFill>
                <a:effectLst/>
                <a:latin typeface="+mn-lt"/>
              </a:rPr>
              <a:t>This hash table is a data structure that implements dictionaries and sets.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740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1326</Words>
  <Application>Microsoft Office PowerPoint</Application>
  <PresentationFormat>Widescreen</PresentationFormat>
  <Paragraphs>266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Hashing Algorithm</vt:lpstr>
      <vt:lpstr>Hashing Algorithm</vt:lpstr>
      <vt:lpstr>Hashing Algorithm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Hashing in Python? </vt:lpstr>
      <vt:lpstr>Hashing Use Cases </vt:lpstr>
      <vt:lpstr>Python’s Built-In Hashing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 Algorithm</dc:title>
  <dc:creator>Microsoft account</dc:creator>
  <cp:lastModifiedBy>Manisha Chakraburtty</cp:lastModifiedBy>
  <cp:revision>8</cp:revision>
  <dcterms:created xsi:type="dcterms:W3CDTF">2025-01-04T20:43:10Z</dcterms:created>
  <dcterms:modified xsi:type="dcterms:W3CDTF">2025-03-26T21:36:39Z</dcterms:modified>
</cp:coreProperties>
</file>