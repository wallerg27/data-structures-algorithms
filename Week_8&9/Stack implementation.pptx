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7"/>
  </p:notesMasterIdLst>
  <p:sldIdLst>
    <p:sldId id="324" r:id="rId3"/>
    <p:sldId id="294" r:id="rId4"/>
    <p:sldId id="295" r:id="rId5"/>
    <p:sldId id="325" r:id="rId6"/>
    <p:sldId id="297" r:id="rId7"/>
    <p:sldId id="298" r:id="rId8"/>
    <p:sldId id="299" r:id="rId9"/>
    <p:sldId id="326" r:id="rId10"/>
    <p:sldId id="301" r:id="rId11"/>
    <p:sldId id="302" r:id="rId12"/>
    <p:sldId id="327" r:id="rId13"/>
    <p:sldId id="328" r:id="rId14"/>
    <p:sldId id="305" r:id="rId15"/>
    <p:sldId id="306" r:id="rId16"/>
    <p:sldId id="329" r:id="rId17"/>
    <p:sldId id="308" r:id="rId18"/>
    <p:sldId id="309" r:id="rId19"/>
    <p:sldId id="310" r:id="rId20"/>
    <p:sldId id="333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31" r:id="rId34"/>
    <p:sldId id="323" r:id="rId35"/>
    <p:sldId id="291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293DB-E136-4DA2-953C-2BB0B3C1E47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4CE5A-AEE9-4664-AB8D-4B4CE9C4F1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A9BCE0-B5BE-437E-861C-6CA92FE1AB88}" type="slidenum">
              <a:rPr lang="ar-EG" smtClean="0"/>
              <a:pPr/>
              <a:t>5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2372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530686"/>
            <a:ext cx="71628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161455"/>
            <a:ext cx="8229600" cy="3600400"/>
          </a:xfrm>
          <a:prstGeom prst="rect">
            <a:avLst/>
          </a:prstGeom>
        </p:spPr>
        <p:txBody>
          <a:bodyPr lIns="396000" anchor="t">
            <a:normAutofit/>
          </a:bodyPr>
          <a:lstStyle>
            <a:lvl1pPr marL="109538" indent="-109538" algn="just" eaLnBrk="0" latinLnBrk="0" hangingPunct="0"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32888" cy="3429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763" y="3429000"/>
            <a:ext cx="9132887" cy="381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9525" y="3543300"/>
            <a:ext cx="9132888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ar-EG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ar-EG"/>
              <a:t>Click to edit Master title style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ar-EG"/>
              <a:t>Click to edit Master subtitle style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2A614E1-7368-4C85-B2BF-CAE4FBB705F5}" type="slidenum">
              <a:rPr lang="ar-EG" smtClean="0"/>
              <a:pPr/>
              <a:t>‹#›</a:t>
            </a:fld>
            <a:endParaRPr lang="ar-E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42900"/>
            <a:ext cx="7772400" cy="11049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ar-EG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1pPr>
            <a:lvl2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2pPr>
            <a:lvl3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3pPr>
            <a:lvl4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4pPr>
            <a:lvl5pPr algn="just" rtl="0">
              <a:buClr>
                <a:schemeClr val="accent1">
                  <a:lumMod val="75000"/>
                </a:schemeClr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ar-EG"/>
              <a:t>Click to edit Master text styles</a:t>
            </a:r>
          </a:p>
          <a:p>
            <a:pPr lvl="1"/>
            <a:r>
              <a:rPr lang="ar-EG"/>
              <a:t>Second level</a:t>
            </a:r>
          </a:p>
          <a:p>
            <a:pPr lvl="2"/>
            <a:r>
              <a:rPr lang="ar-EG"/>
              <a:t>Third level</a:t>
            </a:r>
          </a:p>
          <a:p>
            <a:pPr lvl="3"/>
            <a:r>
              <a:rPr lang="ar-EG"/>
              <a:t>Fourth level</a:t>
            </a:r>
          </a:p>
          <a:p>
            <a:pPr lvl="4"/>
            <a:r>
              <a:rPr lang="ar-EG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B0FDB96-0304-4208-A83D-45EFF4B52B81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ar-E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Dynamic Arrays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Static Arrays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 Exceeding maximum:</a:t>
            </a:r>
          </a:p>
          <a:p>
            <a:pPr lvl="1" algn="just" eaLnBrk="0" latinLnBrk="0" hangingPunct="0"/>
            <a:r>
              <a:rPr lang="en-US" dirty="0"/>
              <a:t>Choosing a real maximum is often impossible.</a:t>
            </a:r>
          </a:p>
          <a:p>
            <a:pPr lvl="1" algn="just" eaLnBrk="0" latinLnBrk="0" hangingPunct="0"/>
            <a:r>
              <a:rPr lang="en-US" dirty="0"/>
              <a:t>Declaring very large arrays can be extremely wasteful of memory.</a:t>
            </a:r>
          </a:p>
          <a:p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 No expansion.</a:t>
            </a:r>
            <a:endParaRPr lang="ar-EG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Dynamic Arrays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3384"/>
            <a:ext cx="8229600" cy="46064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Create a pointer to the array:</a:t>
            </a:r>
            <a:endParaRPr lang="ar-EG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828800" y="2438400"/>
            <a:ext cx="51054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sz="2800" kern="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kern="0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800" kern="0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800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800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2800" kern="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kern="0" dirty="0">
                <a:latin typeface="Courier New" pitchFamily="49" charset="0"/>
                <a:cs typeface="Courier New" pitchFamily="49" charset="0"/>
              </a:rPr>
              <a:t>[5];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85800" y="3352800"/>
            <a:ext cx="7772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tabLst/>
              <a:defRPr/>
            </a:pPr>
            <a:r>
              <a:rPr lang="en-US" sz="3200" kern="0" dirty="0">
                <a:latin typeface="+mn-lt"/>
              </a:rPr>
              <a:t>It points at the first element in the array.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Elements</a:t>
            </a:r>
            <a:r>
              <a:rPr kumimoji="0" lang="en-US" sz="32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are stored in consecutive positions.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tabLst/>
              <a:defRPr/>
            </a:pPr>
            <a:r>
              <a:rPr lang="en-US" sz="3200" kern="0" baseline="0" dirty="0">
                <a:latin typeface="+mn-lt"/>
              </a:rPr>
              <a:t>Use the </a:t>
            </a:r>
            <a:r>
              <a:rPr lang="en-US" sz="3200" u="sng" kern="0" baseline="0" dirty="0">
                <a:latin typeface="+mn-lt"/>
              </a:rPr>
              <a:t>delete</a:t>
            </a:r>
            <a:r>
              <a:rPr lang="en-US" sz="3200" kern="0" baseline="0" dirty="0">
                <a:latin typeface="+mn-lt"/>
              </a:rPr>
              <a:t> operator:</a:t>
            </a:r>
            <a:endParaRPr kumimoji="0" lang="ar-EG" sz="3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8800" y="5181600"/>
            <a:ext cx="48006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sz="2800" kern="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sz="2800" kern="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en-US" sz="2800" kern="0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800" kern="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80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Stacks</a:t>
            </a:r>
            <a:endParaRPr lang="ar-EG" sz="80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C:\Users\Fatma\Desktop\stack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5029200"/>
            <a:ext cx="2951162" cy="13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ADT</a:t>
            </a:r>
            <a:endParaRPr lang="ar-EG" dirty="0"/>
          </a:p>
        </p:txBody>
      </p:sp>
      <p:sp>
        <p:nvSpPr>
          <p:cNvPr id="6" name="Content Placeholder 5"/>
          <p:cNvSpPr>
            <a:spLocks noGrp="1"/>
          </p:cNvSpPr>
          <p:nvPr>
            <p:ph idx="10"/>
          </p:nvPr>
        </p:nvSpPr>
        <p:spPr>
          <a:xfrm>
            <a:off x="467544" y="1828800"/>
            <a:ext cx="8229600" cy="3600400"/>
          </a:xfrm>
        </p:spPr>
        <p:txBody>
          <a:bodyPr/>
          <a:lstStyle/>
          <a:p>
            <a:r>
              <a:rPr lang="en-US" sz="2400" dirty="0"/>
              <a:t>A stack is a </a:t>
            </a:r>
            <a:r>
              <a:rPr lang="en-US" sz="2400" u="sng" dirty="0"/>
              <a:t>list</a:t>
            </a:r>
            <a:r>
              <a:rPr lang="en-US" sz="2400" dirty="0"/>
              <a:t> with the restriction that insertions and deletions can be performed in only one position, the end of the list (</a:t>
            </a:r>
            <a:r>
              <a:rPr lang="en-US" sz="2400" b="1" dirty="0"/>
              <a:t>LIFO</a:t>
            </a:r>
            <a:r>
              <a:rPr lang="en-US" sz="2400" dirty="0"/>
              <a:t>).</a:t>
            </a:r>
          </a:p>
          <a:p>
            <a:endParaRPr lang="en-US" dirty="0"/>
          </a:p>
        </p:txBody>
      </p:sp>
      <p:pic>
        <p:nvPicPr>
          <p:cNvPr id="1026" name="Picture 2" descr="C:\Users\Wedad\Desktop\sta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172545"/>
            <a:ext cx="4327317" cy="3109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and Pop Operations</a:t>
            </a:r>
            <a:endParaRPr lang="ar-EG" dirty="0"/>
          </a:p>
        </p:txBody>
      </p:sp>
      <p:pic>
        <p:nvPicPr>
          <p:cNvPr id="2052" name="Picture 4" descr="C:\Users\Wedad\Desktop\StackPushP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2819400"/>
            <a:ext cx="7721221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Length:</a:t>
            </a:r>
            <a:r>
              <a:rPr lang="en-US" sz="2800" dirty="0"/>
              <a:t> Returns the number of elements.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Push:</a:t>
            </a:r>
            <a:r>
              <a:rPr lang="en-US" sz="2800" dirty="0"/>
              <a:t> adds an element to the top of the stack.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Pop:</a:t>
            </a:r>
            <a:r>
              <a:rPr lang="en-US" sz="2800" dirty="0"/>
              <a:t> removes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Top: </a:t>
            </a:r>
            <a:r>
              <a:rPr lang="en-US" sz="2800" dirty="0"/>
              <a:t>returns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Empty: </a:t>
            </a:r>
            <a:r>
              <a:rPr lang="en-US" sz="2800" dirty="0"/>
              <a:t>returns whether the stack is empty.</a:t>
            </a:r>
            <a:endParaRPr lang="ar-EG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Implementation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2050" name="Picture 2" descr="C:\Users\Fatma\Desktop\Teamwork-51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75388" y="4876800"/>
            <a:ext cx="1649412" cy="1649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An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abstract data type (ADT)</a:t>
            </a:r>
            <a:r>
              <a:rPr lang="en-US" sz="2400" dirty="0"/>
              <a:t> is a set of objects together with a set of operations.</a:t>
            </a:r>
          </a:p>
          <a:p>
            <a:r>
              <a:rPr lang="en-US" sz="2400" dirty="0"/>
              <a:t>An ADT is fully described by a domain of values together with a set of operations to manipulate these values.</a:t>
            </a:r>
          </a:p>
          <a:p>
            <a:r>
              <a:rPr lang="en-US" sz="2400" dirty="0"/>
              <a:t>E.g. </a:t>
            </a:r>
            <a:r>
              <a:rPr lang="en-US" sz="2400" b="1" dirty="0"/>
              <a:t>set:</a:t>
            </a:r>
            <a:r>
              <a:rPr lang="en-US" sz="2400" dirty="0"/>
              <a:t> a collection of distinct objects, Operations: add, remove, size, and contains.</a:t>
            </a:r>
          </a:p>
          <a:p>
            <a:r>
              <a:rPr lang="en-US" sz="2400" dirty="0"/>
              <a:t>There is no mention on </a:t>
            </a:r>
            <a:r>
              <a:rPr lang="en-US" sz="2400" u="sng" dirty="0"/>
              <a:t>how</a:t>
            </a:r>
            <a:r>
              <a:rPr lang="en-US" sz="2400" dirty="0"/>
              <a:t> the set of operations are implemented.</a:t>
            </a:r>
          </a:p>
          <a:p>
            <a:r>
              <a:rPr lang="en-US" sz="2400" dirty="0"/>
              <a:t>ADT vs. Data Structure</a:t>
            </a:r>
            <a:endParaRPr lang="ar-EG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 Implementations</a:t>
            </a:r>
            <a:endParaRPr lang="ar-EG" dirty="0"/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762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Using Linked Lists:</a:t>
            </a:r>
            <a:endParaRPr kumimoji="0" lang="ar-EG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685800" y="4038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EA0B0">
                  <a:lumMod val="75000"/>
                </a:srgbClr>
              </a:buClr>
              <a:buSzTx/>
              <a:buFontTx/>
              <a:buChar char="•"/>
              <a:tabLst/>
              <a:defRPr/>
            </a:pPr>
            <a:r>
              <a:rPr lang="en-US" sz="24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Using Dynamic Arrays:</a:t>
            </a:r>
            <a:endParaRPr lang="ar-EG" sz="2400" kern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16764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</a:rPr>
              <a:t>9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32766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8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4953000" y="3124200"/>
            <a:ext cx="838200" cy="68580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7E848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9" name="Curved Connector 38"/>
          <p:cNvCxnSpPr>
            <a:stCxn id="36" idx="0"/>
            <a:endCxn id="37" idx="0"/>
          </p:cNvCxnSpPr>
          <p:nvPr/>
        </p:nvCxnSpPr>
        <p:spPr bwMode="auto">
          <a:xfrm rot="5400000" flipH="1" flipV="1">
            <a:off x="2895600" y="2324100"/>
            <a:ext cx="12700" cy="1600200"/>
          </a:xfrm>
          <a:prstGeom prst="curvedConnector3">
            <a:avLst>
              <a:gd name="adj1" fmla="val 1800000"/>
            </a:avLst>
          </a:prstGeom>
          <a:solidFill>
            <a:srgbClr val="6EA0B0"/>
          </a:solidFill>
          <a:ln w="25400" cap="flat" cmpd="sng" algn="ctr">
            <a:solidFill>
              <a:srgbClr val="6EA0B0">
                <a:lumMod val="75000"/>
              </a:srgbClr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40" name="Curved Connector 39"/>
          <p:cNvCxnSpPr>
            <a:stCxn id="37" idx="0"/>
            <a:endCxn id="38" idx="0"/>
          </p:cNvCxnSpPr>
          <p:nvPr/>
        </p:nvCxnSpPr>
        <p:spPr bwMode="auto">
          <a:xfrm rot="5400000" flipH="1" flipV="1">
            <a:off x="4533900" y="2286000"/>
            <a:ext cx="12700" cy="1676400"/>
          </a:xfrm>
          <a:prstGeom prst="curvedConnector3">
            <a:avLst>
              <a:gd name="adj1" fmla="val 1800000"/>
            </a:avLst>
          </a:prstGeom>
          <a:solidFill>
            <a:srgbClr val="6EA0B0"/>
          </a:solidFill>
          <a:ln w="25400" cap="flat" cmpd="sng" algn="ctr">
            <a:solidFill>
              <a:srgbClr val="6EA0B0">
                <a:lumMod val="75000"/>
              </a:srgbClr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41" name="Straight Arrow Connector 40"/>
          <p:cNvCxnSpPr>
            <a:endCxn id="38" idx="6"/>
          </p:cNvCxnSpPr>
          <p:nvPr/>
        </p:nvCxnSpPr>
        <p:spPr bwMode="auto">
          <a:xfrm flipH="1">
            <a:off x="5791200" y="2895600"/>
            <a:ext cx="609600" cy="571500"/>
          </a:xfrm>
          <a:prstGeom prst="straightConnector1">
            <a:avLst/>
          </a:prstGeom>
          <a:solidFill>
            <a:srgbClr val="6EA0B0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248400" y="2590800"/>
            <a:ext cx="685800" cy="381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EA0B0">
                    <a:lumMod val="50000"/>
                  </a:srgbClr>
                </a:solidFill>
                <a:effectLst/>
                <a:uLnTx/>
                <a:uFillTx/>
              </a:rPr>
              <a:t>Top</a:t>
            </a:r>
            <a:endParaRPr kumimoji="0" lang="ar-EG" sz="1800" b="1" i="0" u="none" strike="noStrike" kern="0" cap="none" spc="0" normalizeH="0" baseline="0" noProof="0" dirty="0">
              <a:ln>
                <a:noFill/>
              </a:ln>
              <a:solidFill>
                <a:srgbClr val="6EA0B0">
                  <a:lumMod val="50000"/>
                </a:srgbClr>
              </a:solidFill>
              <a:effectLst/>
              <a:uLnTx/>
              <a:uFillTx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219200" y="5334000"/>
          <a:ext cx="4747260" cy="533400"/>
        </p:xfrm>
        <a:graphic>
          <a:graphicData uri="http://schemas.openxmlformats.org/drawingml/2006/table">
            <a:tbl>
              <a:tblPr rtl="1" firstRow="1" bandRow="1"/>
              <a:tblGrid>
                <a:gridCol w="678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rtl="0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ar-EG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A0B0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44" name="Straight Arrow Connector 43"/>
          <p:cNvCxnSpPr/>
          <p:nvPr/>
        </p:nvCxnSpPr>
        <p:spPr bwMode="auto">
          <a:xfrm flipH="1">
            <a:off x="4419600" y="4777740"/>
            <a:ext cx="609600" cy="571500"/>
          </a:xfrm>
          <a:prstGeom prst="straightConnector1">
            <a:avLst/>
          </a:prstGeom>
          <a:solidFill>
            <a:srgbClr val="6EA0B0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4876800" y="4472940"/>
            <a:ext cx="685800" cy="381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EA0B0">
                    <a:lumMod val="50000"/>
                  </a:srgbClr>
                </a:solidFill>
                <a:effectLst/>
                <a:uLnTx/>
                <a:uFillTx/>
              </a:rPr>
              <a:t>Top</a:t>
            </a:r>
            <a:endParaRPr kumimoji="0" lang="ar-EG" sz="1800" b="1" i="0" u="none" strike="noStrike" kern="0" cap="none" spc="0" normalizeH="0" baseline="0" noProof="0" dirty="0">
              <a:ln>
                <a:noFill/>
              </a:ln>
              <a:solidFill>
                <a:srgbClr val="6EA0B0">
                  <a:lumMod val="50000"/>
                </a:srgb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Length:</a:t>
            </a:r>
            <a:r>
              <a:rPr lang="en-US" sz="2800" dirty="0"/>
              <a:t> Returns the number of elements.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Push:</a:t>
            </a:r>
            <a:r>
              <a:rPr lang="en-US" sz="2800" dirty="0"/>
              <a:t> adds an element to the top of the stack.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Pop:</a:t>
            </a:r>
            <a:r>
              <a:rPr lang="en-US" sz="2800" dirty="0"/>
              <a:t> removes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Top: </a:t>
            </a:r>
            <a:r>
              <a:rPr lang="en-US" sz="2800" dirty="0"/>
              <a:t>returns the top element.</a:t>
            </a:r>
          </a:p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Empty: </a:t>
            </a:r>
            <a:r>
              <a:rPr lang="en-US" sz="2800" dirty="0"/>
              <a:t>returns whether the stack is empty.</a:t>
            </a:r>
            <a:endParaRPr lang="ar-EG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Stack STL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Standard Template Library.</a:t>
            </a:r>
          </a:p>
          <a:p>
            <a:r>
              <a:rPr lang="en-US" sz="2800" dirty="0"/>
              <a:t>It is a C++ library of container classes and algorithms.</a:t>
            </a:r>
          </a:p>
          <a:p>
            <a:r>
              <a:rPr lang="en-US" sz="2800" dirty="0"/>
              <a:t>It provides many of the basic algorithms and data structures of computer science.</a:t>
            </a:r>
          </a:p>
          <a:p>
            <a:pPr>
              <a:buNone/>
            </a:pPr>
            <a:endParaRPr lang="ar-EG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STL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sz="2800" dirty="0"/>
              <a:t>stack&lt;T&gt;</a:t>
            </a:r>
          </a:p>
          <a:p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Operations:</a:t>
            </a:r>
          </a:p>
          <a:p>
            <a:pPr lvl="1"/>
            <a:r>
              <a:rPr lang="en-GB" dirty="0"/>
              <a:t>empty</a:t>
            </a:r>
          </a:p>
          <a:p>
            <a:pPr lvl="1"/>
            <a:r>
              <a:rPr lang="en-US" dirty="0"/>
              <a:t>pop</a:t>
            </a:r>
          </a:p>
          <a:p>
            <a:pPr lvl="1"/>
            <a:r>
              <a:rPr lang="en-US" dirty="0"/>
              <a:t>push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top</a:t>
            </a:r>
            <a:endParaRPr lang="ar-EG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7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Applications</a:t>
            </a:r>
            <a:endParaRPr lang="ar-EG" sz="72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686"/>
            <a:ext cx="7543800" cy="1069514"/>
          </a:xfrm>
        </p:spPr>
        <p:txBody>
          <a:bodyPr/>
          <a:lstStyle/>
          <a:p>
            <a:r>
              <a:rPr lang="en-US" sz="3200" dirty="0"/>
              <a:t>1. Undo operations and Backtracking </a:t>
            </a:r>
            <a:endParaRPr lang="ar-EG" sz="3200" dirty="0"/>
          </a:p>
        </p:txBody>
      </p:sp>
      <p:pic>
        <p:nvPicPr>
          <p:cNvPr id="1026" name="Picture 2" descr="C:\Users\Wedad\Downloads\maz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817472"/>
            <a:ext cx="5227638" cy="4039538"/>
          </a:xfrm>
          <a:prstGeom prst="rect">
            <a:avLst/>
          </a:prstGeom>
          <a:noFill/>
        </p:spPr>
      </p:pic>
      <p:pic>
        <p:nvPicPr>
          <p:cNvPr id="1027" name="Picture 3" descr="C:\Users\Wedad\Downloads\und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667000"/>
            <a:ext cx="24384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Balancing Symbols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67544" y="1780455"/>
            <a:ext cx="8229600" cy="4086945"/>
          </a:xfrm>
        </p:spPr>
        <p:txBody>
          <a:bodyPr>
            <a:normAutofit fontScale="62500" lnSpcReduction="20000"/>
          </a:bodyPr>
          <a:lstStyle/>
          <a:p>
            <a:r>
              <a:rPr lang="en-US" sz="3400" dirty="0"/>
              <a:t>Compilers should check whether everything is balanced.</a:t>
            </a:r>
          </a:p>
          <a:p>
            <a:r>
              <a:rPr lang="en-US" sz="3400" dirty="0"/>
              <a:t>Thus, every right brace, bracket, and parenthesis must correspond to its left counterpart.</a:t>
            </a:r>
          </a:p>
          <a:p>
            <a:r>
              <a:rPr lang="en-US" sz="3400" dirty="0"/>
              <a:t>Steps:</a:t>
            </a:r>
          </a:p>
          <a:p>
            <a:pPr lvl="1" algn="just" eaLnBrk="0" latinLnBrk="0" hangingPunct="0"/>
            <a:r>
              <a:rPr lang="en-US" sz="3400" dirty="0"/>
              <a:t>Read characters until end of file.</a:t>
            </a:r>
          </a:p>
          <a:p>
            <a:pPr lvl="1" algn="just" eaLnBrk="0" latinLnBrk="0" hangingPunct="0"/>
            <a:r>
              <a:rPr lang="en-US" sz="3400" dirty="0"/>
              <a:t>If the character is an opening symbol, push it onto the stack.</a:t>
            </a:r>
          </a:p>
          <a:p>
            <a:pPr lvl="1" algn="just" eaLnBrk="0" latinLnBrk="0" hangingPunct="0"/>
            <a:r>
              <a:rPr lang="en-US" sz="3400" dirty="0"/>
              <a:t>If it is a closing symbol and the stack is empty, report </a:t>
            </a:r>
            <a:r>
              <a:rPr lang="en-GB" sz="3400" dirty="0"/>
              <a:t>an error.</a:t>
            </a:r>
          </a:p>
          <a:p>
            <a:pPr lvl="1" algn="just" eaLnBrk="0" latinLnBrk="0" hangingPunct="0"/>
            <a:r>
              <a:rPr lang="en-GB" sz="3400" dirty="0"/>
              <a:t>Otherwise, pop the stack.</a:t>
            </a:r>
          </a:p>
          <a:p>
            <a:pPr lvl="1" algn="just" eaLnBrk="0" latinLnBrk="0" hangingPunct="0"/>
            <a:r>
              <a:rPr lang="en-US" sz="3400" dirty="0"/>
              <a:t>If the symbol popped doesn’t match, report an error.</a:t>
            </a:r>
          </a:p>
          <a:p>
            <a:pPr lvl="1" algn="just" eaLnBrk="0" latinLnBrk="0" hangingPunct="0"/>
            <a:r>
              <a:rPr lang="en-US" sz="3400" dirty="0"/>
              <a:t>At end of file, if the stack is not empty, report an </a:t>
            </a:r>
            <a:r>
              <a:rPr lang="en-GB" sz="3400" dirty="0"/>
              <a:t>error.</a:t>
            </a:r>
            <a:endParaRPr lang="ar-EG" sz="34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Call Stack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67544" y="1752600"/>
            <a:ext cx="8229600" cy="434340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On calling a function, it is important to save the address of next instruction that needs to be executed in the program.</a:t>
            </a:r>
          </a:p>
          <a:p>
            <a:r>
              <a:rPr lang="en-US" sz="2400" dirty="0"/>
              <a:t>For saving a return address, it needs to be put somewhere in the memory.</a:t>
            </a:r>
          </a:p>
          <a:p>
            <a:r>
              <a:rPr lang="en-US" sz="2400" dirty="0"/>
              <a:t>The conventional method is to push in to the stack.</a:t>
            </a:r>
          </a:p>
          <a:p>
            <a:r>
              <a:rPr lang="en-US" sz="2400" dirty="0"/>
              <a:t>Also, a function needs to save the parameters before executing its instructions, which will also be pushed in the stack.</a:t>
            </a:r>
          </a:p>
          <a:p>
            <a:r>
              <a:rPr lang="en-US" sz="2400" dirty="0"/>
              <a:t>This forms the call stack. </a:t>
            </a:r>
          </a:p>
          <a:p>
            <a:endParaRPr lang="en-US" sz="2400" dirty="0"/>
          </a:p>
          <a:p>
            <a:r>
              <a:rPr lang="en-US" sz="2400" dirty="0"/>
              <a:t>https://www.youtube.com/watch?v=Q2sFmqvpBe0</a:t>
            </a:r>
            <a:endParaRPr lang="ar-EG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848600" cy="1069514"/>
          </a:xfrm>
        </p:spPr>
        <p:txBody>
          <a:bodyPr/>
          <a:lstStyle/>
          <a:p>
            <a:r>
              <a:rPr lang="en-US" sz="3400" dirty="0"/>
              <a:t>Infix, Prefix and Postfix Expressions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035926142"/>
              </p:ext>
            </p:extLst>
          </p:nvPr>
        </p:nvGraphicFramePr>
        <p:xfrm>
          <a:off x="457200" y="19050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A+B*C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+A*BC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ABC*+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(A+B)*C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*+ABC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AB+C*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589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686"/>
            <a:ext cx="7543800" cy="1069514"/>
          </a:xfrm>
        </p:spPr>
        <p:txBody>
          <a:bodyPr anchor="t" anchorCtr="0"/>
          <a:lstStyle/>
          <a:p>
            <a:r>
              <a:rPr lang="en-US" sz="3600" dirty="0"/>
              <a:t>4. Evaluating Postfix Expressions</a:t>
            </a:r>
            <a:endParaRPr lang="ar-EG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67544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Infix Expression 6*(5+(2+3)*8+3)</a:t>
            </a:r>
          </a:p>
          <a:p>
            <a:r>
              <a:rPr lang="en-US" sz="2800" dirty="0"/>
              <a:t>Equivalent to Postfix: 6 5 2 3 + 8 * + 3 + *</a:t>
            </a:r>
          </a:p>
          <a:p>
            <a:r>
              <a:rPr lang="en-US" sz="2800" dirty="0"/>
              <a:t>Easier to be evaluated.</a:t>
            </a:r>
          </a:p>
          <a:p>
            <a:r>
              <a:rPr lang="en-US" sz="2800" dirty="0"/>
              <a:t>Could be evaluated using a stack.</a:t>
            </a:r>
          </a:p>
          <a:p>
            <a:r>
              <a:rPr lang="en-US" sz="2800" dirty="0"/>
              <a:t>Also called “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Reverse Polish Notation</a:t>
            </a:r>
            <a:r>
              <a:rPr lang="en-US" sz="2800" dirty="0"/>
              <a:t>”.</a:t>
            </a:r>
          </a:p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Steps:</a:t>
            </a:r>
          </a:p>
          <a:p>
            <a:pPr lvl="1" algn="just" eaLnBrk="0" latinLnBrk="0" hangingPunct="0"/>
            <a:r>
              <a:rPr lang="en-US" dirty="0"/>
              <a:t>Operands are pushed into the stack.</a:t>
            </a:r>
          </a:p>
          <a:p>
            <a:pPr lvl="1" algn="just" eaLnBrk="0" latinLnBrk="0" hangingPunct="0"/>
            <a:r>
              <a:rPr lang="en-US" dirty="0"/>
              <a:t>When an operator is encountered the last 2 operands are popped and replaced with the result.</a:t>
            </a:r>
          </a:p>
          <a:p>
            <a:endParaRPr lang="ar-EG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11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</a:t>
            </a:r>
            <a:r>
              <a:rPr lang="en-US" sz="2800" b="1" dirty="0">
                <a:solidFill>
                  <a:schemeClr val="tx1"/>
                </a:solidFill>
              </a:rPr>
              <a:t>+ 8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</a:t>
            </a:r>
            <a:r>
              <a:rPr lang="en-US" sz="2800" b="1" dirty="0">
                <a:solidFill>
                  <a:schemeClr val="tx1"/>
                </a:solidFill>
              </a:rPr>
              <a:t>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33528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24400" y="33528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 bwMode="auto">
          <a:xfrm>
            <a:off x="3429000" y="38862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</a:t>
            </a:r>
            <a:r>
              <a:rPr lang="en-US" sz="2800" b="1" dirty="0">
                <a:solidFill>
                  <a:schemeClr val="tx1"/>
                </a:solidFill>
              </a:rPr>
              <a:t>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3352800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657600" y="38862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3528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</a:t>
            </a:r>
            <a:r>
              <a:rPr lang="en-US" sz="2800" b="1" dirty="0">
                <a:solidFill>
                  <a:schemeClr val="tx1"/>
                </a:solidFill>
              </a:rPr>
              <a:t>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5814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581400" y="41148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800" y="376428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</a:t>
            </a:r>
            <a:r>
              <a:rPr lang="en-US" sz="2800" b="1" dirty="0">
                <a:solidFill>
                  <a:schemeClr val="tx1"/>
                </a:solidFill>
              </a:rPr>
              <a:t>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1800" y="36576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</a:t>
            </a:r>
            <a:r>
              <a:rPr lang="en-US" sz="2800" b="1" dirty="0">
                <a:solidFill>
                  <a:schemeClr val="tx1"/>
                </a:solidFill>
              </a:rPr>
              <a:t>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3581400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3200400" y="41148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95800" y="376428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+</a:t>
            </a:r>
            <a:r>
              <a:rPr lang="en-US" sz="2800" b="1" dirty="0">
                <a:solidFill>
                  <a:schemeClr val="tx1"/>
                </a:solidFill>
              </a:rPr>
              <a:t>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4. Evaluating Postfix Expressions cont.</a:t>
            </a:r>
            <a:endParaRPr lang="ar-EG" sz="2800" dirty="0"/>
          </a:p>
        </p:txBody>
      </p:sp>
      <p:sp>
        <p:nvSpPr>
          <p:cNvPr id="5" name="Right Arrow 4"/>
          <p:cNvSpPr/>
          <p:nvPr/>
        </p:nvSpPr>
        <p:spPr bwMode="auto">
          <a:xfrm>
            <a:off x="3429000" y="3962400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3733800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00600" y="3901440"/>
          <a:ext cx="2057400" cy="5181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288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82552"/>
            <a:ext cx="8229600" cy="46064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6 5 2 3 + 8 * + 3 + *</a:t>
            </a:r>
          </a:p>
          <a:p>
            <a:pPr>
              <a:buNone/>
            </a:pPr>
            <a:endParaRPr lang="ar-EG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5. Infix to Postfix Conversion</a:t>
            </a:r>
            <a:endParaRPr lang="ar-EG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2161455"/>
            <a:ext cx="8229600" cy="3248745"/>
          </a:xfrm>
        </p:spPr>
        <p:txBody>
          <a:bodyPr>
            <a:normAutofit/>
          </a:bodyPr>
          <a:lstStyle/>
          <a:p>
            <a:r>
              <a:rPr lang="en-US" sz="2800" dirty="0"/>
              <a:t> We can also use a stack to convert an expression in standard form into postfix.</a:t>
            </a:r>
          </a:p>
          <a:p>
            <a:r>
              <a:rPr lang="en-US" sz="2800" dirty="0"/>
              <a:t> E.g. </a:t>
            </a:r>
            <a:r>
              <a:rPr lang="pt-BR" sz="2800" dirty="0"/>
              <a:t>a + b * c + ( d * e + f ) * g</a:t>
            </a:r>
          </a:p>
          <a:p>
            <a:endParaRPr lang="pt-BR" sz="2800" dirty="0"/>
          </a:p>
          <a:p>
            <a:r>
              <a:rPr lang="pt-BR" sz="2800" dirty="0"/>
              <a:t> 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Postfix:</a:t>
            </a:r>
          </a:p>
          <a:p>
            <a:pPr lvl="0"/>
            <a:r>
              <a:rPr lang="en-US" sz="2800" dirty="0"/>
              <a:t> </a:t>
            </a:r>
            <a:r>
              <a:rPr lang="pt-BR" sz="2800" dirty="0"/>
              <a:t>a b c * + d e * f + g * +</a:t>
            </a:r>
          </a:p>
          <a:p>
            <a:pPr lvl="0"/>
            <a:endParaRPr lang="ar-EG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5. Infix to Postfix Conversion</a:t>
            </a:r>
            <a:endParaRPr lang="ar-EG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67544" y="1780454"/>
            <a:ext cx="8229600" cy="416314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 When an operand is read, output it</a:t>
            </a:r>
          </a:p>
          <a:p>
            <a:r>
              <a:rPr lang="en-US" sz="2400" dirty="0"/>
              <a:t> When an operator is read</a:t>
            </a:r>
          </a:p>
          <a:p>
            <a:pPr lvl="1" algn="just" eaLnBrk="0" latinLnBrk="0" hangingPunct="0"/>
            <a:r>
              <a:rPr lang="en-US" sz="2400" dirty="0"/>
              <a:t>Pop until the top of the stack has an element of lower precedence</a:t>
            </a:r>
          </a:p>
          <a:p>
            <a:pPr lvl="1" algn="just" eaLnBrk="0" latinLnBrk="0" hangingPunct="0"/>
            <a:r>
              <a:rPr lang="en-GB" sz="2400" dirty="0"/>
              <a:t>Then push it</a:t>
            </a:r>
          </a:p>
          <a:p>
            <a:r>
              <a:rPr lang="en-US" sz="2400" dirty="0"/>
              <a:t> When ) is found, pop until we find the matching (.</a:t>
            </a:r>
          </a:p>
          <a:p>
            <a:r>
              <a:rPr lang="en-US" sz="2400" dirty="0"/>
              <a:t> ( has the lowest precedence when in the stack but has the highest precedence when in the input.</a:t>
            </a:r>
          </a:p>
          <a:p>
            <a:r>
              <a:rPr lang="en-US" sz="2400" dirty="0"/>
              <a:t> When we reach the end of input, pop until the stack is empty</a:t>
            </a:r>
          </a:p>
          <a:p>
            <a:endParaRPr lang="en-US" sz="1600" dirty="0"/>
          </a:p>
          <a:p>
            <a:endParaRPr lang="ar-EG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162800" cy="1069514"/>
          </a:xfrm>
        </p:spPr>
        <p:txBody>
          <a:bodyPr/>
          <a:lstStyle/>
          <a:p>
            <a:r>
              <a:rPr lang="en-US" dirty="0"/>
              <a:t>Try this at home</a:t>
            </a:r>
            <a:endParaRPr lang="ar-EG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52400" y="1066800"/>
            <a:ext cx="8544744" cy="56388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A player is playing a cards game where he draws cards from a pile. He can draw one card each round and the card is one of four options: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600" dirty="0"/>
          </a:p>
          <a:p>
            <a:pPr>
              <a:lnSpc>
                <a:spcPct val="120000"/>
              </a:lnSpc>
            </a:pPr>
            <a:r>
              <a:rPr lang="en-US" sz="2600" b="1" dirty="0"/>
              <a:t> W:</a:t>
            </a:r>
            <a:r>
              <a:rPr lang="en-US" sz="2600" dirty="0"/>
              <a:t> gives the player 5 points,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D:</a:t>
            </a:r>
            <a:r>
              <a:rPr lang="en-US" sz="2600" dirty="0"/>
              <a:t> the double win card which gives the player 10 points,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C:</a:t>
            </a:r>
            <a:r>
              <a:rPr lang="en-US" sz="2600" dirty="0"/>
              <a:t> cancels the wins of the last round, </a:t>
            </a:r>
          </a:p>
          <a:p>
            <a:pPr>
              <a:lnSpc>
                <a:spcPct val="120000"/>
              </a:lnSpc>
            </a:pPr>
            <a:r>
              <a:rPr lang="en-US" sz="2600" b="1" dirty="0"/>
              <a:t> S:</a:t>
            </a:r>
            <a:r>
              <a:rPr lang="en-US" sz="2600" dirty="0"/>
              <a:t> the player wins the sum of the points in the last two valid rounds (that has not been cancelled).</a:t>
            </a:r>
          </a:p>
          <a:p>
            <a:pPr>
              <a:lnSpc>
                <a:spcPct val="120000"/>
              </a:lnSpc>
            </a:pP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Given a sequence of cards, write a C++ function to calculate the player's final points. Use the appropriate data structure. You can use STL containers.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/>
              <a:t>The input is the number of rounds and a sequence of characters representing the cards.</a:t>
            </a:r>
            <a:endParaRPr lang="en-US" sz="2800" dirty="0"/>
          </a:p>
          <a:p>
            <a:pPr>
              <a:lnSpc>
                <a:spcPct val="120000"/>
              </a:lnSpc>
            </a:pP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D89462-836C-4DFE-9BDF-7D3089AA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7162800" cy="1069514"/>
          </a:xfrm>
        </p:spPr>
        <p:txBody>
          <a:bodyPr/>
          <a:lstStyle/>
          <a:p>
            <a:r>
              <a:rPr lang="en-US" dirty="0"/>
              <a:t>Try this at home cont.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0ABD5F-87DF-481E-AB05-D6A335F5BA0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0" y="1447801"/>
            <a:ext cx="8839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the input is 5 and the following sequence of values: W D W C S, the output should be 30 , this is calculated as follows:</a:t>
            </a:r>
          </a:p>
          <a:p>
            <a:pPr marL="0" indent="0">
              <a:buNone/>
            </a:pPr>
            <a:r>
              <a:rPr lang="en-US" sz="2400" b="1" dirty="0"/>
              <a:t>Round 1: </a:t>
            </a:r>
            <a:r>
              <a:rPr lang="en-US" sz="2200" dirty="0"/>
              <a:t>W: the user wins 5 points, the total points become 5.</a:t>
            </a:r>
          </a:p>
          <a:p>
            <a:pPr marL="0" indent="0">
              <a:buNone/>
            </a:pPr>
            <a:r>
              <a:rPr lang="en-US" sz="2400" b="1" dirty="0"/>
              <a:t>Round 2: </a:t>
            </a:r>
            <a:r>
              <a:rPr lang="en-US" sz="2200" dirty="0"/>
              <a:t>D: the user wins 10 points, the total points become 15.</a:t>
            </a:r>
          </a:p>
          <a:p>
            <a:pPr marL="0" indent="0">
              <a:buNone/>
            </a:pPr>
            <a:r>
              <a:rPr lang="en-US" sz="2400" b="1" dirty="0"/>
              <a:t>Round 3: </a:t>
            </a:r>
            <a:r>
              <a:rPr lang="en-US" sz="2400" dirty="0"/>
              <a:t>W: </a:t>
            </a:r>
            <a:r>
              <a:rPr lang="en-US" sz="2200" dirty="0"/>
              <a:t>the user wins 5 points, the total points become 20.</a:t>
            </a:r>
          </a:p>
          <a:p>
            <a:pPr marL="0" indent="0">
              <a:buNone/>
            </a:pPr>
            <a:r>
              <a:rPr lang="en-US" sz="2400" b="1" dirty="0"/>
              <a:t>Round 4: </a:t>
            </a:r>
            <a:r>
              <a:rPr lang="en-US" sz="2400" dirty="0"/>
              <a:t>C: </a:t>
            </a:r>
            <a:r>
              <a:rPr lang="en-US" sz="2200" dirty="0"/>
              <a:t>cancels the wins of round 3 which was 5 points so the points become 15.</a:t>
            </a:r>
          </a:p>
          <a:p>
            <a:pPr marL="0" indent="0">
              <a:buNone/>
            </a:pPr>
            <a:r>
              <a:rPr lang="en-US" sz="2400" b="1" dirty="0"/>
              <a:t>Round 5: </a:t>
            </a:r>
            <a:r>
              <a:rPr lang="en-US" sz="2200" dirty="0"/>
              <a:t>S: wins the sum of the last two valid rounds which are round 1 and round 2 so we add 15 point to the wins and the final points are 30.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04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Resources</a:t>
            </a:r>
            <a:endParaRPr lang="ar-EG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67544" y="2161454"/>
            <a:ext cx="8229600" cy="4391745"/>
          </a:xfrm>
        </p:spPr>
        <p:txBody>
          <a:bodyPr>
            <a:normAutofit/>
          </a:bodyPr>
          <a:lstStyle/>
          <a:p>
            <a:r>
              <a:rPr lang="en-US" sz="2800" dirty="0"/>
              <a:t> Lecture Notes.</a:t>
            </a:r>
          </a:p>
          <a:p>
            <a:r>
              <a:rPr lang="en-US" sz="2800" dirty="0"/>
              <a:t> Lecture Code.</a:t>
            </a:r>
          </a:p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Text Book:</a:t>
            </a:r>
            <a:r>
              <a:rPr lang="en-US" sz="2800" dirty="0"/>
              <a:t> </a:t>
            </a:r>
          </a:p>
          <a:p>
            <a:pPr lvl="1"/>
            <a:r>
              <a:rPr lang="en-US" dirty="0"/>
              <a:t>Chapter 3: 3.6.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460648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rtl="0">
              <a:lnSpc>
                <a:spcPct val="80000"/>
              </a:lnSpc>
            </a:pPr>
            <a:r>
              <a:rPr lang="en-US" sz="8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Thank You</a:t>
            </a:r>
            <a:endParaRPr lang="ar-EG" sz="8800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</TotalTime>
  <Words>1293</Words>
  <Application>Microsoft Office PowerPoint</Application>
  <PresentationFormat>On-screen Show (4:3)</PresentationFormat>
  <Paragraphs>197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맑은 고딕</vt:lpstr>
      <vt:lpstr>Arial</vt:lpstr>
      <vt:lpstr>Calibri</vt:lpstr>
      <vt:lpstr>Courier New</vt:lpstr>
      <vt:lpstr>Times New Roman</vt:lpstr>
      <vt:lpstr>Office Theme</vt:lpstr>
      <vt:lpstr>Custom Design</vt:lpstr>
      <vt:lpstr>PowerPoint Presentation</vt:lpstr>
      <vt:lpstr>Problems with Static Arrays</vt:lpstr>
      <vt:lpstr>Creating Dynamic Arrays</vt:lpstr>
      <vt:lpstr>PowerPoint Presentation</vt:lpstr>
      <vt:lpstr>The Stack ADT</vt:lpstr>
      <vt:lpstr>Push and Pop Operations</vt:lpstr>
      <vt:lpstr>Stack Operations</vt:lpstr>
      <vt:lpstr>PowerPoint Presentation</vt:lpstr>
      <vt:lpstr>Abstract Data Types</vt:lpstr>
      <vt:lpstr>Stack ADT Implementations</vt:lpstr>
      <vt:lpstr>Stack Operations</vt:lpstr>
      <vt:lpstr>PowerPoint Presentation</vt:lpstr>
      <vt:lpstr>STL</vt:lpstr>
      <vt:lpstr>Stack STL</vt:lpstr>
      <vt:lpstr>PowerPoint Presentation</vt:lpstr>
      <vt:lpstr>1. Undo operations and Backtracking </vt:lpstr>
      <vt:lpstr>2. Balancing Symbols</vt:lpstr>
      <vt:lpstr>3. Call Stack</vt:lpstr>
      <vt:lpstr>Infix, Prefix and Postfix Expressions</vt:lpstr>
      <vt:lpstr>4. Evaluating Postfix Expressions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4. Evaluating Postfix Expressions cont.</vt:lpstr>
      <vt:lpstr>5. Infix to Postfix Conversion</vt:lpstr>
      <vt:lpstr>5. Infix to Postfix Conversion</vt:lpstr>
      <vt:lpstr>Try this at home</vt:lpstr>
      <vt:lpstr>Try this at home cont.</vt:lpstr>
      <vt:lpstr>Lecture Resources</vt:lpstr>
      <vt:lpstr>PowerPoint Presentation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Microsoft account</cp:lastModifiedBy>
  <cp:revision>137</cp:revision>
  <dcterms:created xsi:type="dcterms:W3CDTF">2014-04-01T16:35:38Z</dcterms:created>
  <dcterms:modified xsi:type="dcterms:W3CDTF">2025-03-11T23:02:14Z</dcterms:modified>
</cp:coreProperties>
</file>