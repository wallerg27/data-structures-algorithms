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6"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E464759-7806-4065-AA15-9438AD755996}" type="datetimeFigureOut">
              <a:rPr lang="en-US" smtClean="0"/>
              <a:t>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DA9DF-1BCC-43B0-8DDB-7F29C8EBCCF6}" type="slidenum">
              <a:rPr lang="en-US" smtClean="0"/>
              <a:t>‹#›</a:t>
            </a:fld>
            <a:endParaRPr lang="en-US"/>
          </a:p>
        </p:txBody>
      </p:sp>
    </p:spTree>
    <p:extLst>
      <p:ext uri="{BB962C8B-B14F-4D97-AF65-F5344CB8AC3E}">
        <p14:creationId xmlns:p14="http://schemas.microsoft.com/office/powerpoint/2010/main" val="2323913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464759-7806-4065-AA15-9438AD755996}" type="datetimeFigureOut">
              <a:rPr lang="en-US" smtClean="0"/>
              <a:t>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DA9DF-1BCC-43B0-8DDB-7F29C8EBCCF6}" type="slidenum">
              <a:rPr lang="en-US" smtClean="0"/>
              <a:t>‹#›</a:t>
            </a:fld>
            <a:endParaRPr lang="en-US"/>
          </a:p>
        </p:txBody>
      </p:sp>
    </p:spTree>
    <p:extLst>
      <p:ext uri="{BB962C8B-B14F-4D97-AF65-F5344CB8AC3E}">
        <p14:creationId xmlns:p14="http://schemas.microsoft.com/office/powerpoint/2010/main" val="3802612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E464759-7806-4065-AA15-9438AD755996}" type="datetimeFigureOut">
              <a:rPr lang="en-US" smtClean="0"/>
              <a:t>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DA9DF-1BCC-43B0-8DDB-7F29C8EBCCF6}" type="slidenum">
              <a:rPr lang="en-US" smtClean="0"/>
              <a:t>‹#›</a:t>
            </a:fld>
            <a:endParaRPr lang="en-US"/>
          </a:p>
        </p:txBody>
      </p:sp>
    </p:spTree>
    <p:extLst>
      <p:ext uri="{BB962C8B-B14F-4D97-AF65-F5344CB8AC3E}">
        <p14:creationId xmlns:p14="http://schemas.microsoft.com/office/powerpoint/2010/main" val="2302504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E464759-7806-4065-AA15-9438AD755996}" type="datetimeFigureOut">
              <a:rPr lang="en-US" smtClean="0"/>
              <a:t>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DA9DF-1BCC-43B0-8DDB-7F29C8EBCCF6}" type="slidenum">
              <a:rPr lang="en-US" smtClean="0"/>
              <a:t>‹#›</a:t>
            </a:fld>
            <a:endParaRPr lang="en-US"/>
          </a:p>
        </p:txBody>
      </p:sp>
    </p:spTree>
    <p:extLst>
      <p:ext uri="{BB962C8B-B14F-4D97-AF65-F5344CB8AC3E}">
        <p14:creationId xmlns:p14="http://schemas.microsoft.com/office/powerpoint/2010/main" val="4288391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E464759-7806-4065-AA15-9438AD755996}" type="datetimeFigureOut">
              <a:rPr lang="en-US" smtClean="0"/>
              <a:t>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CDA9DF-1BCC-43B0-8DDB-7F29C8EBCCF6}" type="slidenum">
              <a:rPr lang="en-US" smtClean="0"/>
              <a:t>‹#›</a:t>
            </a:fld>
            <a:endParaRPr lang="en-US"/>
          </a:p>
        </p:txBody>
      </p:sp>
    </p:spTree>
    <p:extLst>
      <p:ext uri="{BB962C8B-B14F-4D97-AF65-F5344CB8AC3E}">
        <p14:creationId xmlns:p14="http://schemas.microsoft.com/office/powerpoint/2010/main" val="3749730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E464759-7806-4065-AA15-9438AD755996}" type="datetimeFigureOut">
              <a:rPr lang="en-US" smtClean="0"/>
              <a:t>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CDA9DF-1BCC-43B0-8DDB-7F29C8EBCCF6}" type="slidenum">
              <a:rPr lang="en-US" smtClean="0"/>
              <a:t>‹#›</a:t>
            </a:fld>
            <a:endParaRPr lang="en-US"/>
          </a:p>
        </p:txBody>
      </p:sp>
    </p:spTree>
    <p:extLst>
      <p:ext uri="{BB962C8B-B14F-4D97-AF65-F5344CB8AC3E}">
        <p14:creationId xmlns:p14="http://schemas.microsoft.com/office/powerpoint/2010/main" val="1171690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464759-7806-4065-AA15-9438AD755996}" type="datetimeFigureOut">
              <a:rPr lang="en-US" smtClean="0"/>
              <a:t>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CDA9DF-1BCC-43B0-8DDB-7F29C8EBCCF6}" type="slidenum">
              <a:rPr lang="en-US" smtClean="0"/>
              <a:t>‹#›</a:t>
            </a:fld>
            <a:endParaRPr lang="en-US"/>
          </a:p>
        </p:txBody>
      </p:sp>
    </p:spTree>
    <p:extLst>
      <p:ext uri="{BB962C8B-B14F-4D97-AF65-F5344CB8AC3E}">
        <p14:creationId xmlns:p14="http://schemas.microsoft.com/office/powerpoint/2010/main" val="2730070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464759-7806-4065-AA15-9438AD755996}" type="datetimeFigureOut">
              <a:rPr lang="en-US" smtClean="0"/>
              <a:t>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DA9DF-1BCC-43B0-8DDB-7F29C8EBCCF6}" type="slidenum">
              <a:rPr lang="en-US" smtClean="0"/>
              <a:t>‹#›</a:t>
            </a:fld>
            <a:endParaRPr lang="en-US"/>
          </a:p>
        </p:txBody>
      </p:sp>
    </p:spTree>
    <p:extLst>
      <p:ext uri="{BB962C8B-B14F-4D97-AF65-F5344CB8AC3E}">
        <p14:creationId xmlns:p14="http://schemas.microsoft.com/office/powerpoint/2010/main" val="3678472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464759-7806-4065-AA15-9438AD755996}" type="datetimeFigureOut">
              <a:rPr lang="en-US" smtClean="0"/>
              <a:t>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DA9DF-1BCC-43B0-8DDB-7F29C8EBCCF6}" type="slidenum">
              <a:rPr lang="en-US" smtClean="0"/>
              <a:t>‹#›</a:t>
            </a:fld>
            <a:endParaRPr lang="en-US"/>
          </a:p>
        </p:txBody>
      </p:sp>
    </p:spTree>
    <p:extLst>
      <p:ext uri="{BB962C8B-B14F-4D97-AF65-F5344CB8AC3E}">
        <p14:creationId xmlns:p14="http://schemas.microsoft.com/office/powerpoint/2010/main" val="340951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464759-7806-4065-AA15-9438AD755996}" type="datetimeFigureOut">
              <a:rPr lang="en-US" smtClean="0"/>
              <a:t>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DA9DF-1BCC-43B0-8DDB-7F29C8EBCCF6}" type="slidenum">
              <a:rPr lang="en-US" smtClean="0"/>
              <a:t>‹#›</a:t>
            </a:fld>
            <a:endParaRPr lang="en-US"/>
          </a:p>
        </p:txBody>
      </p:sp>
    </p:spTree>
    <p:extLst>
      <p:ext uri="{BB962C8B-B14F-4D97-AF65-F5344CB8AC3E}">
        <p14:creationId xmlns:p14="http://schemas.microsoft.com/office/powerpoint/2010/main" val="89750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464759-7806-4065-AA15-9438AD755996}" type="datetimeFigureOut">
              <a:rPr lang="en-US" smtClean="0"/>
              <a:t>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DA9DF-1BCC-43B0-8DDB-7F29C8EBCCF6}" type="slidenum">
              <a:rPr lang="en-US" smtClean="0"/>
              <a:t>‹#›</a:t>
            </a:fld>
            <a:endParaRPr lang="en-US"/>
          </a:p>
        </p:txBody>
      </p:sp>
    </p:spTree>
    <p:extLst>
      <p:ext uri="{BB962C8B-B14F-4D97-AF65-F5344CB8AC3E}">
        <p14:creationId xmlns:p14="http://schemas.microsoft.com/office/powerpoint/2010/main" val="1242107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464759-7806-4065-AA15-9438AD755996}" type="datetimeFigureOut">
              <a:rPr lang="en-US" smtClean="0"/>
              <a:t>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CDA9DF-1BCC-43B0-8DDB-7F29C8EBCCF6}" type="slidenum">
              <a:rPr lang="en-US" smtClean="0"/>
              <a:t>‹#›</a:t>
            </a:fld>
            <a:endParaRPr lang="en-US"/>
          </a:p>
        </p:txBody>
      </p:sp>
    </p:spTree>
    <p:extLst>
      <p:ext uri="{BB962C8B-B14F-4D97-AF65-F5344CB8AC3E}">
        <p14:creationId xmlns:p14="http://schemas.microsoft.com/office/powerpoint/2010/main" val="36955984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77796" y="224440"/>
            <a:ext cx="9144000" cy="624058"/>
          </a:xfrm>
        </p:spPr>
        <p:txBody>
          <a:bodyPr>
            <a:normAutofit fontScale="90000"/>
          </a:bodyPr>
          <a:lstStyle/>
          <a:p>
            <a:r>
              <a:rPr lang="en-US" sz="4000" b="1" dirty="0" smtClean="0">
                <a:latin typeface="+mn-lt"/>
              </a:rPr>
              <a:t>Python </a:t>
            </a:r>
            <a:r>
              <a:rPr lang="en-US" sz="4000" b="1" dirty="0">
                <a:latin typeface="+mn-lt"/>
              </a:rPr>
              <a:t>Program for Linear </a:t>
            </a:r>
            <a:r>
              <a:rPr lang="en-US" sz="4000" b="1" dirty="0" smtClean="0">
                <a:latin typeface="+mn-lt"/>
              </a:rPr>
              <a:t>Search</a:t>
            </a:r>
            <a:endParaRPr lang="en-US" sz="4000" dirty="0">
              <a:latin typeface="+mn-lt"/>
            </a:endParaRPr>
          </a:p>
        </p:txBody>
      </p:sp>
      <p:sp>
        <p:nvSpPr>
          <p:cNvPr id="2" name="Rectangle 1"/>
          <p:cNvSpPr/>
          <p:nvPr/>
        </p:nvSpPr>
        <p:spPr>
          <a:xfrm>
            <a:off x="615193" y="1229665"/>
            <a:ext cx="11042520" cy="4524315"/>
          </a:xfrm>
          <a:prstGeom prst="rect">
            <a:avLst/>
          </a:prstGeom>
        </p:spPr>
        <p:txBody>
          <a:bodyPr wrap="square">
            <a:spAutoFit/>
          </a:bodyPr>
          <a:lstStyle/>
          <a:p>
            <a:pPr fontAlgn="base"/>
            <a:r>
              <a:rPr lang="en-US" dirty="0"/>
              <a:t>An </a:t>
            </a:r>
            <a:r>
              <a:rPr lang="en-US" b="1" i="1" dirty="0"/>
              <a:t>algorithm</a:t>
            </a:r>
            <a:r>
              <a:rPr lang="en-US" dirty="0"/>
              <a:t> is a sequence of steps for accomplishing a task. </a:t>
            </a:r>
            <a:r>
              <a:rPr lang="en-US" b="1" i="1" dirty="0"/>
              <a:t>Linear search</a:t>
            </a:r>
            <a:r>
              <a:rPr lang="en-US" dirty="0"/>
              <a:t> is a search algorithm that starts from the beginning of a list, and checks each element until the search key is found or the end of the list is reached.</a:t>
            </a:r>
            <a:endParaRPr lang="en-US" b="1" dirty="0" smtClean="0"/>
          </a:p>
          <a:p>
            <a:r>
              <a:rPr lang="en-US" dirty="0"/>
              <a:t>An algorithm's </a:t>
            </a:r>
            <a:r>
              <a:rPr lang="en-US" b="1" i="1" dirty="0"/>
              <a:t>runtime</a:t>
            </a:r>
            <a:r>
              <a:rPr lang="en-US" dirty="0"/>
              <a:t> is the time the algorithm takes to execute. </a:t>
            </a:r>
            <a:endParaRPr lang="en-US" b="1" dirty="0"/>
          </a:p>
          <a:p>
            <a:pPr fontAlgn="base"/>
            <a:endParaRPr lang="en-US" b="1" dirty="0"/>
          </a:p>
          <a:p>
            <a:pPr fontAlgn="base"/>
            <a:endParaRPr lang="en-US" b="1" dirty="0" smtClean="0"/>
          </a:p>
          <a:p>
            <a:pPr fontAlgn="base"/>
            <a:r>
              <a:rPr lang="en-US" b="1" dirty="0" smtClean="0"/>
              <a:t>Python </a:t>
            </a:r>
            <a:r>
              <a:rPr lang="en-US" b="1" dirty="0"/>
              <a:t>Program for Linear Search Recursive Approach</a:t>
            </a:r>
          </a:p>
          <a:p>
            <a:pPr fontAlgn="base"/>
            <a:r>
              <a:rPr lang="en-US" b="1" dirty="0"/>
              <a:t>Base Case</a:t>
            </a:r>
            <a:r>
              <a:rPr lang="en-US" dirty="0"/>
              <a:t>: If the index reaches the end of the list (index == </a:t>
            </a:r>
            <a:r>
              <a:rPr lang="en-US" dirty="0" err="1"/>
              <a:t>len</a:t>
            </a:r>
            <a:r>
              <a:rPr lang="en-US" dirty="0"/>
              <a:t>(</a:t>
            </a:r>
            <a:r>
              <a:rPr lang="en-US" dirty="0" err="1"/>
              <a:t>arr</a:t>
            </a:r>
            <a:r>
              <a:rPr lang="en-US" dirty="0"/>
              <a:t>)), the function returns -1, indicating that the target element is not found in the list.</a:t>
            </a:r>
          </a:p>
          <a:p>
            <a:pPr fontAlgn="base"/>
            <a:r>
              <a:rPr lang="en-US" b="1" dirty="0"/>
              <a:t>Check Current Index</a:t>
            </a:r>
            <a:r>
              <a:rPr lang="en-US" dirty="0"/>
              <a:t>: If the element at the current index matches the target, the function returns the index, indicating the position where the target was found.</a:t>
            </a:r>
          </a:p>
          <a:p>
            <a:pPr fontAlgn="base"/>
            <a:r>
              <a:rPr lang="en-US" b="1" dirty="0"/>
              <a:t>Recursive Case</a:t>
            </a:r>
            <a:r>
              <a:rPr lang="en-US" dirty="0"/>
              <a:t>: If the current element is not the target, the function recursively calls itself with the next index (index + 1) to continue the search.</a:t>
            </a:r>
          </a:p>
          <a:p>
            <a:pPr fontAlgn="base"/>
            <a:r>
              <a:rPr lang="en-US" b="1" dirty="0"/>
              <a:t>Example Usage</a:t>
            </a:r>
            <a:r>
              <a:rPr lang="en-US" dirty="0"/>
              <a:t>: The program searches for the target 30 in the list [10, 20, 30, 40, 50]. The function will find 30 at index 2 and return it</a:t>
            </a:r>
            <a:r>
              <a:rPr lang="en-US" dirty="0" smtClean="0"/>
              <a:t>.</a:t>
            </a:r>
          </a:p>
          <a:p>
            <a:pPr fontAlgn="base"/>
            <a:endParaRPr lang="en-US" dirty="0"/>
          </a:p>
          <a:p>
            <a:pPr fontAlgn="base"/>
            <a:r>
              <a:rPr lang="en-US" dirty="0" smtClean="0"/>
              <a:t>Example: Code</a:t>
            </a:r>
            <a:endParaRPr lang="en-US" dirty="0"/>
          </a:p>
        </p:txBody>
      </p:sp>
    </p:spTree>
    <p:extLst>
      <p:ext uri="{BB962C8B-B14F-4D97-AF65-F5344CB8AC3E}">
        <p14:creationId xmlns:p14="http://schemas.microsoft.com/office/powerpoint/2010/main" val="29927355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77796" y="224440"/>
            <a:ext cx="9144000" cy="624058"/>
          </a:xfrm>
        </p:spPr>
        <p:txBody>
          <a:bodyPr>
            <a:normAutofit fontScale="90000"/>
          </a:bodyPr>
          <a:lstStyle/>
          <a:p>
            <a:r>
              <a:rPr lang="en-US" sz="4000" b="1" dirty="0" smtClean="0">
                <a:latin typeface="+mn-lt"/>
              </a:rPr>
              <a:t>Python </a:t>
            </a:r>
            <a:r>
              <a:rPr lang="en-US" sz="4000" b="1" dirty="0">
                <a:latin typeface="+mn-lt"/>
              </a:rPr>
              <a:t>Program for Linear </a:t>
            </a:r>
            <a:r>
              <a:rPr lang="en-US" sz="4000" b="1" dirty="0" smtClean="0">
                <a:latin typeface="+mn-lt"/>
              </a:rPr>
              <a:t>Search</a:t>
            </a:r>
            <a:endParaRPr lang="en-US" sz="4000" dirty="0">
              <a:latin typeface="+mn-lt"/>
            </a:endParaRPr>
          </a:p>
        </p:txBody>
      </p:sp>
      <p:sp>
        <p:nvSpPr>
          <p:cNvPr id="5" name="Rectangle 1"/>
          <p:cNvSpPr>
            <a:spLocks noChangeArrowheads="1"/>
          </p:cNvSpPr>
          <p:nvPr/>
        </p:nvSpPr>
        <p:spPr bwMode="auto">
          <a:xfrm>
            <a:off x="102973" y="5410257"/>
            <a:ext cx="11596816" cy="132343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smtClean="0">
                <a:ln>
                  <a:noFill/>
                </a:ln>
                <a:solidFill>
                  <a:srgbClr val="273239"/>
                </a:solidFill>
                <a:effectLst/>
                <a:latin typeface="Nunito"/>
              </a:rPr>
              <a:t>Problem:</a:t>
            </a:r>
            <a:r>
              <a:rPr kumimoji="0" lang="en-US" altLang="en-US" sz="1300" b="0" i="0" u="none" strike="noStrike" cap="none" normalizeH="0" baseline="0" dirty="0" smtClean="0">
                <a:ln>
                  <a:noFill/>
                </a:ln>
                <a:solidFill>
                  <a:srgbClr val="273239"/>
                </a:solidFill>
                <a:effectLst/>
                <a:latin typeface="Nunito"/>
              </a:rPr>
              <a:t> Given an array </a:t>
            </a:r>
            <a:r>
              <a:rPr kumimoji="0" lang="en-US" altLang="en-US" sz="1300" b="0" i="0" u="none" strike="noStrike" cap="none" normalizeH="0" baseline="0" dirty="0" err="1" smtClean="0">
                <a:ln>
                  <a:noFill/>
                </a:ln>
                <a:solidFill>
                  <a:srgbClr val="273239"/>
                </a:solidFill>
                <a:effectLst/>
                <a:latin typeface="Nunito"/>
              </a:rPr>
              <a:t>arr</a:t>
            </a:r>
            <a:r>
              <a:rPr kumimoji="0" lang="en-US" altLang="en-US" sz="1300" b="0" i="0" u="none" strike="noStrike" cap="none" normalizeH="0" baseline="0" dirty="0" smtClean="0">
                <a:ln>
                  <a:noFill/>
                </a:ln>
                <a:solidFill>
                  <a:srgbClr val="273239"/>
                </a:solidFill>
                <a:effectLst/>
                <a:latin typeface="Nunito"/>
              </a:rPr>
              <a:t>[] of n elements, write a function to search a given element x in </a:t>
            </a:r>
            <a:r>
              <a:rPr kumimoji="0" lang="en-US" altLang="en-US" sz="1300" b="0" i="0" u="none" strike="noStrike" cap="none" normalizeH="0" baseline="0" dirty="0" err="1" smtClean="0">
                <a:ln>
                  <a:noFill/>
                </a:ln>
                <a:solidFill>
                  <a:srgbClr val="273239"/>
                </a:solidFill>
                <a:effectLst/>
                <a:latin typeface="Nunito"/>
              </a:rPr>
              <a:t>arr</a:t>
            </a:r>
            <a:r>
              <a:rPr kumimoji="0" lang="en-US" altLang="en-US" sz="1300" b="0" i="0" u="none" strike="noStrike" cap="none" normalizeH="0" baseline="0" dirty="0" smtClean="0">
                <a:ln>
                  <a:noFill/>
                </a:ln>
                <a:solidFill>
                  <a:srgbClr val="273239"/>
                </a:solidFill>
                <a:effectLst/>
                <a:latin typeface="Nunito"/>
              </a:rPr>
              <a:t>[]. </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smtClean="0">
                <a:ln>
                  <a:noFill/>
                </a:ln>
                <a:solidFill>
                  <a:srgbClr val="273239"/>
                </a:solidFill>
                <a:effectLst/>
                <a:latin typeface="Nunito"/>
              </a:rPr>
              <a:t>Examples:</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Consolas" panose="020B0609020204030204" pitchFamily="49" charset="0"/>
              </a:rPr>
              <a:t>Input:</a:t>
            </a:r>
            <a:r>
              <a:rPr kumimoji="0" lang="en-US" altLang="en-US" sz="1200" b="0" i="0" u="none" strike="noStrike" cap="none" normalizeH="0" baseline="0" dirty="0" smtClean="0">
                <a:ln>
                  <a:noFill/>
                </a:ln>
                <a:solidFill>
                  <a:schemeClr val="tx1"/>
                </a:solidFill>
                <a:effectLst/>
                <a:latin typeface="Consolas" panose="020B0609020204030204" pitchFamily="49" charset="0"/>
              </a:rPr>
              <a:t> </a:t>
            </a:r>
            <a:r>
              <a:rPr kumimoji="0" lang="en-US" altLang="en-US" sz="1200" b="0" i="0" u="none" strike="noStrike" cap="none" normalizeH="0" baseline="0" dirty="0" err="1" smtClean="0">
                <a:ln>
                  <a:noFill/>
                </a:ln>
                <a:solidFill>
                  <a:schemeClr val="tx1"/>
                </a:solidFill>
                <a:effectLst/>
                <a:latin typeface="Consolas" panose="020B0609020204030204" pitchFamily="49" charset="0"/>
              </a:rPr>
              <a:t>arr</a:t>
            </a:r>
            <a:r>
              <a:rPr kumimoji="0" lang="en-US" altLang="en-US" sz="1200" b="0" i="0" u="none" strike="noStrike" cap="none" normalizeH="0" baseline="0" dirty="0" smtClean="0">
                <a:ln>
                  <a:noFill/>
                </a:ln>
                <a:solidFill>
                  <a:schemeClr val="tx1"/>
                </a:solidFill>
                <a:effectLst/>
                <a:latin typeface="Consolas" panose="020B0609020204030204" pitchFamily="49" charset="0"/>
              </a:rPr>
              <a:t> = ['A', 'B', 'C', 'D', 'E', 'F', 'G', 'H', 'I', 'J', 'K', 'L', 'M', 'N', 'O', 'P', 'Q', 'R', 'S', 'T', 'U', 'V', 'W', 'X', 'Y', 'Z'] </a:t>
            </a:r>
            <a:br>
              <a:rPr kumimoji="0" lang="en-US" altLang="en-US" sz="1200" b="0" i="0" u="none" strike="noStrike" cap="none" normalizeH="0" baseline="0" dirty="0" smtClean="0">
                <a:ln>
                  <a:noFill/>
                </a:ln>
                <a:solidFill>
                  <a:schemeClr val="tx1"/>
                </a:solidFill>
                <a:effectLst/>
                <a:latin typeface="Consolas" panose="020B0609020204030204" pitchFamily="49" charset="0"/>
              </a:rPr>
            </a:br>
            <a:r>
              <a:rPr kumimoji="0" lang="en-US" altLang="en-US" sz="1200" b="0" i="0" u="none" strike="noStrike" cap="none" normalizeH="0" baseline="0" dirty="0" smtClean="0">
                <a:ln>
                  <a:noFill/>
                </a:ln>
                <a:solidFill>
                  <a:schemeClr val="tx1"/>
                </a:solidFill>
                <a:effectLst/>
                <a:latin typeface="Consolas" panose="020B0609020204030204" pitchFamily="49" charset="0"/>
              </a:rPr>
              <a:t># Element to Find </a:t>
            </a:r>
            <a:br>
              <a:rPr kumimoji="0" lang="en-US" altLang="en-US" sz="1200" b="0" i="0" u="none" strike="noStrike" cap="none" normalizeH="0" baseline="0" dirty="0" smtClean="0">
                <a:ln>
                  <a:noFill/>
                </a:ln>
                <a:solidFill>
                  <a:schemeClr val="tx1"/>
                </a:solidFill>
                <a:effectLst/>
                <a:latin typeface="Consolas" panose="020B0609020204030204" pitchFamily="49" charset="0"/>
              </a:rPr>
            </a:br>
            <a:r>
              <a:rPr kumimoji="0" lang="en-US" altLang="en-US" sz="1200" b="0" i="0" u="none" strike="noStrike" cap="none" normalizeH="0" baseline="0" dirty="0" smtClean="0">
                <a:ln>
                  <a:noFill/>
                </a:ln>
                <a:solidFill>
                  <a:schemeClr val="tx1"/>
                </a:solidFill>
                <a:effectLst/>
                <a:latin typeface="Consolas" panose="020B0609020204030204" pitchFamily="49" charset="0"/>
              </a:rPr>
              <a:t>x = 'J' </a:t>
            </a:r>
            <a:br>
              <a:rPr kumimoji="0" lang="en-US" altLang="en-US" sz="1200" b="0" i="0" u="none" strike="noStrike" cap="none" normalizeH="0" baseline="0" dirty="0" smtClean="0">
                <a:ln>
                  <a:noFill/>
                </a:ln>
                <a:solidFill>
                  <a:schemeClr val="tx1"/>
                </a:solidFill>
                <a:effectLst/>
                <a:latin typeface="Consolas" panose="020B0609020204030204" pitchFamily="49" charset="0"/>
              </a:rPr>
            </a:br>
            <a:r>
              <a:rPr kumimoji="0" lang="en-US" altLang="en-US" sz="1200" b="1" i="0" u="none" strike="noStrike" cap="none" normalizeH="0" baseline="0" dirty="0" smtClean="0">
                <a:ln>
                  <a:noFill/>
                </a:ln>
                <a:solidFill>
                  <a:schemeClr val="tx1"/>
                </a:solidFill>
                <a:effectLst/>
                <a:latin typeface="Consolas" panose="020B0609020204030204" pitchFamily="49" charset="0"/>
              </a:rPr>
              <a:t>Output :</a:t>
            </a:r>
            <a:r>
              <a:rPr kumimoji="0" lang="en-US" altLang="en-US" sz="1200" b="0" i="0" u="none" strike="noStrike" cap="none" normalizeH="0" baseline="0" dirty="0" smtClean="0">
                <a:ln>
                  <a:noFill/>
                </a:ln>
                <a:solidFill>
                  <a:schemeClr val="tx1"/>
                </a:solidFill>
                <a:effectLst/>
                <a:latin typeface="Consolas" panose="020B0609020204030204" pitchFamily="49" charset="0"/>
              </a:rPr>
              <a:t> </a:t>
            </a:r>
            <a:r>
              <a:rPr kumimoji="0" lang="en-US" altLang="en-US" sz="1200" b="0" i="0" u="none" strike="noStrike" cap="none" normalizeH="0" baseline="0" dirty="0" smtClean="0">
                <a:ln>
                  <a:noFill/>
                </a:ln>
                <a:solidFill>
                  <a:schemeClr val="tx1"/>
                </a:solidFill>
                <a:effectLst/>
                <a:latin typeface="Consolas" panose="020B0609020204030204" pitchFamily="49" charset="0"/>
              </a:rPr>
              <a:t>9</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1028" name="Picture 4"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530" y="2914706"/>
            <a:ext cx="11277600" cy="249555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45524" y="1226384"/>
            <a:ext cx="10630930" cy="1477328"/>
          </a:xfrm>
          <a:prstGeom prst="rect">
            <a:avLst/>
          </a:prstGeom>
        </p:spPr>
        <p:txBody>
          <a:bodyPr wrap="square">
            <a:spAutoFit/>
          </a:bodyPr>
          <a:lstStyle/>
          <a:p>
            <a:r>
              <a:rPr lang="en-US" dirty="0">
                <a:solidFill>
                  <a:srgbClr val="000000"/>
                </a:solidFill>
                <a:latin typeface="Roboto"/>
              </a:rPr>
              <a:t>Linear search may require searching all list elements, which can lead to long runtimes. For example, searching for a contact on a smartphone one-by-one from first to last can be time consuming. Because a contact list is sorted, a faster search, known as binary search, checks the middle contact first. If the desired contact comes alphabetically before the middle contact, binary search will then search the first half and otherwise the last half. Each step reduces the contacts that need to be searched by half.</a:t>
            </a:r>
            <a:endParaRPr lang="en-US" dirty="0"/>
          </a:p>
        </p:txBody>
      </p:sp>
    </p:spTree>
    <p:extLst>
      <p:ext uri="{BB962C8B-B14F-4D97-AF65-F5344CB8AC3E}">
        <p14:creationId xmlns:p14="http://schemas.microsoft.com/office/powerpoint/2010/main" val="5070702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77795" y="224440"/>
            <a:ext cx="11038701" cy="624058"/>
          </a:xfrm>
        </p:spPr>
        <p:txBody>
          <a:bodyPr>
            <a:noAutofit/>
          </a:bodyPr>
          <a:lstStyle/>
          <a:p>
            <a:pPr fontAlgn="base"/>
            <a:r>
              <a:rPr lang="en-US" sz="3200" b="1" dirty="0">
                <a:latin typeface="+mn-lt"/>
              </a:rPr>
              <a:t>Python Program for Binary Search </a:t>
            </a:r>
            <a:r>
              <a:rPr lang="en-US" sz="3200" b="1" dirty="0" smtClean="0">
                <a:latin typeface="+mn-lt"/>
              </a:rPr>
              <a:t>– Recursive &amp; Iterative</a:t>
            </a:r>
            <a:endParaRPr lang="en-US" sz="3200" b="1" dirty="0">
              <a:latin typeface="+mn-lt"/>
            </a:endParaRPr>
          </a:p>
        </p:txBody>
      </p:sp>
      <p:sp>
        <p:nvSpPr>
          <p:cNvPr id="2" name="Rectangle 1"/>
          <p:cNvSpPr/>
          <p:nvPr/>
        </p:nvSpPr>
        <p:spPr>
          <a:xfrm>
            <a:off x="716692" y="1073147"/>
            <a:ext cx="11042520" cy="4524315"/>
          </a:xfrm>
          <a:prstGeom prst="rect">
            <a:avLst/>
          </a:prstGeom>
        </p:spPr>
        <p:txBody>
          <a:bodyPr wrap="square">
            <a:spAutoFit/>
          </a:bodyPr>
          <a:lstStyle/>
          <a:p>
            <a:pPr fontAlgn="base"/>
            <a:r>
              <a:rPr lang="en-US" b="1" i="1" dirty="0"/>
              <a:t>Binary search</a:t>
            </a:r>
            <a:r>
              <a:rPr lang="en-US" dirty="0"/>
              <a:t> is a faster algorithm for searching a list if the list's elements are sorted and directly accessible (such as an array). Binary search first checks the middle element of the list. If the search key is found, the algorithm returns the matching location. If the search key is not found, the algorithm repeats the search on the remaining left </a:t>
            </a:r>
            <a:r>
              <a:rPr lang="en-US" dirty="0" err="1"/>
              <a:t>sublist</a:t>
            </a:r>
            <a:r>
              <a:rPr lang="en-US" dirty="0"/>
              <a:t> (if the search key was less than the middle element) or the remaining right </a:t>
            </a:r>
            <a:r>
              <a:rPr lang="en-US" dirty="0" err="1"/>
              <a:t>sublist</a:t>
            </a:r>
            <a:r>
              <a:rPr lang="en-US" dirty="0"/>
              <a:t> (if the search key was greater than the middle element).</a:t>
            </a:r>
            <a:endParaRPr lang="en-US" dirty="0" smtClean="0"/>
          </a:p>
          <a:p>
            <a:pPr fontAlgn="base"/>
            <a:endParaRPr lang="en-US" dirty="0" smtClean="0"/>
          </a:p>
          <a:p>
            <a:pPr fontAlgn="base"/>
            <a:r>
              <a:rPr lang="en-US" dirty="0" smtClean="0"/>
              <a:t>In </a:t>
            </a:r>
            <a:r>
              <a:rPr lang="en-US" dirty="0"/>
              <a:t>a nutshell, this search algorithm takes advantage of a collection of elements that is already sorted by ignoring half of the elements after just one comparison. </a:t>
            </a:r>
          </a:p>
          <a:p>
            <a:pPr fontAlgn="base"/>
            <a:r>
              <a:rPr lang="en-US" dirty="0" smtClean="0"/>
              <a:t>Compare </a:t>
            </a:r>
            <a:r>
              <a:rPr lang="en-US" dirty="0"/>
              <a:t>x with the middle element.</a:t>
            </a:r>
          </a:p>
          <a:p>
            <a:pPr fontAlgn="base"/>
            <a:r>
              <a:rPr lang="en-US" dirty="0"/>
              <a:t>If x matches with the middle element, we return the mid index.</a:t>
            </a:r>
          </a:p>
          <a:p>
            <a:pPr fontAlgn="base"/>
            <a:r>
              <a:rPr lang="en-US" dirty="0"/>
              <a:t>Else if x is greater than the mid element, then x can only lie in the right (greater) half subarray after the mid element. Then we apply the algorithm again for the right half.</a:t>
            </a:r>
          </a:p>
          <a:p>
            <a:pPr fontAlgn="base"/>
            <a:r>
              <a:rPr lang="en-US" dirty="0"/>
              <a:t>Else if x is smaller, the target x must lie in the left (lower) half. So we apply the algorithm for the left half</a:t>
            </a:r>
            <a:r>
              <a:rPr lang="en-US" dirty="0" smtClean="0"/>
              <a:t>.</a:t>
            </a:r>
          </a:p>
          <a:p>
            <a:pPr fontAlgn="base"/>
            <a:endParaRPr lang="en-US" dirty="0"/>
          </a:p>
          <a:p>
            <a:pPr fontAlgn="base"/>
            <a:r>
              <a:rPr lang="en-US" dirty="0"/>
              <a:t>Example: Code</a:t>
            </a:r>
          </a:p>
          <a:p>
            <a:pPr fontAlgn="base"/>
            <a:endParaRPr lang="en-US" dirty="0"/>
          </a:p>
        </p:txBody>
      </p:sp>
    </p:spTree>
    <p:extLst>
      <p:ext uri="{BB962C8B-B14F-4D97-AF65-F5344CB8AC3E}">
        <p14:creationId xmlns:p14="http://schemas.microsoft.com/office/powerpoint/2010/main" val="20088257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120</Words>
  <Application>Microsoft Office PowerPoint</Application>
  <PresentationFormat>Widescreen</PresentationFormat>
  <Paragraphs>27</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Calibri</vt:lpstr>
      <vt:lpstr>Calibri Light</vt:lpstr>
      <vt:lpstr>Consolas</vt:lpstr>
      <vt:lpstr>Nunito</vt:lpstr>
      <vt:lpstr>Roboto</vt:lpstr>
      <vt:lpstr>Office Theme</vt:lpstr>
      <vt:lpstr>Python Program for Linear Search</vt:lpstr>
      <vt:lpstr>Python Program for Linear Search</vt:lpstr>
      <vt:lpstr>Python Program for Binary Search – Recursive &amp; Iterative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 for Linear Search</dc:title>
  <dc:creator>Microsoft account</dc:creator>
  <cp:lastModifiedBy>Microsoft account</cp:lastModifiedBy>
  <cp:revision>8</cp:revision>
  <dcterms:created xsi:type="dcterms:W3CDTF">2024-12-27T22:03:20Z</dcterms:created>
  <dcterms:modified xsi:type="dcterms:W3CDTF">2025-01-03T18:15:55Z</dcterms:modified>
</cp:coreProperties>
</file>