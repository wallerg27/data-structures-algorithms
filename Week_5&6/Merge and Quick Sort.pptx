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8" r:id="rId3"/>
    <p:sldId id="257"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7407B0-D28B-4329-9E3B-F895E4D52613}" v="11" dt="2024-12-29T01:36:12.3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7BF049-0B48-4AAF-BEEA-E42F0FBCB553}" type="datetimeFigureOut">
              <a:rPr lang="en-US" smtClean="0"/>
              <a:t>12/29/2024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41D50-0F65-4295-9A22-0DD299DEABF6}" type="slidenum">
              <a:rPr lang="en-US" smtClean="0"/>
              <a:t>‹#›</a:t>
            </a:fld>
            <a:endParaRPr lang="en-US"/>
          </a:p>
        </p:txBody>
      </p:sp>
    </p:spTree>
    <p:extLst>
      <p:ext uri="{BB962C8B-B14F-4D97-AF65-F5344CB8AC3E}">
        <p14:creationId xmlns:p14="http://schemas.microsoft.com/office/powerpoint/2010/main" val="341642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E41D50-0F65-4295-9A22-0DD299DEABF6}" type="slidenum">
              <a:rPr lang="en-US" smtClean="0"/>
              <a:t>5</a:t>
            </a:fld>
            <a:endParaRPr lang="en-US"/>
          </a:p>
        </p:txBody>
      </p:sp>
    </p:spTree>
    <p:extLst>
      <p:ext uri="{BB962C8B-B14F-4D97-AF65-F5344CB8AC3E}">
        <p14:creationId xmlns:p14="http://schemas.microsoft.com/office/powerpoint/2010/main" val="164644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1F98C6-6BEF-56A3-AE25-2DDDC4A3EA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A3F31A0D-0D43-0957-58F5-7D9A089DFC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424535D5-59E9-8810-4FE3-1196310AABB0}"/>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4854B0B0-5E62-9E47-DA10-10D458D3CA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C12AFB07-D662-9E1A-79F6-59E6CEBF0CCD}"/>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1722150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5D07C-DC03-6CBF-6B44-C8C140B70A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5FA69367-90E9-8339-FA5D-DF99FD3AC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C3D7368-81AC-5F3D-D724-FDE698563D42}"/>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94A6B4A4-125A-575C-0A79-C3D6474BF7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0FF8D36-7035-B221-A71D-12807A79AFFF}"/>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3577534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4207C82-92F7-9533-85C6-06F5E81FD9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E0C86228-3ADF-57BB-8150-3B652334402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3A3E643-0A67-E3C3-CEA9-98D955B26869}"/>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6F391E61-4989-BE73-AB79-03CE730327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4582B5B-6FC8-909F-A62D-ECFD78F5998A}"/>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114274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F9FEC68-131B-0E49-3761-06124E2F59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0AF2C9F8-4AEF-7F3D-C62D-3F2E83B9BF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4264F1CD-14F4-CAF2-B83A-477E1856AC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F14672FE-C11F-6374-FA28-4544D3D89807}"/>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6" name="Footer Placeholder 5">
            <a:extLst>
              <a:ext uri="{FF2B5EF4-FFF2-40B4-BE49-F238E27FC236}">
                <a16:creationId xmlns:a16="http://schemas.microsoft.com/office/drawing/2014/main" xmlns="" id="{A4467948-E618-2F56-9F2C-5B7253668D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4F39305E-7518-0091-B71A-999688331A93}"/>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215753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560CA9-90F4-5645-A6E1-A06BAD2FB0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B22D20C6-53BD-75C1-AB62-10B33665C0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3FCD20E9-0B1A-7A0D-A0F4-AE8A1C7771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E98BC30F-BDDA-C957-684A-FE8A0D6C75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3DE939AB-AC96-4338-E627-2DB4921C20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5407B8C-ECB2-B1DC-3357-135BD073DF99}"/>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8" name="Footer Placeholder 7">
            <a:extLst>
              <a:ext uri="{FF2B5EF4-FFF2-40B4-BE49-F238E27FC236}">
                <a16:creationId xmlns:a16="http://schemas.microsoft.com/office/drawing/2014/main" xmlns="" id="{D55AC3EF-E599-B7C0-68BA-3B7B88C789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1483FC57-AC27-A94E-6C41-CAB6ADD1BE66}"/>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7445569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6AC73D6-2D29-F139-7838-189E5007CF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6D602F5E-3F11-3ACE-5866-8D5F8CB1CD08}"/>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4" name="Footer Placeholder 3">
            <a:extLst>
              <a:ext uri="{FF2B5EF4-FFF2-40B4-BE49-F238E27FC236}">
                <a16:creationId xmlns:a16="http://schemas.microsoft.com/office/drawing/2014/main" xmlns="" id="{729B66D3-D4F0-3B1D-F4CE-E4FE69D6ABD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5B00D001-ABE9-0489-9ED9-C91977211AD7}"/>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1888927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F592EA2E-1511-B155-2E6F-62A28963FB8D}"/>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3" name="Footer Placeholder 2">
            <a:extLst>
              <a:ext uri="{FF2B5EF4-FFF2-40B4-BE49-F238E27FC236}">
                <a16:creationId xmlns:a16="http://schemas.microsoft.com/office/drawing/2014/main" xmlns="" id="{4625F1A1-17A4-A9CC-265F-D9FA6661831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BE774DAC-8F86-283A-FF8A-F333466C1D60}"/>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3610832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8B92754-A5C4-6C42-B5B5-53A24C92F9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C6FEC578-D3F9-BF97-C5BA-2562CC29B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0A788A1B-016C-8633-F498-EFE41994E0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D33B3DA0-40CA-D167-F09A-EE84639CD22A}"/>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6" name="Footer Placeholder 5">
            <a:extLst>
              <a:ext uri="{FF2B5EF4-FFF2-40B4-BE49-F238E27FC236}">
                <a16:creationId xmlns:a16="http://schemas.microsoft.com/office/drawing/2014/main" xmlns="" id="{411A5C6B-40AE-9D37-5D47-D08AC10689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2E4B954-24AF-6BBA-7F35-775AA9FEC0ED}"/>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2150069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E0626E-166F-3927-F18B-97CBEDBD59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1C80630E-0F62-3536-B395-474032F890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B4ED892D-5038-49DF-0D66-8C815C512B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C5A8BD3-0BDA-5112-18F7-3575072B16DB}"/>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6" name="Footer Placeholder 5">
            <a:extLst>
              <a:ext uri="{FF2B5EF4-FFF2-40B4-BE49-F238E27FC236}">
                <a16:creationId xmlns:a16="http://schemas.microsoft.com/office/drawing/2014/main" xmlns="" id="{6EAE4B32-2735-5383-A2FF-1C0A418186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E9F6E52F-8452-7B68-488A-27EF607F2268}"/>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20562547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17316D-EE01-9088-B88C-799F60E967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92E02903-A262-2158-3839-3DC41824BC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F2B3EB4-8FC8-1890-755F-3FD38E27F9B5}"/>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1B2A27EE-0FD4-F159-5A89-9BD725739A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4ECC677C-6F14-03DB-93A4-27749FB441C2}"/>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104445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A80C4EE-1FB4-95C8-F0AA-6459D0123A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F0980D3-AEEF-2D92-E659-5AE9949E9D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2A3D00C-A910-D145-E8FC-6B5E9BDAE77B}"/>
              </a:ext>
            </a:extLst>
          </p:cNvPr>
          <p:cNvSpPr>
            <a:spLocks noGrp="1"/>
          </p:cNvSpPr>
          <p:nvPr>
            <p:ph type="dt" sz="half" idx="10"/>
          </p:nvPr>
        </p:nvSpPr>
        <p:spPr/>
        <p:txBody>
          <a:body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64DBF169-9D19-0DCF-66AC-59868827E6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5A623D1F-C00E-0203-7E98-55BEEF13405A}"/>
              </a:ext>
            </a:extLst>
          </p:cNvPr>
          <p:cNvSpPr>
            <a:spLocks noGrp="1"/>
          </p:cNvSpPr>
          <p:nvPr>
            <p:ph type="sldNum" sz="quarter" idx="12"/>
          </p:nvPr>
        </p:nvSpPr>
        <p:spPr/>
        <p:txBody>
          <a:bodyPr/>
          <a:lstStyle/>
          <a:p>
            <a:fld id="{CF005C5A-BF31-428A-BB0A-51F900B53137}" type="slidenum">
              <a:rPr lang="en-US" smtClean="0"/>
              <a:t>‹#›</a:t>
            </a:fld>
            <a:endParaRPr lang="en-US"/>
          </a:p>
        </p:txBody>
      </p:sp>
    </p:spTree>
    <p:extLst>
      <p:ext uri="{BB962C8B-B14F-4D97-AF65-F5344CB8AC3E}">
        <p14:creationId xmlns:p14="http://schemas.microsoft.com/office/powerpoint/2010/main" val="3310672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E89A89-3C25-7FE4-42F6-81A822C5AC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990A6C7-CAED-5A4D-8D25-B18E7D566D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F0126EC-8523-081D-8175-DFEE029307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140FDD6-E61F-4E44-88D2-CBD55E652C11}" type="datetimeFigureOut">
              <a:rPr lang="en-US" smtClean="0"/>
              <a:t>12/29/2024</a:t>
            </a:fld>
            <a:endParaRPr lang="en-US"/>
          </a:p>
        </p:txBody>
      </p:sp>
      <p:sp>
        <p:nvSpPr>
          <p:cNvPr id="5" name="Footer Placeholder 4">
            <a:extLst>
              <a:ext uri="{FF2B5EF4-FFF2-40B4-BE49-F238E27FC236}">
                <a16:creationId xmlns:a16="http://schemas.microsoft.com/office/drawing/2014/main" xmlns="" id="{12C9170B-4E04-03CC-57ED-89EF15AC16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xmlns="" id="{39E2B2BB-4574-1C21-16A5-F1B5255A8A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005C5A-BF31-428A-BB0A-51F900B53137}" type="slidenum">
              <a:rPr lang="en-US" smtClean="0"/>
              <a:t>‹#›</a:t>
            </a:fld>
            <a:endParaRPr lang="en-US"/>
          </a:p>
        </p:txBody>
      </p:sp>
    </p:spTree>
    <p:extLst>
      <p:ext uri="{BB962C8B-B14F-4D97-AF65-F5344CB8AC3E}">
        <p14:creationId xmlns:p14="http://schemas.microsoft.com/office/powerpoint/2010/main" val="20727527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merge-sort/"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xmlns="" id="{5F9F4DA5-7618-774A-2CE5-7C07C6AF157E}"/>
              </a:ext>
            </a:extLst>
          </p:cNvPr>
          <p:cNvSpPr txBox="1"/>
          <p:nvPr/>
        </p:nvSpPr>
        <p:spPr>
          <a:xfrm>
            <a:off x="217715" y="730552"/>
            <a:ext cx="10600266" cy="2285241"/>
          </a:xfrm>
          <a:prstGeom prst="rect">
            <a:avLst/>
          </a:prstGeom>
          <a:noFill/>
        </p:spPr>
        <p:txBody>
          <a:bodyPr wrap="square">
            <a:spAutoFit/>
          </a:bodyPr>
          <a:lstStyle/>
          <a:p>
            <a:pPr algn="l" fontAlgn="base">
              <a:lnSpc>
                <a:spcPts val="2250"/>
              </a:lnSpc>
              <a:spcBef>
                <a:spcPts val="975"/>
              </a:spcBef>
            </a:pPr>
            <a:r>
              <a:rPr lang="en-US" sz="28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Python Program for Merge Sort</a:t>
            </a:r>
          </a:p>
          <a:p>
            <a:pPr algn="l" rtl="0" fontAlgn="base">
              <a:spcBef>
                <a:spcPts val="750"/>
              </a:spcBef>
              <a:spcAft>
                <a:spcPts val="750"/>
              </a:spcAft>
            </a:pPr>
            <a:endParaRPr lang="en-US" b="0" i="0" dirty="0">
              <a:solidFill>
                <a:srgbClr val="273239"/>
              </a:solidFill>
              <a:effectLst/>
              <a:latin typeface="var(--font-secondary)"/>
            </a:endParaRPr>
          </a:p>
          <a:p>
            <a:pPr algn="l" rtl="0" fontAlgn="base">
              <a:spcBef>
                <a:spcPts val="750"/>
              </a:spcBef>
              <a:spcAft>
                <a:spcPts val="750"/>
              </a:spcAft>
            </a:pPr>
            <a:r>
              <a:rPr lang="en-US" b="0" i="0" dirty="0">
                <a:solidFill>
                  <a:srgbClr val="273239"/>
                </a:solidFill>
                <a:effectLst/>
                <a:latin typeface="var(--font-secondary)"/>
              </a:rPr>
              <a:t>Merge Sort is a </a:t>
            </a:r>
            <a:r>
              <a:rPr lang="en-US" b="0" i="0" u="sng" dirty="0">
                <a:solidFill>
                  <a:srgbClr val="273239"/>
                </a:solidFill>
                <a:effectLst/>
                <a:latin typeface="var(--font-secondary)"/>
                <a:hlinkClick r:id="rId2"/>
              </a:rPr>
              <a:t>Divide and Conquer</a:t>
            </a:r>
            <a:r>
              <a:rPr lang="en-US" b="0" i="0" dirty="0">
                <a:solidFill>
                  <a:srgbClr val="273239"/>
                </a:solidFill>
                <a:effectLst/>
                <a:latin typeface="var(--font-secondary)"/>
              </a:rPr>
              <a:t> algorithm. It divides input array in two halves, calls itself for the two halves and then merges the two sorted halves. </a:t>
            </a:r>
          </a:p>
          <a:p>
            <a:pPr algn="l" rtl="0" fontAlgn="base">
              <a:spcBef>
                <a:spcPts val="750"/>
              </a:spcBef>
              <a:spcAft>
                <a:spcPts val="750"/>
              </a:spcAft>
            </a:pPr>
            <a:r>
              <a:rPr lang="en-US" b="1" i="0" dirty="0">
                <a:solidFill>
                  <a:srgbClr val="273239"/>
                </a:solidFill>
                <a:effectLst/>
                <a:latin typeface="var(--font-secondary)"/>
              </a:rPr>
              <a:t>The merge() function</a:t>
            </a:r>
            <a:r>
              <a:rPr lang="en-US" b="0" i="0" dirty="0">
                <a:solidFill>
                  <a:srgbClr val="273239"/>
                </a:solidFill>
                <a:effectLst/>
                <a:latin typeface="var(--font-secondary)"/>
              </a:rPr>
              <a:t> is used for merging two halves. The merge(</a:t>
            </a:r>
            <a:r>
              <a:rPr lang="en-US" b="0" i="0" dirty="0" err="1">
                <a:solidFill>
                  <a:srgbClr val="273239"/>
                </a:solidFill>
                <a:effectLst/>
                <a:latin typeface="var(--font-secondary)"/>
              </a:rPr>
              <a:t>arr</a:t>
            </a:r>
            <a:r>
              <a:rPr lang="en-US" b="0" i="0" dirty="0">
                <a:solidFill>
                  <a:srgbClr val="273239"/>
                </a:solidFill>
                <a:effectLst/>
                <a:latin typeface="var(--font-secondary)"/>
              </a:rPr>
              <a:t>, l, m, r) is key process that assumes that </a:t>
            </a:r>
            <a:r>
              <a:rPr lang="en-US" b="0" i="0" dirty="0" err="1">
                <a:solidFill>
                  <a:srgbClr val="273239"/>
                </a:solidFill>
                <a:effectLst/>
                <a:latin typeface="var(--font-secondary)"/>
              </a:rPr>
              <a:t>arr</a:t>
            </a:r>
            <a:r>
              <a:rPr lang="en-US" b="0" i="0" dirty="0">
                <a:solidFill>
                  <a:srgbClr val="273239"/>
                </a:solidFill>
                <a:effectLst/>
                <a:latin typeface="var(--font-secondary)"/>
              </a:rPr>
              <a:t>[</a:t>
            </a:r>
            <a:r>
              <a:rPr lang="en-US" b="0" i="0" dirty="0" err="1">
                <a:solidFill>
                  <a:srgbClr val="273239"/>
                </a:solidFill>
                <a:effectLst/>
                <a:latin typeface="var(--font-secondary)"/>
              </a:rPr>
              <a:t>l..m</a:t>
            </a:r>
            <a:r>
              <a:rPr lang="en-US" b="0" i="0" dirty="0">
                <a:solidFill>
                  <a:srgbClr val="273239"/>
                </a:solidFill>
                <a:effectLst/>
                <a:latin typeface="var(--font-secondary)"/>
              </a:rPr>
              <a:t>] and </a:t>
            </a:r>
            <a:r>
              <a:rPr lang="en-US" b="0" i="0" dirty="0" err="1">
                <a:solidFill>
                  <a:srgbClr val="273239"/>
                </a:solidFill>
                <a:effectLst/>
                <a:latin typeface="var(--font-secondary)"/>
              </a:rPr>
              <a:t>arr</a:t>
            </a:r>
            <a:r>
              <a:rPr lang="en-US" b="0" i="0" dirty="0">
                <a:solidFill>
                  <a:srgbClr val="273239"/>
                </a:solidFill>
                <a:effectLst/>
                <a:latin typeface="var(--font-secondary)"/>
              </a:rPr>
              <a:t>[m+1..r] are sorted and merges the two sorted sub-arrays into one. </a:t>
            </a:r>
          </a:p>
        </p:txBody>
      </p:sp>
      <p:sp>
        <p:nvSpPr>
          <p:cNvPr id="7" name="TextBox 6">
            <a:extLst>
              <a:ext uri="{FF2B5EF4-FFF2-40B4-BE49-F238E27FC236}">
                <a16:creationId xmlns:a16="http://schemas.microsoft.com/office/drawing/2014/main" xmlns="" id="{C5A52947-ABD0-8AB9-6B54-9EB98F6E1405}"/>
              </a:ext>
            </a:extLst>
          </p:cNvPr>
          <p:cNvSpPr txBox="1"/>
          <p:nvPr/>
        </p:nvSpPr>
        <p:spPr>
          <a:xfrm>
            <a:off x="344981" y="3429000"/>
            <a:ext cx="11194978" cy="2308324"/>
          </a:xfrm>
          <a:prstGeom prst="rect">
            <a:avLst/>
          </a:prstGeom>
          <a:noFill/>
        </p:spPr>
        <p:txBody>
          <a:bodyPr wrap="square">
            <a:spAutoFit/>
          </a:bodyPr>
          <a:lstStyle/>
          <a:p>
            <a:pPr algn="l" fontAlgn="base"/>
            <a:r>
              <a:rPr lang="en-US" b="1" i="0" dirty="0">
                <a:solidFill>
                  <a:srgbClr val="273239"/>
                </a:solidFill>
                <a:effectLst/>
                <a:latin typeface="Nunito" pitchFamily="2" charset="0"/>
              </a:rPr>
              <a:t>Python Program for Merge Sort</a:t>
            </a:r>
          </a:p>
          <a:p>
            <a:pPr algn="l" rtl="0" fontAlgn="base">
              <a:spcAft>
                <a:spcPts val="750"/>
              </a:spcAft>
            </a:pPr>
            <a:r>
              <a:rPr lang="en-US" b="0" i="0" dirty="0">
                <a:solidFill>
                  <a:srgbClr val="273239"/>
                </a:solidFill>
                <a:effectLst/>
                <a:latin typeface="Nunito" pitchFamily="2" charset="0"/>
              </a:rPr>
              <a:t>The provided </a:t>
            </a:r>
            <a:r>
              <a:rPr lang="en-US" b="0" i="0" u="sng" dirty="0">
                <a:solidFill>
                  <a:srgbClr val="273239"/>
                </a:solidFill>
                <a:effectLst/>
                <a:latin typeface="Nunito" pitchFamily="2" charset="0"/>
                <a:hlinkClick r:id="rId2"/>
              </a:rPr>
              <a:t>Python</a:t>
            </a:r>
            <a:r>
              <a:rPr lang="en-US" b="0" i="0" dirty="0">
                <a:solidFill>
                  <a:srgbClr val="273239"/>
                </a:solidFill>
                <a:effectLst/>
                <a:latin typeface="Nunito" pitchFamily="2" charset="0"/>
              </a:rPr>
              <a:t> code implements the Merge Sort algorithm, a divide-and-conquer sorting technique. It breaks down an array into smaller subarrays, sorts them individually, and then merges them back together to create a sorted array. The code includes two main functions: merge, responsible for merging two subarrays, and </a:t>
            </a:r>
            <a:r>
              <a:rPr lang="en-US" b="0" i="0" dirty="0" err="1">
                <a:solidFill>
                  <a:srgbClr val="273239"/>
                </a:solidFill>
                <a:effectLst/>
                <a:latin typeface="Nunito" pitchFamily="2" charset="0"/>
              </a:rPr>
              <a:t>mergeSort</a:t>
            </a:r>
            <a:r>
              <a:rPr lang="en-US" b="0" i="0" dirty="0">
                <a:solidFill>
                  <a:srgbClr val="273239"/>
                </a:solidFill>
                <a:effectLst/>
                <a:latin typeface="Nunito" pitchFamily="2" charset="0"/>
              </a:rPr>
              <a:t>, which recursively divides and sorts the array. The merge function combines two sorted subarrays into a single sorted array. The </a:t>
            </a:r>
            <a:r>
              <a:rPr lang="en-US" b="0" i="0" dirty="0" err="1">
                <a:solidFill>
                  <a:srgbClr val="273239"/>
                </a:solidFill>
                <a:effectLst/>
                <a:latin typeface="Nunito" pitchFamily="2" charset="0"/>
              </a:rPr>
              <a:t>mergeSort</a:t>
            </a:r>
            <a:r>
              <a:rPr lang="en-US" b="0" i="0" dirty="0">
                <a:solidFill>
                  <a:srgbClr val="273239"/>
                </a:solidFill>
                <a:effectLst/>
                <a:latin typeface="Nunito" pitchFamily="2" charset="0"/>
              </a:rPr>
              <a:t> function recursively splits the array in half until each subarray has a single element, then merges them to achieve the final sorted result. The example sorts an array using Merge Sort and prints both the initial and sorted arrays.</a:t>
            </a:r>
          </a:p>
        </p:txBody>
      </p:sp>
    </p:spTree>
    <p:extLst>
      <p:ext uri="{BB962C8B-B14F-4D97-AF65-F5344CB8AC3E}">
        <p14:creationId xmlns:p14="http://schemas.microsoft.com/office/powerpoint/2010/main" val="24577126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C584404-45D4-865C-DB81-5D7DD9E330F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8B337E33-8A1E-A678-56A6-4A8C994AE809}"/>
              </a:ext>
            </a:extLst>
          </p:cNvPr>
          <p:cNvSpPr txBox="1"/>
          <p:nvPr/>
        </p:nvSpPr>
        <p:spPr>
          <a:xfrm>
            <a:off x="566056" y="604762"/>
            <a:ext cx="8186057" cy="1874872"/>
          </a:xfrm>
          <a:prstGeom prst="rect">
            <a:avLst/>
          </a:prstGeom>
          <a:noFill/>
        </p:spPr>
        <p:txBody>
          <a:bodyPr wrap="square">
            <a:spAutoFit/>
          </a:bodyPr>
          <a:lstStyle/>
          <a:p>
            <a:pPr algn="l" fontAlgn="base">
              <a:lnSpc>
                <a:spcPts val="2250"/>
              </a:lnSpc>
              <a:spcBef>
                <a:spcPts val="975"/>
              </a:spcBef>
            </a:pPr>
            <a:r>
              <a:rPr lang="en-US" b="1" i="0" dirty="0">
                <a:solidFill>
                  <a:srgbClr val="273239"/>
                </a:solidFill>
                <a:effectLst/>
                <a:latin typeface="Source Sans 3"/>
              </a:rPr>
              <a:t>Introduction to Divide and Conquer Algorithm</a:t>
            </a:r>
          </a:p>
          <a:p>
            <a:pPr algn="l" rtl="0" fontAlgn="base">
              <a:spcBef>
                <a:spcPts val="750"/>
              </a:spcBef>
              <a:spcAft>
                <a:spcPts val="750"/>
              </a:spcAft>
            </a:pPr>
            <a:r>
              <a:rPr lang="en-US" b="1" i="0" dirty="0">
                <a:solidFill>
                  <a:srgbClr val="273239"/>
                </a:solidFill>
                <a:effectLst/>
                <a:latin typeface="var(--font-secondary)"/>
              </a:rPr>
              <a:t>Divide and Conquer</a:t>
            </a:r>
            <a:r>
              <a:rPr lang="en-US" b="0" i="0" dirty="0">
                <a:solidFill>
                  <a:srgbClr val="273239"/>
                </a:solidFill>
                <a:effectLst/>
                <a:latin typeface="var(--font-secondary)"/>
              </a:rPr>
              <a:t> </a:t>
            </a:r>
            <a:r>
              <a:rPr lang="en-US" b="1" i="0" dirty="0">
                <a:solidFill>
                  <a:srgbClr val="273239"/>
                </a:solidFill>
                <a:effectLst/>
                <a:latin typeface="var(--font-secondary)"/>
              </a:rPr>
              <a:t>Algorithm </a:t>
            </a:r>
            <a:r>
              <a:rPr lang="en-US" b="0" i="0" dirty="0">
                <a:solidFill>
                  <a:srgbClr val="273239"/>
                </a:solidFill>
                <a:effectLst/>
                <a:latin typeface="var(--font-secondary)"/>
              </a:rPr>
              <a:t>is a problem-solving technique used to solve problems by dividing the main problem into subproblems, solving them individually and then merging them to find solution to the original problem. In this article, we are going to discuss how Divide and Conquer Algorithm is helpful and how we can use it to solve problems.</a:t>
            </a:r>
          </a:p>
        </p:txBody>
      </p:sp>
    </p:spTree>
    <p:extLst>
      <p:ext uri="{BB962C8B-B14F-4D97-AF65-F5344CB8AC3E}">
        <p14:creationId xmlns:p14="http://schemas.microsoft.com/office/powerpoint/2010/main" val="1691897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0CB311BF-8448-A49C-F757-32CC43CB4941}"/>
            </a:ext>
          </a:extLst>
        </p:cNvPr>
        <p:cNvGrpSpPr/>
        <p:nvPr/>
      </p:nvGrpSpPr>
      <p:grpSpPr>
        <a:xfrm>
          <a:off x="0" y="0"/>
          <a:ext cx="0" cy="0"/>
          <a:chOff x="0" y="0"/>
          <a:chExt cx="0" cy="0"/>
        </a:xfrm>
      </p:grpSpPr>
      <p:sp>
        <p:nvSpPr>
          <p:cNvPr id="2" name="AutoShape 2" descr="Lightbox">
            <a:extLst>
              <a:ext uri="{FF2B5EF4-FFF2-40B4-BE49-F238E27FC236}">
                <a16:creationId xmlns:a16="http://schemas.microsoft.com/office/drawing/2014/main" xmlns="" id="{31791D10-50AD-F047-A5F2-3C33A12B607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xmlns="" id="{E53ED54D-A590-6997-960F-00A86C58F139}"/>
              </a:ext>
            </a:extLst>
          </p:cNvPr>
          <p:cNvPicPr>
            <a:picLocks noChangeAspect="1"/>
          </p:cNvPicPr>
          <p:nvPr/>
        </p:nvPicPr>
        <p:blipFill>
          <a:blip r:embed="rId2"/>
          <a:stretch>
            <a:fillRect/>
          </a:stretch>
        </p:blipFill>
        <p:spPr>
          <a:xfrm>
            <a:off x="1328737" y="1185862"/>
            <a:ext cx="9534525" cy="4486275"/>
          </a:xfrm>
          <a:prstGeom prst="rect">
            <a:avLst/>
          </a:prstGeom>
        </p:spPr>
      </p:pic>
    </p:spTree>
    <p:extLst>
      <p:ext uri="{BB962C8B-B14F-4D97-AF65-F5344CB8AC3E}">
        <p14:creationId xmlns:p14="http://schemas.microsoft.com/office/powerpoint/2010/main" val="3343525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B33DF5F-9F17-22B6-76A2-CA45D2B76A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AB60D9FB-0282-E39C-C8B6-79D5B125A9D6}"/>
              </a:ext>
            </a:extLst>
          </p:cNvPr>
          <p:cNvSpPr txBox="1"/>
          <p:nvPr/>
        </p:nvSpPr>
        <p:spPr>
          <a:xfrm>
            <a:off x="377371" y="293773"/>
            <a:ext cx="10837333" cy="646331"/>
          </a:xfrm>
          <a:prstGeom prst="rect">
            <a:avLst/>
          </a:prstGeom>
          <a:noFill/>
        </p:spPr>
        <p:txBody>
          <a:bodyPr wrap="square">
            <a:spAutoFit/>
          </a:bodyPr>
          <a:lstStyle/>
          <a:p>
            <a:pPr algn="l" fontAlgn="base"/>
            <a:r>
              <a:rPr lang="en-US" b="1" i="0" u="sng" dirty="0">
                <a:solidFill>
                  <a:srgbClr val="273239"/>
                </a:solidFill>
                <a:effectLst/>
                <a:latin typeface="Nunito" panose="020F0502020204030204" pitchFamily="2" charset="0"/>
              </a:rPr>
              <a:t>Working of Divide and Conquer Algorithm:</a:t>
            </a:r>
            <a:endParaRPr lang="en-US" b="1" i="0" dirty="0">
              <a:solidFill>
                <a:srgbClr val="273239"/>
              </a:solidFill>
              <a:effectLst/>
              <a:latin typeface="Nunito" panose="020F0502020204030204" pitchFamily="2" charset="0"/>
            </a:endParaRPr>
          </a:p>
          <a:p>
            <a:pPr algn="l" rtl="0" fontAlgn="base">
              <a:spcAft>
                <a:spcPts val="750"/>
              </a:spcAft>
            </a:pPr>
            <a:r>
              <a:rPr lang="en-US" b="0" i="0" dirty="0">
                <a:solidFill>
                  <a:srgbClr val="273239"/>
                </a:solidFill>
                <a:effectLst/>
                <a:latin typeface="Nunito" panose="020F0502020204030204" pitchFamily="2" charset="0"/>
              </a:rPr>
              <a:t>Divide and Conquer Algorithm can be divided into three steps: </a:t>
            </a:r>
            <a:r>
              <a:rPr lang="en-US" b="1" i="0" dirty="0">
                <a:solidFill>
                  <a:srgbClr val="273239"/>
                </a:solidFill>
                <a:effectLst/>
                <a:latin typeface="Nunito" panose="020F0502020204030204" pitchFamily="2" charset="0"/>
              </a:rPr>
              <a:t>Divide</a:t>
            </a:r>
            <a:r>
              <a:rPr lang="en-US" b="0" i="0" dirty="0">
                <a:solidFill>
                  <a:srgbClr val="273239"/>
                </a:solidFill>
                <a:effectLst/>
                <a:latin typeface="Nunito" panose="020F0502020204030204" pitchFamily="2" charset="0"/>
              </a:rPr>
              <a:t>,</a:t>
            </a:r>
            <a:r>
              <a:rPr lang="en-US" b="1" i="0" dirty="0">
                <a:solidFill>
                  <a:srgbClr val="273239"/>
                </a:solidFill>
                <a:effectLst/>
                <a:latin typeface="Nunito" panose="020F0502020204030204" pitchFamily="2" charset="0"/>
              </a:rPr>
              <a:t> Conquer</a:t>
            </a:r>
            <a:r>
              <a:rPr lang="en-US" b="0" i="0" dirty="0">
                <a:solidFill>
                  <a:srgbClr val="273239"/>
                </a:solidFill>
                <a:effectLst/>
                <a:latin typeface="Nunito" panose="020F0502020204030204" pitchFamily="2" charset="0"/>
              </a:rPr>
              <a:t> and </a:t>
            </a:r>
            <a:r>
              <a:rPr lang="en-US" b="1" i="0" dirty="0">
                <a:solidFill>
                  <a:srgbClr val="273239"/>
                </a:solidFill>
                <a:effectLst/>
                <a:latin typeface="Nunito" panose="020F0502020204030204" pitchFamily="2" charset="0"/>
              </a:rPr>
              <a:t>Merge </a:t>
            </a:r>
            <a:r>
              <a:rPr lang="en-US" b="0" i="0" dirty="0">
                <a:solidFill>
                  <a:srgbClr val="273239"/>
                </a:solidFill>
                <a:effectLst/>
                <a:latin typeface="Nunito" panose="020F0502020204030204" pitchFamily="2" charset="0"/>
              </a:rPr>
              <a:t>.</a:t>
            </a:r>
            <a:endParaRPr lang="en-US" dirty="0"/>
          </a:p>
        </p:txBody>
      </p:sp>
      <p:pic>
        <p:nvPicPr>
          <p:cNvPr id="6" name="Picture 5">
            <a:extLst>
              <a:ext uri="{FF2B5EF4-FFF2-40B4-BE49-F238E27FC236}">
                <a16:creationId xmlns:a16="http://schemas.microsoft.com/office/drawing/2014/main" xmlns="" id="{990FA50D-F8DB-35FA-8833-38FCFC1CBE1C}"/>
              </a:ext>
            </a:extLst>
          </p:cNvPr>
          <p:cNvPicPr>
            <a:picLocks noChangeAspect="1"/>
          </p:cNvPicPr>
          <p:nvPr/>
        </p:nvPicPr>
        <p:blipFill>
          <a:blip r:embed="rId2"/>
          <a:stretch>
            <a:fillRect/>
          </a:stretch>
        </p:blipFill>
        <p:spPr>
          <a:xfrm>
            <a:off x="2216235" y="1427160"/>
            <a:ext cx="6497175" cy="4647068"/>
          </a:xfrm>
          <a:prstGeom prst="rect">
            <a:avLst/>
          </a:prstGeom>
        </p:spPr>
      </p:pic>
    </p:spTree>
    <p:extLst>
      <p:ext uri="{BB962C8B-B14F-4D97-AF65-F5344CB8AC3E}">
        <p14:creationId xmlns:p14="http://schemas.microsoft.com/office/powerpoint/2010/main" val="2598401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F9CBFB3-6A78-5302-075C-D6E90D53C3B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xmlns="" id="{70D0D138-1F06-52A1-6E57-D7A1F2CA216B}"/>
              </a:ext>
            </a:extLst>
          </p:cNvPr>
          <p:cNvSpPr txBox="1"/>
          <p:nvPr/>
        </p:nvSpPr>
        <p:spPr>
          <a:xfrm>
            <a:off x="0" y="72662"/>
            <a:ext cx="11567885" cy="6509474"/>
          </a:xfrm>
          <a:prstGeom prst="rect">
            <a:avLst/>
          </a:prstGeom>
          <a:noFill/>
        </p:spPr>
        <p:txBody>
          <a:bodyPr wrap="square">
            <a:spAutoFit/>
          </a:bodyPr>
          <a:lstStyle/>
          <a:p>
            <a:pPr algn="l" fontAlgn="base">
              <a:spcBef>
                <a:spcPts val="1800"/>
              </a:spcBef>
              <a:spcAft>
                <a:spcPts val="1800"/>
              </a:spcAft>
            </a:pPr>
            <a:r>
              <a:rPr lang="en-US" b="1" i="0" dirty="0">
                <a:solidFill>
                  <a:srgbClr val="273239"/>
                </a:solidFill>
                <a:effectLst/>
                <a:latin typeface="Nunito" pitchFamily="2" charset="0"/>
              </a:rPr>
              <a:t>1. Divide: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Break down the original problem into smaller subproblems.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Each subproblem should represent a part of the overall problem.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goal is to divide the problem until no further division is possible.</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2. Conquer: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Solve each of the smaller subproblems individually.</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If a subproblem is small enough (often referred to as the “base case”), we solve it directly without further recursion.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goal is to find solutions for these subproblems independently.</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3. Merge: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Combine the sub-problems to get the final solution of the whole problem.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Once the smaller subproblems are solved, we recursively combine their solutions to get the solution of larger problem.</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goal is to formulate a solution for the original problem by merging the results from the subproblems.</a:t>
            </a:r>
          </a:p>
        </p:txBody>
      </p:sp>
    </p:spTree>
    <p:extLst>
      <p:ext uri="{BB962C8B-B14F-4D97-AF65-F5344CB8AC3E}">
        <p14:creationId xmlns:p14="http://schemas.microsoft.com/office/powerpoint/2010/main" val="3213353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A0849C8-E131-8821-201C-AAE714CA823F}"/>
            </a:ext>
          </a:extLst>
        </p:cNvPr>
        <p:cNvGrpSpPr/>
        <p:nvPr/>
      </p:nvGrpSpPr>
      <p:grpSpPr>
        <a:xfrm>
          <a:off x="0" y="0"/>
          <a:ext cx="0" cy="0"/>
          <a:chOff x="0" y="0"/>
          <a:chExt cx="0" cy="0"/>
        </a:xfrm>
      </p:grpSpPr>
      <p:sp>
        <p:nvSpPr>
          <p:cNvPr id="2" name="AutoShape 2" descr="Lightbox">
            <a:extLst>
              <a:ext uri="{FF2B5EF4-FFF2-40B4-BE49-F238E27FC236}">
                <a16:creationId xmlns:a16="http://schemas.microsoft.com/office/drawing/2014/main" xmlns="" id="{B666A4ED-33E0-8582-3F6D-55EEB2B7D7D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Rectangle 3"/>
          <p:cNvSpPr/>
          <p:nvPr/>
        </p:nvSpPr>
        <p:spPr>
          <a:xfrm>
            <a:off x="435428" y="557348"/>
            <a:ext cx="11408229" cy="5078313"/>
          </a:xfrm>
          <a:prstGeom prst="rect">
            <a:avLst/>
          </a:prstGeom>
        </p:spPr>
        <p:txBody>
          <a:bodyPr wrap="square">
            <a:spAutoFit/>
          </a:bodyPr>
          <a:lstStyle/>
          <a:p>
            <a:pPr fontAlgn="base"/>
            <a:r>
              <a:rPr lang="en-US" b="1" dirty="0"/>
              <a:t>Python Program for </a:t>
            </a:r>
            <a:r>
              <a:rPr lang="en-US" b="1" dirty="0" err="1"/>
              <a:t>QuickSort</a:t>
            </a:r>
            <a:endParaRPr lang="en-US" b="1" dirty="0"/>
          </a:p>
          <a:p>
            <a:pPr fontAlgn="base"/>
            <a:endParaRPr lang="en-US" dirty="0" smtClean="0">
              <a:solidFill>
                <a:srgbClr val="273239"/>
              </a:solidFill>
              <a:latin typeface="Nunito"/>
            </a:endParaRPr>
          </a:p>
          <a:p>
            <a:pPr fontAlgn="base"/>
            <a:endParaRPr lang="en-US" dirty="0">
              <a:solidFill>
                <a:srgbClr val="273239"/>
              </a:solidFill>
              <a:latin typeface="Nunito"/>
            </a:endParaRPr>
          </a:p>
          <a:p>
            <a:pPr fontAlgn="base"/>
            <a:r>
              <a:rPr lang="en-US" dirty="0" smtClean="0">
                <a:solidFill>
                  <a:srgbClr val="273239"/>
                </a:solidFill>
                <a:latin typeface="Nunito"/>
              </a:rPr>
              <a:t>Just </a:t>
            </a:r>
            <a:r>
              <a:rPr lang="en-US" dirty="0">
                <a:solidFill>
                  <a:srgbClr val="273239"/>
                </a:solidFill>
                <a:latin typeface="Nunito"/>
              </a:rPr>
              <a:t>like </a:t>
            </a:r>
            <a:r>
              <a:rPr lang="en-US" u="sng" dirty="0">
                <a:solidFill>
                  <a:srgbClr val="273239"/>
                </a:solidFill>
                <a:latin typeface="Nunito"/>
                <a:hlinkClick r:id="rId2"/>
              </a:rPr>
              <a:t>merge Sort</a:t>
            </a:r>
            <a:r>
              <a:rPr lang="en-US" dirty="0">
                <a:solidFill>
                  <a:srgbClr val="273239"/>
                </a:solidFill>
                <a:latin typeface="Nunito"/>
              </a:rPr>
              <a:t>, </a:t>
            </a:r>
            <a:r>
              <a:rPr lang="en-US" dirty="0" err="1">
                <a:solidFill>
                  <a:srgbClr val="273239"/>
                </a:solidFill>
                <a:latin typeface="Nunito"/>
              </a:rPr>
              <a:t>QuickSort</a:t>
            </a:r>
            <a:r>
              <a:rPr lang="en-US" dirty="0">
                <a:solidFill>
                  <a:srgbClr val="273239"/>
                </a:solidFill>
                <a:latin typeface="Nunito"/>
              </a:rPr>
              <a:t> is a </a:t>
            </a:r>
            <a:r>
              <a:rPr lang="en-US" b="1" dirty="0">
                <a:solidFill>
                  <a:srgbClr val="273239"/>
                </a:solidFill>
                <a:latin typeface="Nunito"/>
              </a:rPr>
              <a:t>divide and conquer algorithm</a:t>
            </a:r>
            <a:r>
              <a:rPr lang="en-US" dirty="0">
                <a:solidFill>
                  <a:srgbClr val="273239"/>
                </a:solidFill>
                <a:latin typeface="Nunito"/>
              </a:rPr>
              <a:t>. It picks an element as a pivot and partitions the given array around the picked pivot</a:t>
            </a:r>
            <a:r>
              <a:rPr lang="en-US" dirty="0" smtClean="0">
                <a:solidFill>
                  <a:srgbClr val="273239"/>
                </a:solidFill>
                <a:latin typeface="Nunito"/>
              </a:rPr>
              <a:t>.</a:t>
            </a:r>
          </a:p>
          <a:p>
            <a:pPr fontAlgn="base"/>
            <a:endParaRPr lang="en-US" dirty="0">
              <a:solidFill>
                <a:srgbClr val="273239"/>
              </a:solidFill>
              <a:latin typeface="Nunito"/>
            </a:endParaRPr>
          </a:p>
          <a:p>
            <a:pPr fontAlgn="base"/>
            <a:r>
              <a:rPr lang="en-US" dirty="0">
                <a:solidFill>
                  <a:srgbClr val="273239"/>
                </a:solidFill>
                <a:latin typeface="Nunito"/>
              </a:rPr>
              <a:t>There are many different versions of </a:t>
            </a:r>
            <a:r>
              <a:rPr lang="en-US" dirty="0" err="1">
                <a:solidFill>
                  <a:srgbClr val="273239"/>
                </a:solidFill>
                <a:latin typeface="Nunito"/>
              </a:rPr>
              <a:t>quickSort</a:t>
            </a:r>
            <a:r>
              <a:rPr lang="en-US" dirty="0">
                <a:solidFill>
                  <a:srgbClr val="273239"/>
                </a:solidFill>
                <a:latin typeface="Nunito"/>
              </a:rPr>
              <a:t> that pick pivot in different ways. </a:t>
            </a:r>
            <a:endParaRPr lang="en-US" dirty="0" smtClean="0">
              <a:solidFill>
                <a:srgbClr val="273239"/>
              </a:solidFill>
              <a:latin typeface="Nunito"/>
            </a:endParaRPr>
          </a:p>
          <a:p>
            <a:pPr fontAlgn="base"/>
            <a:endParaRPr lang="en-US" dirty="0">
              <a:solidFill>
                <a:srgbClr val="273239"/>
              </a:solidFill>
              <a:latin typeface="Nunito"/>
            </a:endParaRPr>
          </a:p>
          <a:p>
            <a:pPr fontAlgn="base">
              <a:buFont typeface="+mj-lt"/>
              <a:buAutoNum type="arabicPeriod"/>
            </a:pPr>
            <a:r>
              <a:rPr lang="en-US" dirty="0">
                <a:solidFill>
                  <a:srgbClr val="273239"/>
                </a:solidFill>
                <a:latin typeface="Nunito"/>
              </a:rPr>
              <a:t>Always pick the first element as a pivot</a:t>
            </a:r>
          </a:p>
          <a:p>
            <a:pPr fontAlgn="base">
              <a:buFont typeface="+mj-lt"/>
              <a:buAutoNum type="arabicPeriod" startAt="2"/>
            </a:pPr>
            <a:r>
              <a:rPr lang="en-US" dirty="0">
                <a:solidFill>
                  <a:srgbClr val="273239"/>
                </a:solidFill>
                <a:latin typeface="Nunito"/>
              </a:rPr>
              <a:t>Always pick the last element as a pivot</a:t>
            </a:r>
          </a:p>
          <a:p>
            <a:pPr fontAlgn="base">
              <a:buFont typeface="+mj-lt"/>
              <a:buAutoNum type="arabicPeriod" startAt="3"/>
            </a:pPr>
            <a:r>
              <a:rPr lang="en-US" dirty="0">
                <a:solidFill>
                  <a:srgbClr val="273239"/>
                </a:solidFill>
                <a:latin typeface="Nunito"/>
              </a:rPr>
              <a:t>Pick a random element as a pivot</a:t>
            </a:r>
          </a:p>
          <a:p>
            <a:pPr fontAlgn="base">
              <a:buFont typeface="+mj-lt"/>
              <a:buAutoNum type="arabicPeriod" startAt="4"/>
            </a:pPr>
            <a:r>
              <a:rPr lang="en-US" dirty="0">
                <a:solidFill>
                  <a:srgbClr val="273239"/>
                </a:solidFill>
                <a:latin typeface="Nunito"/>
              </a:rPr>
              <a:t>Pick median as a </a:t>
            </a:r>
            <a:r>
              <a:rPr lang="en-US" dirty="0" smtClean="0">
                <a:solidFill>
                  <a:srgbClr val="273239"/>
                </a:solidFill>
                <a:latin typeface="Nunito"/>
              </a:rPr>
              <a:t>pivot</a:t>
            </a:r>
          </a:p>
          <a:p>
            <a:pPr fontAlgn="base">
              <a:buFont typeface="+mj-lt"/>
              <a:buAutoNum type="arabicPeriod" startAt="4"/>
            </a:pPr>
            <a:endParaRPr lang="en-US" dirty="0">
              <a:solidFill>
                <a:srgbClr val="273239"/>
              </a:solidFill>
              <a:latin typeface="Nunito"/>
            </a:endParaRPr>
          </a:p>
          <a:p>
            <a:pPr fontAlgn="base">
              <a:buFont typeface="+mj-lt"/>
              <a:buAutoNum type="arabicPeriod" startAt="4"/>
            </a:pPr>
            <a:endParaRPr lang="en-US" dirty="0">
              <a:solidFill>
                <a:srgbClr val="273239"/>
              </a:solidFill>
              <a:latin typeface="Nunito"/>
            </a:endParaRPr>
          </a:p>
          <a:p>
            <a:pPr fontAlgn="base"/>
            <a:r>
              <a:rPr lang="en-US" dirty="0">
                <a:solidFill>
                  <a:srgbClr val="273239"/>
                </a:solidFill>
                <a:latin typeface="Nunito"/>
              </a:rPr>
              <a:t>Here we will be picking the last element as a pivot. The key process in </a:t>
            </a:r>
            <a:r>
              <a:rPr lang="en-US" dirty="0" err="1">
                <a:solidFill>
                  <a:srgbClr val="273239"/>
                </a:solidFill>
                <a:latin typeface="Nunito"/>
              </a:rPr>
              <a:t>quickSort</a:t>
            </a:r>
            <a:r>
              <a:rPr lang="en-US" dirty="0">
                <a:solidFill>
                  <a:srgbClr val="273239"/>
                </a:solidFill>
                <a:latin typeface="Nunito"/>
              </a:rPr>
              <a:t> is partition(). Target of partitions is, given an array and an element ‘x’ of array as a pivot, put x at its correct position in a sorted array and put all smaller elements (smaller than x) before x, and put all greater elements (greater than x) after x. All this should be done in linear time. </a:t>
            </a:r>
            <a:endParaRPr lang="en-US" b="0" i="0" dirty="0">
              <a:solidFill>
                <a:srgbClr val="273239"/>
              </a:solidFill>
              <a:effectLst/>
              <a:latin typeface="Nunito"/>
            </a:endParaRPr>
          </a:p>
        </p:txBody>
      </p:sp>
    </p:spTree>
    <p:extLst>
      <p:ext uri="{BB962C8B-B14F-4D97-AF65-F5344CB8AC3E}">
        <p14:creationId xmlns:p14="http://schemas.microsoft.com/office/powerpoint/2010/main" val="652711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FEB4053-ADA3-2073-7C9C-D22C8BD41629}"/>
            </a:ext>
          </a:extLst>
        </p:cNvPr>
        <p:cNvGrpSpPr/>
        <p:nvPr/>
      </p:nvGrpSpPr>
      <p:grpSpPr>
        <a:xfrm>
          <a:off x="0" y="0"/>
          <a:ext cx="0" cy="0"/>
          <a:chOff x="0" y="0"/>
          <a:chExt cx="0" cy="0"/>
        </a:xfrm>
      </p:grpSpPr>
      <p:sp>
        <p:nvSpPr>
          <p:cNvPr id="2" name="AutoShape 2" descr="Lightbox">
            <a:extLst>
              <a:ext uri="{FF2B5EF4-FFF2-40B4-BE49-F238E27FC236}">
                <a16:creationId xmlns:a16="http://schemas.microsoft.com/office/drawing/2014/main" xmlns="" id="{6ACAB913-2F2B-3C08-57DA-4BEB00AC1D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4695429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191</Words>
  <Application>Microsoft Office PowerPoint</Application>
  <PresentationFormat>Widescreen</PresentationFormat>
  <Paragraphs>37</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Aptos</vt:lpstr>
      <vt:lpstr>Aptos Display</vt:lpstr>
      <vt:lpstr>Arial</vt:lpstr>
      <vt:lpstr>Calibri</vt:lpstr>
      <vt:lpstr>Nunito</vt:lpstr>
      <vt:lpstr>Source Sans 3</vt:lpstr>
      <vt:lpstr>var(--font-secondary)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Manisha Chakraburtty</dc:creator>
  <cp:lastModifiedBy>Microsoft account</cp:lastModifiedBy>
  <cp:revision>2</cp:revision>
  <dcterms:created xsi:type="dcterms:W3CDTF">2024-12-29T01:25:33Z</dcterms:created>
  <dcterms:modified xsi:type="dcterms:W3CDTF">2024-12-29T23:21:29Z</dcterms:modified>
</cp:coreProperties>
</file>