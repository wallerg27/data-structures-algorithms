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7EC9B93-C6C3-48AE-B54B-05903AFCDA04}" type="datetimeFigureOut">
              <a:rPr lang="en-US" smtClean="0"/>
              <a:t>12/28/2024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6F4729-15C4-45B4-B6D3-D8FE7D72688C}" type="slidenum">
              <a:rPr lang="en-US" smtClean="0"/>
              <a:t>‹#›</a:t>
            </a:fld>
            <a:endParaRPr lang="en-US"/>
          </a:p>
        </p:txBody>
      </p:sp>
    </p:spTree>
    <p:extLst>
      <p:ext uri="{BB962C8B-B14F-4D97-AF65-F5344CB8AC3E}">
        <p14:creationId xmlns:p14="http://schemas.microsoft.com/office/powerpoint/2010/main" val="3122531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7EC9B93-C6C3-48AE-B54B-05903AFCDA04}" type="datetimeFigureOut">
              <a:rPr lang="en-US" smtClean="0"/>
              <a:t>12/28/2024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6F4729-15C4-45B4-B6D3-D8FE7D72688C}" type="slidenum">
              <a:rPr lang="en-US" smtClean="0"/>
              <a:t>‹#›</a:t>
            </a:fld>
            <a:endParaRPr lang="en-US"/>
          </a:p>
        </p:txBody>
      </p:sp>
    </p:spTree>
    <p:extLst>
      <p:ext uri="{BB962C8B-B14F-4D97-AF65-F5344CB8AC3E}">
        <p14:creationId xmlns:p14="http://schemas.microsoft.com/office/powerpoint/2010/main" val="3557928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7EC9B93-C6C3-48AE-B54B-05903AFCDA04}" type="datetimeFigureOut">
              <a:rPr lang="en-US" smtClean="0"/>
              <a:t>12/28/2024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6F4729-15C4-45B4-B6D3-D8FE7D72688C}" type="slidenum">
              <a:rPr lang="en-US" smtClean="0"/>
              <a:t>‹#›</a:t>
            </a:fld>
            <a:endParaRPr lang="en-US"/>
          </a:p>
        </p:txBody>
      </p:sp>
    </p:spTree>
    <p:extLst>
      <p:ext uri="{BB962C8B-B14F-4D97-AF65-F5344CB8AC3E}">
        <p14:creationId xmlns:p14="http://schemas.microsoft.com/office/powerpoint/2010/main" val="3447502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7EC9B93-C6C3-48AE-B54B-05903AFCDA04}" type="datetimeFigureOut">
              <a:rPr lang="en-US" smtClean="0"/>
              <a:t>12/28/2024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6F4729-15C4-45B4-B6D3-D8FE7D72688C}" type="slidenum">
              <a:rPr lang="en-US" smtClean="0"/>
              <a:t>‹#›</a:t>
            </a:fld>
            <a:endParaRPr lang="en-US"/>
          </a:p>
        </p:txBody>
      </p:sp>
    </p:spTree>
    <p:extLst>
      <p:ext uri="{BB962C8B-B14F-4D97-AF65-F5344CB8AC3E}">
        <p14:creationId xmlns:p14="http://schemas.microsoft.com/office/powerpoint/2010/main" val="2137169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7EC9B93-C6C3-48AE-B54B-05903AFCDA04}" type="datetimeFigureOut">
              <a:rPr lang="en-US" smtClean="0"/>
              <a:t>12/28/2024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96F4729-15C4-45B4-B6D3-D8FE7D72688C}" type="slidenum">
              <a:rPr lang="en-US" smtClean="0"/>
              <a:t>‹#›</a:t>
            </a:fld>
            <a:endParaRPr lang="en-US"/>
          </a:p>
        </p:txBody>
      </p:sp>
    </p:spTree>
    <p:extLst>
      <p:ext uri="{BB962C8B-B14F-4D97-AF65-F5344CB8AC3E}">
        <p14:creationId xmlns:p14="http://schemas.microsoft.com/office/powerpoint/2010/main" val="1472390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7EC9B93-C6C3-48AE-B54B-05903AFCDA04}" type="datetimeFigureOut">
              <a:rPr lang="en-US" smtClean="0"/>
              <a:t>12/28/2024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96F4729-15C4-45B4-B6D3-D8FE7D72688C}" type="slidenum">
              <a:rPr lang="en-US" smtClean="0"/>
              <a:t>‹#›</a:t>
            </a:fld>
            <a:endParaRPr lang="en-US"/>
          </a:p>
        </p:txBody>
      </p:sp>
    </p:spTree>
    <p:extLst>
      <p:ext uri="{BB962C8B-B14F-4D97-AF65-F5344CB8AC3E}">
        <p14:creationId xmlns:p14="http://schemas.microsoft.com/office/powerpoint/2010/main" val="1884386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EC9B93-C6C3-48AE-B54B-05903AFCDA04}" type="datetimeFigureOut">
              <a:rPr lang="en-US" smtClean="0"/>
              <a:t>12/28/2024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96F4729-15C4-45B4-B6D3-D8FE7D72688C}" type="slidenum">
              <a:rPr lang="en-US" smtClean="0"/>
              <a:t>‹#›</a:t>
            </a:fld>
            <a:endParaRPr lang="en-US"/>
          </a:p>
        </p:txBody>
      </p:sp>
    </p:spTree>
    <p:extLst>
      <p:ext uri="{BB962C8B-B14F-4D97-AF65-F5344CB8AC3E}">
        <p14:creationId xmlns:p14="http://schemas.microsoft.com/office/powerpoint/2010/main" val="3804190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7EC9B93-C6C3-48AE-B54B-05903AFCDA04}" type="datetimeFigureOut">
              <a:rPr lang="en-US" smtClean="0"/>
              <a:t>12/28/2024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6F4729-15C4-45B4-B6D3-D8FE7D72688C}" type="slidenum">
              <a:rPr lang="en-US" smtClean="0"/>
              <a:t>‹#›</a:t>
            </a:fld>
            <a:endParaRPr lang="en-US"/>
          </a:p>
        </p:txBody>
      </p:sp>
    </p:spTree>
    <p:extLst>
      <p:ext uri="{BB962C8B-B14F-4D97-AF65-F5344CB8AC3E}">
        <p14:creationId xmlns:p14="http://schemas.microsoft.com/office/powerpoint/2010/main" val="914098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7EC9B93-C6C3-48AE-B54B-05903AFCDA04}" type="datetimeFigureOut">
              <a:rPr lang="en-US" smtClean="0"/>
              <a:t>12/28/2024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6F4729-15C4-45B4-B6D3-D8FE7D72688C}" type="slidenum">
              <a:rPr lang="en-US" smtClean="0"/>
              <a:t>‹#›</a:t>
            </a:fld>
            <a:endParaRPr lang="en-US"/>
          </a:p>
        </p:txBody>
      </p:sp>
    </p:spTree>
    <p:extLst>
      <p:ext uri="{BB962C8B-B14F-4D97-AF65-F5344CB8AC3E}">
        <p14:creationId xmlns:p14="http://schemas.microsoft.com/office/powerpoint/2010/main" val="3860633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7EC9B93-C6C3-48AE-B54B-05903AFCDA04}" type="datetimeFigureOut">
              <a:rPr lang="en-US" smtClean="0"/>
              <a:t>12/28/2024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6F4729-15C4-45B4-B6D3-D8FE7D72688C}" type="slidenum">
              <a:rPr lang="en-US" smtClean="0"/>
              <a:t>‹#›</a:t>
            </a:fld>
            <a:endParaRPr lang="en-US"/>
          </a:p>
        </p:txBody>
      </p:sp>
    </p:spTree>
    <p:extLst>
      <p:ext uri="{BB962C8B-B14F-4D97-AF65-F5344CB8AC3E}">
        <p14:creationId xmlns:p14="http://schemas.microsoft.com/office/powerpoint/2010/main" val="3876710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7EC9B93-C6C3-48AE-B54B-05903AFCDA04}" type="datetimeFigureOut">
              <a:rPr lang="en-US" smtClean="0"/>
              <a:t>12/28/2024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6F4729-15C4-45B4-B6D3-D8FE7D72688C}" type="slidenum">
              <a:rPr lang="en-US" smtClean="0"/>
              <a:t>‹#›</a:t>
            </a:fld>
            <a:endParaRPr lang="en-US"/>
          </a:p>
        </p:txBody>
      </p:sp>
    </p:spTree>
    <p:extLst>
      <p:ext uri="{BB962C8B-B14F-4D97-AF65-F5344CB8AC3E}">
        <p14:creationId xmlns:p14="http://schemas.microsoft.com/office/powerpoint/2010/main" val="3904857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EC9B93-C6C3-48AE-B54B-05903AFCDA04}" type="datetimeFigureOut">
              <a:rPr lang="en-US" smtClean="0"/>
              <a:t>12/28/2024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6F4729-15C4-45B4-B6D3-D8FE7D72688C}" type="slidenum">
              <a:rPr lang="en-US" smtClean="0"/>
              <a:t>‹#›</a:t>
            </a:fld>
            <a:endParaRPr lang="en-US"/>
          </a:p>
        </p:txBody>
      </p:sp>
    </p:spTree>
    <p:extLst>
      <p:ext uri="{BB962C8B-B14F-4D97-AF65-F5344CB8AC3E}">
        <p14:creationId xmlns:p14="http://schemas.microsoft.com/office/powerpoint/2010/main" val="3661849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93782" y="270475"/>
            <a:ext cx="5861669" cy="584775"/>
          </a:xfrm>
          <a:prstGeom prst="rect">
            <a:avLst/>
          </a:prstGeom>
        </p:spPr>
        <p:txBody>
          <a:bodyPr wrap="none">
            <a:spAutoFit/>
          </a:bodyPr>
          <a:lstStyle/>
          <a:p>
            <a:pPr fontAlgn="base"/>
            <a:r>
              <a:rPr lang="en-US" sz="3200" b="1" i="0" dirty="0" smtClean="0">
                <a:solidFill>
                  <a:srgbClr val="273239"/>
                </a:solidFill>
                <a:effectLst/>
                <a:latin typeface="Source Sans 3"/>
              </a:rPr>
              <a:t>Sorting Algorithms in Python</a:t>
            </a:r>
            <a:endParaRPr lang="en-US" sz="3200" b="1" i="0" dirty="0">
              <a:solidFill>
                <a:srgbClr val="273239"/>
              </a:solidFill>
              <a:effectLst/>
              <a:latin typeface="Source Sans 3"/>
            </a:endParaRPr>
          </a:p>
        </p:txBody>
      </p:sp>
      <p:sp>
        <p:nvSpPr>
          <p:cNvPr id="5" name="Rectangle 4"/>
          <p:cNvSpPr/>
          <p:nvPr/>
        </p:nvSpPr>
        <p:spPr>
          <a:xfrm>
            <a:off x="675503" y="1309816"/>
            <a:ext cx="10593859" cy="5632311"/>
          </a:xfrm>
          <a:prstGeom prst="rect">
            <a:avLst/>
          </a:prstGeom>
        </p:spPr>
        <p:txBody>
          <a:bodyPr wrap="square">
            <a:spAutoFit/>
          </a:bodyPr>
          <a:lstStyle/>
          <a:p>
            <a:r>
              <a:rPr lang="en-US" dirty="0"/>
              <a:t>Sorting is defined as an arrangement of data in a certain order. Sorting techniques are used to arrange data(mostly numerical) in an ascending or descending order</a:t>
            </a:r>
            <a:r>
              <a:rPr lang="en-US" dirty="0" smtClean="0"/>
              <a:t>.</a:t>
            </a:r>
          </a:p>
          <a:p>
            <a:r>
              <a:rPr lang="en-US" dirty="0" smtClean="0"/>
              <a:t>It </a:t>
            </a:r>
            <a:r>
              <a:rPr lang="en-US" dirty="0"/>
              <a:t>is a method used for the representation of data in a more comprehensible format. </a:t>
            </a:r>
            <a:endParaRPr lang="en-US" dirty="0" smtClean="0"/>
          </a:p>
          <a:p>
            <a:r>
              <a:rPr lang="en-US" dirty="0" smtClean="0"/>
              <a:t>Sorting </a:t>
            </a:r>
            <a:r>
              <a:rPr lang="en-US" dirty="0"/>
              <a:t>a large amount of data can take a substantial amount of computing resources if the methods we use to sort the data are inefficient. </a:t>
            </a:r>
            <a:endParaRPr lang="en-US" dirty="0" smtClean="0"/>
          </a:p>
          <a:p>
            <a:r>
              <a:rPr lang="en-US" dirty="0" smtClean="0"/>
              <a:t>The </a:t>
            </a:r>
            <a:r>
              <a:rPr lang="en-US" dirty="0"/>
              <a:t>efficiency of the algorithm is proportional to the number of items it is traversing. </a:t>
            </a:r>
            <a:endParaRPr lang="en-US" dirty="0" smtClean="0"/>
          </a:p>
          <a:p>
            <a:r>
              <a:rPr lang="en-US" dirty="0" smtClean="0"/>
              <a:t>For </a:t>
            </a:r>
            <a:r>
              <a:rPr lang="en-US" dirty="0"/>
              <a:t>a small amount of data, a complex sorting method may be more trouble than it is worth. On the other hand, for larger amounts of data, we want to increase the efficiency and speed as far as possible. </a:t>
            </a:r>
            <a:endParaRPr lang="en-US" altLang="en-US" b="1" i="1" dirty="0" smtClean="0"/>
          </a:p>
          <a:p>
            <a:pPr fontAlgn="base"/>
            <a:r>
              <a:rPr lang="en-US" dirty="0"/>
              <a:t>Some of the real-life examples of sorting are:</a:t>
            </a:r>
          </a:p>
          <a:p>
            <a:pPr fontAlgn="base"/>
            <a:r>
              <a:rPr lang="en-US" b="1" dirty="0"/>
              <a:t>Telephone Directory:</a:t>
            </a:r>
            <a:r>
              <a:rPr lang="en-US" dirty="0"/>
              <a:t>  It is a book that contains telephone numbers and addresses of people in alphabetical order.</a:t>
            </a:r>
          </a:p>
          <a:p>
            <a:pPr fontAlgn="base"/>
            <a:r>
              <a:rPr lang="en-US" b="1" dirty="0"/>
              <a:t>Dictionary:</a:t>
            </a:r>
            <a:r>
              <a:rPr lang="en-US" dirty="0"/>
              <a:t> It is a huge collection of words along with their meanings in alphabetical order.</a:t>
            </a:r>
          </a:p>
          <a:p>
            <a:pPr fontAlgn="base"/>
            <a:r>
              <a:rPr lang="en-US" b="1" dirty="0"/>
              <a:t>Contact List:</a:t>
            </a:r>
            <a:r>
              <a:rPr lang="en-US" dirty="0"/>
              <a:t> It is a list of contact numbers of people in alphabetical order on a mobile phone.</a:t>
            </a:r>
          </a:p>
          <a:p>
            <a:pPr fontAlgn="base"/>
            <a:endParaRPr lang="en-US" dirty="0" smtClean="0"/>
          </a:p>
          <a:p>
            <a:pPr fontAlgn="base"/>
            <a:r>
              <a:rPr lang="en-US" dirty="0" smtClean="0"/>
              <a:t>Before </a:t>
            </a:r>
            <a:r>
              <a:rPr lang="en-US" dirty="0"/>
              <a:t>discussing the different algorithms used to sort the data given to us, we should think about the operations which can be used for the analysis of a sorting process. First, we need to compare the values to see which one is smaller and which one is larger so that they can be sorted into an order, it will be necessary to have an organized way to compare values to see that if they are in order. </a:t>
            </a:r>
          </a:p>
          <a:p>
            <a:endParaRPr lang="en-US" altLang="en-US" b="1" i="1" dirty="0"/>
          </a:p>
          <a:p>
            <a:endParaRPr lang="en-US" altLang="en-US" b="1" i="1" dirty="0" smtClean="0"/>
          </a:p>
        </p:txBody>
      </p:sp>
    </p:spTree>
    <p:extLst>
      <p:ext uri="{BB962C8B-B14F-4D97-AF65-F5344CB8AC3E}">
        <p14:creationId xmlns:p14="http://schemas.microsoft.com/office/powerpoint/2010/main" val="3839425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151337" y="42784"/>
            <a:ext cx="11950047" cy="65710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500" b="1" i="0" u="none" strike="noStrike" cap="none" normalizeH="0" baseline="0" dirty="0" smtClean="0">
              <a:ln>
                <a:noFill/>
              </a:ln>
              <a:solidFill>
                <a:srgbClr val="273239"/>
              </a:solidFill>
              <a:effectLst/>
              <a:latin typeface="Nunito"/>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500" b="1" dirty="0">
              <a:solidFill>
                <a:srgbClr val="273239"/>
              </a:solidFill>
              <a:latin typeface="Nunito"/>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rgbClr val="273239"/>
                </a:solidFill>
                <a:effectLst/>
                <a:latin typeface="Nunito"/>
              </a:rPr>
              <a:t>Bubble Sort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smtClean="0">
              <a:ln>
                <a:noFill/>
              </a:ln>
              <a:solidFill>
                <a:srgbClr val="273239"/>
              </a:solidFill>
              <a:effectLst/>
              <a:latin typeface="Nunito"/>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rgbClr val="273239"/>
                </a:solidFill>
                <a:effectLst/>
                <a:latin typeface="Nunito"/>
              </a:rPr>
              <a:t>Bubble Sort is a simple sorting algorithm. This sorting algorithm repeatedly compares two adjacent elements and swaps them if they are in the wrong order.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rgbClr val="273239"/>
                </a:solidFill>
                <a:effectLst/>
                <a:latin typeface="Nunito"/>
              </a:rPr>
              <a:t>It is also known as the sinking sort. It has a time complexity of O(n</a:t>
            </a:r>
            <a:r>
              <a:rPr kumimoji="0" lang="en-US" altLang="en-US" sz="900" b="0" i="0" u="none" strike="noStrike" cap="none" normalizeH="0" baseline="30000" dirty="0" smtClean="0">
                <a:ln>
                  <a:noFill/>
                </a:ln>
                <a:solidFill>
                  <a:srgbClr val="273239"/>
                </a:solidFill>
                <a:effectLst/>
                <a:latin typeface="Nunito"/>
              </a:rPr>
              <a:t>2</a:t>
            </a:r>
            <a:r>
              <a:rPr kumimoji="0" lang="en-US" altLang="en-US" sz="1300" b="0" i="0" u="none" strike="noStrike" cap="none" normalizeH="0" baseline="0" dirty="0" smtClean="0">
                <a:ln>
                  <a:noFill/>
                </a:ln>
                <a:solidFill>
                  <a:srgbClr val="273239"/>
                </a:solidFill>
                <a:effectLst/>
                <a:latin typeface="Nunito"/>
              </a:rPr>
              <a:t>) in the average and worst cases scenarios and O(n) in the best-case scenario.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rgbClr val="273239"/>
                </a:solidFill>
                <a:effectLst/>
                <a:latin typeface="Nunito"/>
              </a:rPr>
              <a:t>Bubble sort can be visualized as a queue where people arrange themselves by swapping with each other so that they all can stand in ascending order of their heights.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rgbClr val="273239"/>
                </a:solidFill>
                <a:effectLst/>
                <a:latin typeface="Nunito"/>
              </a:rPr>
              <a:t>Or in other words, we compare two adjacent elements and see if their order is wrong, if the order is wrong we swap them. (</a:t>
            </a:r>
            <a:r>
              <a:rPr kumimoji="0" lang="en-US" altLang="en-US" sz="1300" b="0" i="0" u="none" strike="noStrike" cap="none" normalizeH="0" baseline="0" dirty="0" err="1" smtClean="0">
                <a:ln>
                  <a:noFill/>
                </a:ln>
                <a:solidFill>
                  <a:srgbClr val="273239"/>
                </a:solidFill>
                <a:effectLst/>
                <a:latin typeface="Nunito"/>
              </a:rPr>
              <a:t>i.e</a:t>
            </a:r>
            <a:r>
              <a:rPr kumimoji="0" lang="en-US" altLang="en-US" sz="1300" b="0" i="0" u="none" strike="noStrike" cap="none" normalizeH="0" baseline="0" dirty="0" smtClean="0">
                <a:ln>
                  <a:noFill/>
                </a:ln>
                <a:solidFill>
                  <a:srgbClr val="273239"/>
                </a:solidFill>
                <a:effectLst/>
                <a:latin typeface="Nunito"/>
              </a:rPr>
              <a:t> </a:t>
            </a:r>
            <a:r>
              <a:rPr kumimoji="0" lang="en-US" altLang="en-US" sz="1300" b="0" i="0" u="none" strike="noStrike" cap="none" normalizeH="0" baseline="0" dirty="0" err="1" smtClean="0">
                <a:ln>
                  <a:noFill/>
                </a:ln>
                <a:solidFill>
                  <a:srgbClr val="273239"/>
                </a:solidFill>
                <a:effectLst/>
                <a:latin typeface="Nunito"/>
              </a:rPr>
              <a:t>arr</a:t>
            </a:r>
            <a:r>
              <a:rPr kumimoji="0" lang="en-US" altLang="en-US" sz="1300" b="0" i="0" u="none" strike="noStrike" cap="none" normalizeH="0" baseline="0" dirty="0" smtClean="0">
                <a:ln>
                  <a:noFill/>
                </a:ln>
                <a:solidFill>
                  <a:srgbClr val="273239"/>
                </a:solidFill>
                <a:effectLst/>
                <a:latin typeface="Nunito"/>
              </a:rPr>
              <a:t>[</a:t>
            </a:r>
            <a:r>
              <a:rPr kumimoji="0" lang="en-US" altLang="en-US" sz="1300" b="0" i="0" u="none" strike="noStrike" cap="none" normalizeH="0" baseline="0" dirty="0" err="1" smtClean="0">
                <a:ln>
                  <a:noFill/>
                </a:ln>
                <a:solidFill>
                  <a:srgbClr val="273239"/>
                </a:solidFill>
                <a:effectLst/>
                <a:latin typeface="Nunito"/>
              </a:rPr>
              <a:t>i</a:t>
            </a:r>
            <a:r>
              <a:rPr kumimoji="0" lang="en-US" altLang="en-US" sz="1300" b="0" i="0" u="none" strike="noStrike" cap="none" normalizeH="0" baseline="0" dirty="0" smtClean="0">
                <a:ln>
                  <a:noFill/>
                </a:ln>
                <a:solidFill>
                  <a:srgbClr val="273239"/>
                </a:solidFill>
                <a:effectLst/>
                <a:latin typeface="Nunito"/>
              </a:rPr>
              <a:t>] &gt; </a:t>
            </a:r>
            <a:r>
              <a:rPr kumimoji="0" lang="en-US" altLang="en-US" sz="1300" b="0" i="0" u="none" strike="noStrike" cap="none" normalizeH="0" baseline="0" dirty="0" err="1" smtClean="0">
                <a:ln>
                  <a:noFill/>
                </a:ln>
                <a:solidFill>
                  <a:srgbClr val="273239"/>
                </a:solidFill>
                <a:effectLst/>
                <a:latin typeface="Nunito"/>
              </a:rPr>
              <a:t>arr</a:t>
            </a:r>
            <a:r>
              <a:rPr kumimoji="0" lang="en-US" altLang="en-US" sz="1300" b="0" i="0" u="none" strike="noStrike" cap="none" normalizeH="0" baseline="0" dirty="0" smtClean="0">
                <a:ln>
                  <a:noFill/>
                </a:ln>
                <a:solidFill>
                  <a:srgbClr val="273239"/>
                </a:solidFill>
                <a:effectLst/>
                <a:latin typeface="Nunito"/>
              </a:rPr>
              <a:t>[j] for 1 &lt;= </a:t>
            </a:r>
            <a:r>
              <a:rPr kumimoji="0" lang="en-US" altLang="en-US" sz="1300" b="0" i="0" u="none" strike="noStrike" cap="none" normalizeH="0" baseline="0" dirty="0" err="1" smtClean="0">
                <a:ln>
                  <a:noFill/>
                </a:ln>
                <a:solidFill>
                  <a:srgbClr val="273239"/>
                </a:solidFill>
                <a:effectLst/>
                <a:latin typeface="Nunito"/>
              </a:rPr>
              <a:t>i</a:t>
            </a:r>
            <a:r>
              <a:rPr kumimoji="0" lang="en-US" altLang="en-US" sz="1300" b="0" i="0" u="none" strike="noStrike" cap="none" normalizeH="0" baseline="0" dirty="0" smtClean="0">
                <a:ln>
                  <a:noFill/>
                </a:ln>
                <a:solidFill>
                  <a:srgbClr val="273239"/>
                </a:solidFill>
                <a:effectLst/>
                <a:latin typeface="Nunito"/>
              </a:rPr>
              <a:t> &lt; j &lt;= s;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rgbClr val="273239"/>
                </a:solidFill>
                <a:effectLst/>
                <a:latin typeface="Nunito"/>
              </a:rPr>
              <a:t>where s is the size of the array, if array is to be in ascending order, and vice-versa).</a:t>
            </a:r>
            <a:endParaRPr kumimoji="0" lang="en-US" alt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300" b="1" i="0" u="none" strike="noStrike" cap="none" normalizeH="0" baseline="0" dirty="0" smtClean="0">
              <a:ln>
                <a:noFill/>
              </a:ln>
              <a:solidFill>
                <a:srgbClr val="273239"/>
              </a:solidFill>
              <a:effectLst/>
              <a:latin typeface="Nunito"/>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smtClean="0">
                <a:ln>
                  <a:noFill/>
                </a:ln>
                <a:solidFill>
                  <a:srgbClr val="273239"/>
                </a:solidFill>
                <a:effectLst/>
                <a:latin typeface="Nunito"/>
              </a:rPr>
              <a:t>Example </a:t>
            </a:r>
            <a:endParaRPr kumimoji="0" lang="en-US" alt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rgbClr val="273239"/>
                </a:solidFill>
                <a:effectLst/>
                <a:latin typeface="Nunito"/>
              </a:rPr>
              <a:t>Here we sort the following sequence using bubble sort</a:t>
            </a:r>
            <a:endParaRPr kumimoji="0" lang="en-US" alt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Sequence: 2, 23, 10, 1</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300" b="1"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smtClean="0">
                <a:ln>
                  <a:noFill/>
                </a:ln>
                <a:solidFill>
                  <a:schemeClr val="tx1"/>
                </a:solidFill>
                <a:effectLst/>
                <a:latin typeface="Arial" panose="020B0604020202020204" pitchFamily="34" charset="0"/>
              </a:rPr>
              <a:t>First Iteration</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a:t>
            </a:r>
            <a:r>
              <a:rPr kumimoji="0" lang="en-US" altLang="en-US" sz="1300" b="1" i="0" u="none" strike="noStrike" cap="none" normalizeH="0" baseline="0" dirty="0" smtClean="0">
                <a:ln>
                  <a:noFill/>
                </a:ln>
                <a:solidFill>
                  <a:schemeClr val="tx1"/>
                </a:solidFill>
                <a:effectLst/>
                <a:latin typeface="Arial" panose="020B0604020202020204" pitchFamily="34" charset="0"/>
              </a:rPr>
              <a:t>2, 23</a:t>
            </a:r>
            <a:r>
              <a:rPr kumimoji="0" lang="en-US" altLang="en-US" sz="1300" b="0" i="0" u="none" strike="noStrike" cap="none" normalizeH="0" baseline="0" dirty="0" smtClean="0">
                <a:ln>
                  <a:noFill/>
                </a:ln>
                <a:solidFill>
                  <a:schemeClr val="tx1"/>
                </a:solidFill>
                <a:effectLst/>
                <a:latin typeface="Arial" panose="020B0604020202020204" pitchFamily="34" charset="0"/>
              </a:rPr>
              <a:t>, 10, 1) –&gt; (</a:t>
            </a:r>
            <a:r>
              <a:rPr kumimoji="0" lang="en-US" altLang="en-US" sz="1300" b="1" i="0" u="none" strike="noStrike" cap="none" normalizeH="0" baseline="0" dirty="0" smtClean="0">
                <a:ln>
                  <a:noFill/>
                </a:ln>
                <a:solidFill>
                  <a:schemeClr val="tx1"/>
                </a:solidFill>
                <a:effectLst/>
                <a:latin typeface="Arial" panose="020B0604020202020204" pitchFamily="34" charset="0"/>
              </a:rPr>
              <a:t>2, 23</a:t>
            </a:r>
            <a:r>
              <a:rPr kumimoji="0" lang="en-US" altLang="en-US" sz="1300" b="0" i="0" u="none" strike="noStrike" cap="none" normalizeH="0" baseline="0" dirty="0" smtClean="0">
                <a:ln>
                  <a:noFill/>
                </a:ln>
                <a:solidFill>
                  <a:schemeClr val="tx1"/>
                </a:solidFill>
                <a:effectLst/>
                <a:latin typeface="Arial" panose="020B0604020202020204" pitchFamily="34" charset="0"/>
              </a:rPr>
              <a:t>, 10, 1), Here the first 2 elements are compared and remain the same because they are already in ascending order.</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(2, </a:t>
            </a:r>
            <a:r>
              <a:rPr kumimoji="0" lang="en-US" altLang="en-US" sz="1300" b="1" i="0" u="none" strike="noStrike" cap="none" normalizeH="0" baseline="0" dirty="0" smtClean="0">
                <a:ln>
                  <a:noFill/>
                </a:ln>
                <a:solidFill>
                  <a:schemeClr val="tx1"/>
                </a:solidFill>
                <a:effectLst/>
                <a:latin typeface="Arial" panose="020B0604020202020204" pitchFamily="34" charset="0"/>
              </a:rPr>
              <a:t>23, 10</a:t>
            </a:r>
            <a:r>
              <a:rPr kumimoji="0" lang="en-US" altLang="en-US" sz="1300" b="0" i="0" u="none" strike="noStrike" cap="none" normalizeH="0" baseline="0" dirty="0" smtClean="0">
                <a:ln>
                  <a:noFill/>
                </a:ln>
                <a:solidFill>
                  <a:schemeClr val="tx1"/>
                </a:solidFill>
                <a:effectLst/>
                <a:latin typeface="Arial" panose="020B0604020202020204" pitchFamily="34" charset="0"/>
              </a:rPr>
              <a:t>, 1) –&gt; (2, </a:t>
            </a:r>
            <a:r>
              <a:rPr kumimoji="0" lang="en-US" altLang="en-US" sz="1300" b="1" i="0" u="none" strike="noStrike" cap="none" normalizeH="0" baseline="0" dirty="0" smtClean="0">
                <a:ln>
                  <a:noFill/>
                </a:ln>
                <a:solidFill>
                  <a:schemeClr val="tx1"/>
                </a:solidFill>
                <a:effectLst/>
                <a:latin typeface="Arial" panose="020B0604020202020204" pitchFamily="34" charset="0"/>
              </a:rPr>
              <a:t>10, 23</a:t>
            </a:r>
            <a:r>
              <a:rPr kumimoji="0" lang="en-US" altLang="en-US" sz="1300" b="0" i="0" u="none" strike="noStrike" cap="none" normalizeH="0" baseline="0" dirty="0" smtClean="0">
                <a:ln>
                  <a:noFill/>
                </a:ln>
                <a:solidFill>
                  <a:schemeClr val="tx1"/>
                </a:solidFill>
                <a:effectLst/>
                <a:latin typeface="Arial" panose="020B0604020202020204" pitchFamily="34" charset="0"/>
              </a:rPr>
              <a:t>, 1), Here 2nd and 3rd elements are compared and swapped(10 is less than 23) according to ascending order.</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(2, 10, </a:t>
            </a:r>
            <a:r>
              <a:rPr kumimoji="0" lang="en-US" altLang="en-US" sz="1300" b="1" i="0" u="none" strike="noStrike" cap="none" normalizeH="0" baseline="0" dirty="0" smtClean="0">
                <a:ln>
                  <a:noFill/>
                </a:ln>
                <a:solidFill>
                  <a:schemeClr val="tx1"/>
                </a:solidFill>
                <a:effectLst/>
                <a:latin typeface="Arial" panose="020B0604020202020204" pitchFamily="34" charset="0"/>
              </a:rPr>
              <a:t>23, 1</a:t>
            </a:r>
            <a:r>
              <a:rPr kumimoji="0" lang="en-US" altLang="en-US" sz="1300" b="0" i="0" u="none" strike="noStrike" cap="none" normalizeH="0" baseline="0" dirty="0" smtClean="0">
                <a:ln>
                  <a:noFill/>
                </a:ln>
                <a:solidFill>
                  <a:schemeClr val="tx1"/>
                </a:solidFill>
                <a:effectLst/>
                <a:latin typeface="Arial" panose="020B0604020202020204" pitchFamily="34" charset="0"/>
              </a:rPr>
              <a:t>) –&gt; (2, 10, </a:t>
            </a:r>
            <a:r>
              <a:rPr kumimoji="0" lang="en-US" altLang="en-US" sz="1300" b="1" i="0" u="none" strike="noStrike" cap="none" normalizeH="0" baseline="0" dirty="0" smtClean="0">
                <a:ln>
                  <a:noFill/>
                </a:ln>
                <a:solidFill>
                  <a:schemeClr val="tx1"/>
                </a:solidFill>
                <a:effectLst/>
                <a:latin typeface="Arial" panose="020B0604020202020204" pitchFamily="34" charset="0"/>
              </a:rPr>
              <a:t>1, 23</a:t>
            </a:r>
            <a:r>
              <a:rPr kumimoji="0" lang="en-US" altLang="en-US" sz="1300" b="0" i="0" u="none" strike="noStrike" cap="none" normalizeH="0" baseline="0" dirty="0" smtClean="0">
                <a:ln>
                  <a:noFill/>
                </a:ln>
                <a:solidFill>
                  <a:schemeClr val="tx1"/>
                </a:solidFill>
                <a:effectLst/>
                <a:latin typeface="Arial" panose="020B0604020202020204" pitchFamily="34" charset="0"/>
              </a:rPr>
              <a:t>), Here 3rd and 4th elements are compared and swapped(1 is less than 23) according to ascending order</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At the end of the first iteration, the largest element is at the rightmost position which is sorted correctly.</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300" b="1"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smtClean="0">
                <a:ln>
                  <a:noFill/>
                </a:ln>
                <a:solidFill>
                  <a:schemeClr val="tx1"/>
                </a:solidFill>
                <a:effectLst/>
                <a:latin typeface="Arial" panose="020B0604020202020204" pitchFamily="34" charset="0"/>
              </a:rPr>
              <a:t>Second Iteration</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a:t>
            </a:r>
            <a:r>
              <a:rPr kumimoji="0" lang="en-US" altLang="en-US" sz="1300" b="1" i="0" u="none" strike="noStrike" cap="none" normalizeH="0" baseline="0" dirty="0" smtClean="0">
                <a:ln>
                  <a:noFill/>
                </a:ln>
                <a:solidFill>
                  <a:schemeClr val="tx1"/>
                </a:solidFill>
                <a:effectLst/>
                <a:latin typeface="Arial" panose="020B0604020202020204" pitchFamily="34" charset="0"/>
              </a:rPr>
              <a:t>2, 10</a:t>
            </a:r>
            <a:r>
              <a:rPr kumimoji="0" lang="en-US" altLang="en-US" sz="1300" b="0" i="0" u="none" strike="noStrike" cap="none" normalizeH="0" baseline="0" dirty="0" smtClean="0">
                <a:ln>
                  <a:noFill/>
                </a:ln>
                <a:solidFill>
                  <a:schemeClr val="tx1"/>
                </a:solidFill>
                <a:effectLst/>
                <a:latin typeface="Arial" panose="020B0604020202020204" pitchFamily="34" charset="0"/>
              </a:rPr>
              <a:t>, 1, 23) –&gt; (</a:t>
            </a:r>
            <a:r>
              <a:rPr kumimoji="0" lang="en-US" altLang="en-US" sz="1300" b="1" i="0" u="none" strike="noStrike" cap="none" normalizeH="0" baseline="0" dirty="0" smtClean="0">
                <a:ln>
                  <a:noFill/>
                </a:ln>
                <a:solidFill>
                  <a:schemeClr val="tx1"/>
                </a:solidFill>
                <a:effectLst/>
                <a:latin typeface="Arial" panose="020B0604020202020204" pitchFamily="34" charset="0"/>
              </a:rPr>
              <a:t>2, 10, </a:t>
            </a:r>
            <a:r>
              <a:rPr kumimoji="0" lang="en-US" altLang="en-US" sz="1300" b="0" i="0" u="none" strike="noStrike" cap="none" normalizeH="0" baseline="0" dirty="0" smtClean="0">
                <a:ln>
                  <a:noFill/>
                </a:ln>
                <a:solidFill>
                  <a:schemeClr val="tx1"/>
                </a:solidFill>
                <a:effectLst/>
                <a:latin typeface="Arial" panose="020B0604020202020204" pitchFamily="34" charset="0"/>
              </a:rPr>
              <a:t>1, 23), Here again, the first 2 elements are compared and remain the same because they are already in ascending order.</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(2, </a:t>
            </a:r>
            <a:r>
              <a:rPr kumimoji="0" lang="en-US" altLang="en-US" sz="1300" b="1" i="0" u="none" strike="noStrike" cap="none" normalizeH="0" baseline="0" dirty="0" smtClean="0">
                <a:ln>
                  <a:noFill/>
                </a:ln>
                <a:solidFill>
                  <a:schemeClr val="tx1"/>
                </a:solidFill>
                <a:effectLst/>
                <a:latin typeface="Arial" panose="020B0604020202020204" pitchFamily="34" charset="0"/>
              </a:rPr>
              <a:t>10, 1</a:t>
            </a:r>
            <a:r>
              <a:rPr kumimoji="0" lang="en-US" altLang="en-US" sz="1300" b="0" i="0" u="none" strike="noStrike" cap="none" normalizeH="0" baseline="0" dirty="0" smtClean="0">
                <a:ln>
                  <a:noFill/>
                </a:ln>
                <a:solidFill>
                  <a:schemeClr val="tx1"/>
                </a:solidFill>
                <a:effectLst/>
                <a:latin typeface="Arial" panose="020B0604020202020204" pitchFamily="34" charset="0"/>
              </a:rPr>
              <a:t>, 23) –&gt; (2, </a:t>
            </a:r>
            <a:r>
              <a:rPr kumimoji="0" lang="en-US" altLang="en-US" sz="1300" b="1" i="0" u="none" strike="noStrike" cap="none" normalizeH="0" baseline="0" dirty="0" smtClean="0">
                <a:ln>
                  <a:noFill/>
                </a:ln>
                <a:solidFill>
                  <a:schemeClr val="tx1"/>
                </a:solidFill>
                <a:effectLst/>
                <a:latin typeface="Arial" panose="020B0604020202020204" pitchFamily="34" charset="0"/>
              </a:rPr>
              <a:t>1, 10</a:t>
            </a:r>
            <a:r>
              <a:rPr kumimoji="0" lang="en-US" altLang="en-US" sz="1300" b="0" i="0" u="none" strike="noStrike" cap="none" normalizeH="0" baseline="0" dirty="0" smtClean="0">
                <a:ln>
                  <a:noFill/>
                </a:ln>
                <a:solidFill>
                  <a:schemeClr val="tx1"/>
                </a:solidFill>
                <a:effectLst/>
                <a:latin typeface="Arial" panose="020B0604020202020204" pitchFamily="34" charset="0"/>
              </a:rPr>
              <a:t>, 23), Here 2nd and 3rd elements are compared and swapped(1 is less than 10) in ascending order.</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At the end of the second iteration, the second largest element is at the adjacent position to the largest element.</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300" b="1"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smtClean="0">
                <a:ln>
                  <a:noFill/>
                </a:ln>
                <a:solidFill>
                  <a:schemeClr val="tx1"/>
                </a:solidFill>
                <a:effectLst/>
                <a:latin typeface="Arial" panose="020B0604020202020204" pitchFamily="34" charset="0"/>
              </a:rPr>
              <a:t>Third Iteration</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a:t>
            </a:r>
            <a:r>
              <a:rPr kumimoji="0" lang="en-US" altLang="en-US" sz="1300" b="1" i="0" u="none" strike="noStrike" cap="none" normalizeH="0" baseline="0" dirty="0" smtClean="0">
                <a:ln>
                  <a:noFill/>
                </a:ln>
                <a:solidFill>
                  <a:schemeClr val="tx1"/>
                </a:solidFill>
                <a:effectLst/>
                <a:latin typeface="Arial" panose="020B0604020202020204" pitchFamily="34" charset="0"/>
              </a:rPr>
              <a:t>2, 1</a:t>
            </a:r>
            <a:r>
              <a:rPr kumimoji="0" lang="en-US" altLang="en-US" sz="1300" b="0" i="0" u="none" strike="noStrike" cap="none" normalizeH="0" baseline="0" dirty="0" smtClean="0">
                <a:ln>
                  <a:noFill/>
                </a:ln>
                <a:solidFill>
                  <a:schemeClr val="tx1"/>
                </a:solidFill>
                <a:effectLst/>
                <a:latin typeface="Arial" panose="020B0604020202020204" pitchFamily="34" charset="0"/>
              </a:rPr>
              <a:t>, 10, 23) –&gt; (</a:t>
            </a:r>
            <a:r>
              <a:rPr kumimoji="0" lang="en-US" altLang="en-US" sz="1300" b="1" i="0" u="none" strike="noStrike" cap="none" normalizeH="0" baseline="0" dirty="0" smtClean="0">
                <a:ln>
                  <a:noFill/>
                </a:ln>
                <a:solidFill>
                  <a:schemeClr val="tx1"/>
                </a:solidFill>
                <a:effectLst/>
                <a:latin typeface="Arial" panose="020B0604020202020204" pitchFamily="34" charset="0"/>
              </a:rPr>
              <a:t>1, 2</a:t>
            </a:r>
            <a:r>
              <a:rPr kumimoji="0" lang="en-US" altLang="en-US" sz="1300" b="0" i="0" u="none" strike="noStrike" cap="none" normalizeH="0" baseline="0" dirty="0" smtClean="0">
                <a:ln>
                  <a:noFill/>
                </a:ln>
                <a:solidFill>
                  <a:schemeClr val="tx1"/>
                </a:solidFill>
                <a:effectLst/>
                <a:latin typeface="Arial" panose="020B0604020202020204" pitchFamily="34" charset="0"/>
              </a:rPr>
              <a:t>, 10, 23), Here the first 2 elements are compared and swap according to ascending order.</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The remaining elements are already sorted in the first and second Iterations. After the three iterations, the given array is sorted in ascending order.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So the final result is 1, 2, 10, 23.</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300" dirty="0"/>
          </a:p>
          <a:p>
            <a:pPr lvl="0" algn="just"/>
            <a:r>
              <a:rPr lang="en-US" b="1" dirty="0"/>
              <a:t>Time Complexity: </a:t>
            </a:r>
            <a:r>
              <a:rPr lang="en-US" dirty="0"/>
              <a:t>O(n</a:t>
            </a:r>
            <a:r>
              <a:rPr lang="en-US" baseline="30000" dirty="0"/>
              <a:t>2</a:t>
            </a:r>
            <a:r>
              <a:rPr lang="en-US" dirty="0"/>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75504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410148" y="764392"/>
            <a:ext cx="11371703" cy="32624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rgbClr val="273239"/>
                </a:solidFill>
                <a:effectLst/>
                <a:latin typeface="Nunito"/>
              </a:rPr>
              <a:t>Selection Sort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500" b="1" i="0" u="none" strike="noStrike" cap="none" normalizeH="0" baseline="0" dirty="0" smtClean="0">
              <a:ln>
                <a:noFill/>
              </a:ln>
              <a:solidFill>
                <a:srgbClr val="273239"/>
              </a:solidFill>
              <a:effectLst/>
              <a:latin typeface="Nunito"/>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rgbClr val="273239"/>
                </a:solidFill>
                <a:effectLst/>
                <a:latin typeface="Nunito"/>
              </a:rPr>
              <a:t>This sorting technique repeatedly finds the minimum element and sort it in order. Bubble Sort does not occupy any extra memory space.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rgbClr val="273239"/>
                </a:solidFill>
                <a:effectLst/>
                <a:latin typeface="Nunito"/>
              </a:rPr>
              <a:t>During the execution of this algorithm, two subarrays are maintained, the subarray which is already sorted, and the remaining subarray which is unsorted.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rgbClr val="273239"/>
                </a:solidFill>
                <a:effectLst/>
                <a:latin typeface="Nunito"/>
              </a:rPr>
              <a:t>During the execution of Selection Sort for every iteration, the minimum element of the unsorted subarray is arranged in the sorted subarray.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rgbClr val="273239"/>
                </a:solidFill>
                <a:effectLst/>
                <a:latin typeface="Nunito"/>
              </a:rPr>
              <a:t>Selection Sort is a more efficient algorithm than bubble sort. Sort has a Time-Complexity of O(n</a:t>
            </a:r>
            <a:r>
              <a:rPr kumimoji="0" lang="en-US" altLang="en-US" sz="900" b="0" i="0" u="none" strike="noStrike" cap="none" normalizeH="0" baseline="30000" dirty="0" smtClean="0">
                <a:ln>
                  <a:noFill/>
                </a:ln>
                <a:solidFill>
                  <a:srgbClr val="273239"/>
                </a:solidFill>
                <a:effectLst/>
                <a:latin typeface="Nunito"/>
              </a:rPr>
              <a:t>2</a:t>
            </a:r>
            <a:r>
              <a:rPr kumimoji="0" lang="en-US" altLang="en-US" sz="1300" b="0" i="0" u="none" strike="noStrike" cap="none" normalizeH="0" baseline="0" dirty="0" smtClean="0">
                <a:ln>
                  <a:noFill/>
                </a:ln>
                <a:solidFill>
                  <a:srgbClr val="273239"/>
                </a:solidFill>
                <a:effectLst/>
                <a:latin typeface="Nunito"/>
              </a:rPr>
              <a:t>) in the average, worst, and in the best cases.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smtClean="0">
                <a:ln>
                  <a:noFill/>
                </a:ln>
                <a:solidFill>
                  <a:srgbClr val="273239"/>
                </a:solidFill>
                <a:effectLst/>
                <a:latin typeface="Nunito"/>
              </a:rPr>
              <a:t>Example </a:t>
            </a:r>
            <a:endParaRPr kumimoji="0" lang="en-US" alt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rgbClr val="273239"/>
                </a:solidFill>
                <a:effectLst/>
                <a:latin typeface="Nunito"/>
              </a:rPr>
              <a:t>Here we sort the following sequence using the selection sort</a:t>
            </a:r>
            <a:endParaRPr kumimoji="0" lang="en-US" alt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Sequence: 7, 2, 1, 6</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(7, 2</a:t>
            </a:r>
            <a:r>
              <a:rPr kumimoji="0" lang="en-US" altLang="en-US" sz="1300" b="1" i="0" u="none" strike="noStrike" cap="none" normalizeH="0" baseline="0" dirty="0" smtClean="0">
                <a:ln>
                  <a:noFill/>
                </a:ln>
                <a:solidFill>
                  <a:schemeClr val="tx1"/>
                </a:solidFill>
                <a:effectLst/>
                <a:latin typeface="Arial" panose="020B0604020202020204" pitchFamily="34" charset="0"/>
              </a:rPr>
              <a:t>, 1</a:t>
            </a:r>
            <a:r>
              <a:rPr kumimoji="0" lang="en-US" altLang="en-US" sz="1300" b="0" i="0" u="none" strike="noStrike" cap="none" normalizeH="0" baseline="0" dirty="0" smtClean="0">
                <a:ln>
                  <a:noFill/>
                </a:ln>
                <a:solidFill>
                  <a:schemeClr val="tx1"/>
                </a:solidFill>
                <a:effectLst/>
                <a:latin typeface="Arial" panose="020B0604020202020204" pitchFamily="34" charset="0"/>
              </a:rPr>
              <a:t>, 6) –&gt; (</a:t>
            </a:r>
            <a:r>
              <a:rPr kumimoji="0" lang="en-US" altLang="en-US" sz="1300" b="1" i="0" u="none" strike="noStrike" cap="none" normalizeH="0" baseline="0" dirty="0" smtClean="0">
                <a:ln>
                  <a:noFill/>
                </a:ln>
                <a:solidFill>
                  <a:schemeClr val="tx1"/>
                </a:solidFill>
                <a:effectLst/>
                <a:latin typeface="Arial" panose="020B0604020202020204" pitchFamily="34" charset="0"/>
              </a:rPr>
              <a:t>1</a:t>
            </a:r>
            <a:r>
              <a:rPr kumimoji="0" lang="en-US" altLang="en-US" sz="1300" b="0" i="0" u="none" strike="noStrike" cap="none" normalizeH="0" baseline="0" dirty="0" smtClean="0">
                <a:ln>
                  <a:noFill/>
                </a:ln>
                <a:solidFill>
                  <a:schemeClr val="tx1"/>
                </a:solidFill>
                <a:effectLst/>
                <a:latin typeface="Arial" panose="020B0604020202020204" pitchFamily="34" charset="0"/>
              </a:rPr>
              <a:t>, 7, 2, 6), In the first traverse it finds the minimum element(i.e., 1) and it is placed at 1st position.</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(1, 7, </a:t>
            </a:r>
            <a:r>
              <a:rPr kumimoji="0" lang="en-US" altLang="en-US" sz="1300" b="1" i="0" u="none" strike="noStrike" cap="none" normalizeH="0" baseline="0" dirty="0" smtClean="0">
                <a:ln>
                  <a:noFill/>
                </a:ln>
                <a:solidFill>
                  <a:schemeClr val="tx1"/>
                </a:solidFill>
                <a:effectLst/>
                <a:latin typeface="Arial" panose="020B0604020202020204" pitchFamily="34" charset="0"/>
              </a:rPr>
              <a:t>2</a:t>
            </a:r>
            <a:r>
              <a:rPr kumimoji="0" lang="en-US" altLang="en-US" sz="1300" b="0" i="0" u="none" strike="noStrike" cap="none" normalizeH="0" baseline="0" dirty="0" smtClean="0">
                <a:ln>
                  <a:noFill/>
                </a:ln>
                <a:solidFill>
                  <a:schemeClr val="tx1"/>
                </a:solidFill>
                <a:effectLst/>
                <a:latin typeface="Arial" panose="020B0604020202020204" pitchFamily="34" charset="0"/>
              </a:rPr>
              <a:t>, 6) –&gt; (1, </a:t>
            </a:r>
            <a:r>
              <a:rPr kumimoji="0" lang="en-US" altLang="en-US" sz="1300" b="1" i="0" u="none" strike="noStrike" cap="none" normalizeH="0" baseline="0" dirty="0" smtClean="0">
                <a:ln>
                  <a:noFill/>
                </a:ln>
                <a:solidFill>
                  <a:schemeClr val="tx1"/>
                </a:solidFill>
                <a:effectLst/>
                <a:latin typeface="Arial" panose="020B0604020202020204" pitchFamily="34" charset="0"/>
              </a:rPr>
              <a:t>2</a:t>
            </a:r>
            <a:r>
              <a:rPr kumimoji="0" lang="en-US" altLang="en-US" sz="1300" b="0" i="0" u="none" strike="noStrike" cap="none" normalizeH="0" baseline="0" dirty="0" smtClean="0">
                <a:ln>
                  <a:noFill/>
                </a:ln>
                <a:solidFill>
                  <a:schemeClr val="tx1"/>
                </a:solidFill>
                <a:effectLst/>
                <a:latin typeface="Arial" panose="020B0604020202020204" pitchFamily="34" charset="0"/>
              </a:rPr>
              <a:t>, 7, 6), In the second traverse it finds the 2nd minimum element(i.e., 2) and it is placed at 2nd position.</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(1, 2</a:t>
            </a:r>
            <a:r>
              <a:rPr kumimoji="0" lang="en-US" altLang="en-US" sz="1300" b="1" i="0" u="none" strike="noStrike" cap="none" normalizeH="0" baseline="0" dirty="0" smtClean="0">
                <a:ln>
                  <a:noFill/>
                </a:ln>
                <a:solidFill>
                  <a:schemeClr val="tx1"/>
                </a:solidFill>
                <a:effectLst/>
                <a:latin typeface="Arial" panose="020B0604020202020204" pitchFamily="34" charset="0"/>
              </a:rPr>
              <a:t>, 7, 6</a:t>
            </a:r>
            <a:r>
              <a:rPr kumimoji="0" lang="en-US" altLang="en-US" sz="1300" b="0" i="0" u="none" strike="noStrike" cap="none" normalizeH="0" baseline="0" dirty="0" smtClean="0">
                <a:ln>
                  <a:noFill/>
                </a:ln>
                <a:solidFill>
                  <a:schemeClr val="tx1"/>
                </a:solidFill>
                <a:effectLst/>
                <a:latin typeface="Arial" panose="020B0604020202020204" pitchFamily="34" charset="0"/>
              </a:rPr>
              <a:t>) –&gt; (1, 2, </a:t>
            </a:r>
            <a:r>
              <a:rPr kumimoji="0" lang="en-US" altLang="en-US" sz="1300" b="1" i="0" u="none" strike="noStrike" cap="none" normalizeH="0" baseline="0" dirty="0" smtClean="0">
                <a:ln>
                  <a:noFill/>
                </a:ln>
                <a:solidFill>
                  <a:schemeClr val="tx1"/>
                </a:solidFill>
                <a:effectLst/>
                <a:latin typeface="Arial" panose="020B0604020202020204" pitchFamily="34" charset="0"/>
              </a:rPr>
              <a:t>6, 7</a:t>
            </a:r>
            <a:r>
              <a:rPr kumimoji="0" lang="en-US" altLang="en-US" sz="1300" b="0" i="0" u="none" strike="noStrike" cap="none" normalizeH="0" baseline="0" dirty="0" smtClean="0">
                <a:ln>
                  <a:noFill/>
                </a:ln>
                <a:solidFill>
                  <a:schemeClr val="tx1"/>
                </a:solidFill>
                <a:effectLst/>
                <a:latin typeface="Arial" panose="020B0604020202020204" pitchFamily="34" charset="0"/>
              </a:rPr>
              <a:t>), In the third traverse it finds the next minimum element(i.e., 6) and it is placed at 3rd position.</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After the above iterations, the final array is in sorted order, i.e., 1, 2, 6, 7.</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300" dirty="0"/>
          </a:p>
          <a:p>
            <a:pPr lvl="0" algn="just"/>
            <a:r>
              <a:rPr lang="en-US" b="1" dirty="0"/>
              <a:t>Time Complexity:</a:t>
            </a:r>
            <a:r>
              <a:rPr lang="en-US" dirty="0"/>
              <a:t> O(n</a:t>
            </a:r>
            <a:r>
              <a:rPr lang="en-US" baseline="30000" dirty="0"/>
              <a:t>2</a:t>
            </a:r>
            <a:r>
              <a:rPr lang="en-US" dirty="0"/>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17251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94530" y="706644"/>
            <a:ext cx="11372539" cy="37394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rgbClr val="273239"/>
                </a:solidFill>
                <a:effectLst/>
                <a:latin typeface="Nunito"/>
              </a:rPr>
              <a:t>Insertion Sort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500" b="1" i="0" u="none" strike="noStrike" cap="none" normalizeH="0" baseline="0" dirty="0" smtClean="0">
              <a:ln>
                <a:noFill/>
              </a:ln>
              <a:solidFill>
                <a:srgbClr val="273239"/>
              </a:solidFill>
              <a:effectLst/>
              <a:latin typeface="Nunito"/>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rgbClr val="273239"/>
                </a:solidFill>
                <a:effectLst/>
                <a:latin typeface="Nunito"/>
              </a:rPr>
              <a:t>This sorting algorithm maintains a sub-array that is always sorted. Values from the unsorted part of the array are placed at the correct position in the sorted part.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rgbClr val="273239"/>
                </a:solidFill>
                <a:effectLst/>
                <a:latin typeface="Nunito"/>
              </a:rPr>
              <a:t>It is more efficient in practice than other algorithms such as selection sort or bubble sort. Insertion Sort has a Time-Complexity of O(n</a:t>
            </a:r>
            <a:r>
              <a:rPr kumimoji="0" lang="en-US" altLang="en-US" sz="900" b="0" i="0" u="none" strike="noStrike" cap="none" normalizeH="0" baseline="30000" dirty="0" smtClean="0">
                <a:ln>
                  <a:noFill/>
                </a:ln>
                <a:solidFill>
                  <a:srgbClr val="273239"/>
                </a:solidFill>
                <a:effectLst/>
                <a:latin typeface="Nunito"/>
              </a:rPr>
              <a:t>2</a:t>
            </a:r>
            <a:r>
              <a:rPr kumimoji="0" lang="en-US" altLang="en-US" sz="1300" b="0" i="0" u="none" strike="noStrike" cap="none" normalizeH="0" baseline="0" dirty="0" smtClean="0">
                <a:ln>
                  <a:noFill/>
                </a:ln>
                <a:solidFill>
                  <a:srgbClr val="273239"/>
                </a:solidFill>
                <a:effectLst/>
                <a:latin typeface="Nunito"/>
              </a:rPr>
              <a:t>) in the average and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rgbClr val="273239"/>
                </a:solidFill>
                <a:effectLst/>
                <a:latin typeface="Nunito"/>
              </a:rPr>
              <a:t>worst case, and O(n) in the best case.</a:t>
            </a:r>
            <a:endParaRPr kumimoji="0" lang="en-US" alt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smtClean="0">
                <a:ln>
                  <a:noFill/>
                </a:ln>
                <a:solidFill>
                  <a:srgbClr val="273239"/>
                </a:solidFill>
                <a:effectLst/>
                <a:latin typeface="Nunito"/>
              </a:rPr>
              <a:t>Example </a:t>
            </a:r>
            <a:endParaRPr kumimoji="0" lang="en-US" alt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rgbClr val="273239"/>
                </a:solidFill>
                <a:effectLst/>
                <a:latin typeface="Nunito"/>
              </a:rPr>
              <a:t>Here we sort the following sequence using the insertion sort</a:t>
            </a:r>
            <a:endParaRPr kumimoji="0" lang="en-US" alt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Sequence: 7, 2, 1, 6</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a:t>
            </a:r>
            <a:r>
              <a:rPr kumimoji="0" lang="en-US" altLang="en-US" sz="1300" b="1" i="0" u="none" strike="noStrike" cap="none" normalizeH="0" baseline="0" dirty="0" smtClean="0">
                <a:ln>
                  <a:noFill/>
                </a:ln>
                <a:solidFill>
                  <a:schemeClr val="tx1"/>
                </a:solidFill>
                <a:effectLst/>
                <a:latin typeface="Arial" panose="020B0604020202020204" pitchFamily="34" charset="0"/>
              </a:rPr>
              <a:t>7, 2</a:t>
            </a:r>
            <a:r>
              <a:rPr kumimoji="0" lang="en-US" altLang="en-US" sz="1300" b="0" i="0" u="none" strike="noStrike" cap="none" normalizeH="0" baseline="0" dirty="0" smtClean="0">
                <a:ln>
                  <a:noFill/>
                </a:ln>
                <a:solidFill>
                  <a:schemeClr val="tx1"/>
                </a:solidFill>
                <a:effectLst/>
                <a:latin typeface="Arial" panose="020B0604020202020204" pitchFamily="34" charset="0"/>
              </a:rPr>
              <a:t>, 1, 6) –&gt; (</a:t>
            </a:r>
            <a:r>
              <a:rPr kumimoji="0" lang="en-US" altLang="en-US" sz="1300" b="1" i="0" u="none" strike="noStrike" cap="none" normalizeH="0" baseline="0" dirty="0" smtClean="0">
                <a:ln>
                  <a:noFill/>
                </a:ln>
                <a:solidFill>
                  <a:schemeClr val="tx1"/>
                </a:solidFill>
                <a:effectLst/>
                <a:latin typeface="Arial" panose="020B0604020202020204" pitchFamily="34" charset="0"/>
              </a:rPr>
              <a:t>2, 7</a:t>
            </a:r>
            <a:r>
              <a:rPr kumimoji="0" lang="en-US" altLang="en-US" sz="1300" b="0" i="0" u="none" strike="noStrike" cap="none" normalizeH="0" baseline="0" dirty="0" smtClean="0">
                <a:ln>
                  <a:noFill/>
                </a:ln>
                <a:solidFill>
                  <a:schemeClr val="tx1"/>
                </a:solidFill>
                <a:effectLst/>
                <a:latin typeface="Arial" panose="020B0604020202020204" pitchFamily="34" charset="0"/>
              </a:rPr>
              <a:t>, 1, 6), In the first iteration, the first 2 elements are compared, here 2 is less than 7 so insert 2 before 7.</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(2, </a:t>
            </a:r>
            <a:r>
              <a:rPr kumimoji="0" lang="en-US" altLang="en-US" sz="1300" b="1" i="0" u="none" strike="noStrike" cap="none" normalizeH="0" baseline="0" dirty="0" smtClean="0">
                <a:ln>
                  <a:noFill/>
                </a:ln>
                <a:solidFill>
                  <a:schemeClr val="tx1"/>
                </a:solidFill>
                <a:effectLst/>
                <a:latin typeface="Arial" panose="020B0604020202020204" pitchFamily="34" charset="0"/>
              </a:rPr>
              <a:t>7, 1</a:t>
            </a:r>
            <a:r>
              <a:rPr kumimoji="0" lang="en-US" altLang="en-US" sz="1300" b="0" i="0" u="none" strike="noStrike" cap="none" normalizeH="0" baseline="0" dirty="0" smtClean="0">
                <a:ln>
                  <a:noFill/>
                </a:ln>
                <a:solidFill>
                  <a:schemeClr val="tx1"/>
                </a:solidFill>
                <a:effectLst/>
                <a:latin typeface="Arial" panose="020B0604020202020204" pitchFamily="34" charset="0"/>
              </a:rPr>
              <a:t>, 6) –&gt; (2, </a:t>
            </a:r>
            <a:r>
              <a:rPr kumimoji="0" lang="en-US" altLang="en-US" sz="1300" b="1" i="0" u="none" strike="noStrike" cap="none" normalizeH="0" baseline="0" dirty="0" smtClean="0">
                <a:ln>
                  <a:noFill/>
                </a:ln>
                <a:solidFill>
                  <a:schemeClr val="tx1"/>
                </a:solidFill>
                <a:effectLst/>
                <a:latin typeface="Arial" panose="020B0604020202020204" pitchFamily="34" charset="0"/>
              </a:rPr>
              <a:t>1, 7</a:t>
            </a:r>
            <a:r>
              <a:rPr kumimoji="0" lang="en-US" altLang="en-US" sz="1300" b="0" i="0" u="none" strike="noStrike" cap="none" normalizeH="0" baseline="0" dirty="0" smtClean="0">
                <a:ln>
                  <a:noFill/>
                </a:ln>
                <a:solidFill>
                  <a:schemeClr val="tx1"/>
                </a:solidFill>
                <a:effectLst/>
                <a:latin typeface="Arial" panose="020B0604020202020204" pitchFamily="34" charset="0"/>
              </a:rPr>
              <a:t>, 6), In the second iteration the 2nd and 3rd elements are compared, here 1 is less than 7 so insert 1 before 7.</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a:t>
            </a:r>
            <a:r>
              <a:rPr kumimoji="0" lang="en-US" altLang="en-US" sz="1300" b="1" i="0" u="none" strike="noStrike" cap="none" normalizeH="0" baseline="0" dirty="0" smtClean="0">
                <a:ln>
                  <a:noFill/>
                </a:ln>
                <a:solidFill>
                  <a:schemeClr val="tx1"/>
                </a:solidFill>
                <a:effectLst/>
                <a:latin typeface="Arial" panose="020B0604020202020204" pitchFamily="34" charset="0"/>
              </a:rPr>
              <a:t>2, 1</a:t>
            </a:r>
            <a:r>
              <a:rPr kumimoji="0" lang="en-US" altLang="en-US" sz="1300" b="0" i="0" u="none" strike="noStrike" cap="none" normalizeH="0" baseline="0" dirty="0" smtClean="0">
                <a:ln>
                  <a:noFill/>
                </a:ln>
                <a:solidFill>
                  <a:schemeClr val="tx1"/>
                </a:solidFill>
                <a:effectLst/>
                <a:latin typeface="Arial" panose="020B0604020202020204" pitchFamily="34" charset="0"/>
              </a:rPr>
              <a:t>, 7, 6) –&gt; (</a:t>
            </a:r>
            <a:r>
              <a:rPr kumimoji="0" lang="en-US" altLang="en-US" sz="1300" b="1" i="0" u="none" strike="noStrike" cap="none" normalizeH="0" baseline="0" dirty="0" smtClean="0">
                <a:ln>
                  <a:noFill/>
                </a:ln>
                <a:solidFill>
                  <a:schemeClr val="tx1"/>
                </a:solidFill>
                <a:effectLst/>
                <a:latin typeface="Arial" panose="020B0604020202020204" pitchFamily="34" charset="0"/>
              </a:rPr>
              <a:t>1, 2</a:t>
            </a:r>
            <a:r>
              <a:rPr kumimoji="0" lang="en-US" altLang="en-US" sz="1300" b="0" i="0" u="none" strike="noStrike" cap="none" normalizeH="0" baseline="0" dirty="0" smtClean="0">
                <a:ln>
                  <a:noFill/>
                </a:ln>
                <a:solidFill>
                  <a:schemeClr val="tx1"/>
                </a:solidFill>
                <a:effectLst/>
                <a:latin typeface="Arial" panose="020B0604020202020204" pitchFamily="34" charset="0"/>
              </a:rPr>
              <a:t>, 7, 6), After the second iteration (1, 7) elements are not in ascending order so first these two elements are arranged. So, insert 1 before 2. </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anose="020B0604020202020204" pitchFamily="34" charset="0"/>
              </a:rPr>
              <a:t>(1, 2, </a:t>
            </a:r>
            <a:r>
              <a:rPr kumimoji="0" lang="en-US" altLang="en-US" sz="1300" b="1" i="0" u="none" strike="noStrike" cap="none" normalizeH="0" baseline="0" dirty="0" smtClean="0">
                <a:ln>
                  <a:noFill/>
                </a:ln>
                <a:solidFill>
                  <a:schemeClr val="tx1"/>
                </a:solidFill>
                <a:effectLst/>
                <a:latin typeface="Arial" panose="020B0604020202020204" pitchFamily="34" charset="0"/>
              </a:rPr>
              <a:t>7, 6</a:t>
            </a:r>
            <a:r>
              <a:rPr kumimoji="0" lang="en-US" altLang="en-US" sz="1300" b="0" i="0" u="none" strike="noStrike" cap="none" normalizeH="0" baseline="0" dirty="0" smtClean="0">
                <a:ln>
                  <a:noFill/>
                </a:ln>
                <a:solidFill>
                  <a:schemeClr val="tx1"/>
                </a:solidFill>
                <a:effectLst/>
                <a:latin typeface="Arial" panose="020B0604020202020204" pitchFamily="34" charset="0"/>
              </a:rPr>
              <a:t>) –&gt; (1, 2, </a:t>
            </a:r>
            <a:r>
              <a:rPr kumimoji="0" lang="en-US" altLang="en-US" sz="1300" b="1" i="0" u="none" strike="noStrike" cap="none" normalizeH="0" baseline="0" dirty="0" smtClean="0">
                <a:ln>
                  <a:noFill/>
                </a:ln>
                <a:solidFill>
                  <a:schemeClr val="tx1"/>
                </a:solidFill>
                <a:effectLst/>
                <a:latin typeface="Arial" panose="020B0604020202020204" pitchFamily="34" charset="0"/>
              </a:rPr>
              <a:t>6, 7</a:t>
            </a:r>
            <a:r>
              <a:rPr kumimoji="0" lang="en-US" altLang="en-US" sz="1300" b="0" i="0" u="none" strike="noStrike" cap="none" normalizeH="0" baseline="0" dirty="0" smtClean="0">
                <a:ln>
                  <a:noFill/>
                </a:ln>
                <a:solidFill>
                  <a:schemeClr val="tx1"/>
                </a:solidFill>
                <a:effectLst/>
                <a:latin typeface="Arial" panose="020B0604020202020204" pitchFamily="34" charset="0"/>
              </a:rPr>
              <a:t>), During this iteration the last 2 elements are compared and swapped after all the previous elements are swapped.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300" dirty="0"/>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300" dirty="0"/>
          </a:p>
          <a:p>
            <a:pPr lvl="0" algn="just"/>
            <a:r>
              <a:rPr lang="en-US" b="1" dirty="0"/>
              <a:t>Time Complexity: </a:t>
            </a:r>
            <a:r>
              <a:rPr lang="en-US" dirty="0"/>
              <a:t>O(n</a:t>
            </a:r>
            <a:r>
              <a:rPr lang="en-US" baseline="30000" dirty="0"/>
              <a:t>2</a:t>
            </a:r>
            <a:r>
              <a:rPr lang="en-US" dirty="0"/>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921357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472</Words>
  <Application>Microsoft Office PowerPoint</Application>
  <PresentationFormat>Widescreen</PresentationFormat>
  <Paragraphs>75</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Calibri Light</vt:lpstr>
      <vt:lpstr>Nunito</vt:lpstr>
      <vt:lpstr>Source Sans 3</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4</cp:revision>
  <dcterms:created xsi:type="dcterms:W3CDTF">2024-12-28T20:57:12Z</dcterms:created>
  <dcterms:modified xsi:type="dcterms:W3CDTF">2024-12-28T21:26:48Z</dcterms:modified>
</cp:coreProperties>
</file>